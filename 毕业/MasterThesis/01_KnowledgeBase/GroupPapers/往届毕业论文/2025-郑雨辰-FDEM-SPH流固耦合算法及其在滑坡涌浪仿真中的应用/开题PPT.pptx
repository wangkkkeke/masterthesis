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458" r:id="rId2"/>
    <p:sldId id="783" r:id="rId3"/>
    <p:sldId id="743" r:id="rId4"/>
    <p:sldId id="744" r:id="rId5"/>
    <p:sldId id="767" r:id="rId6"/>
    <p:sldId id="768" r:id="rId7"/>
    <p:sldId id="773" r:id="rId8"/>
    <p:sldId id="771" r:id="rId9"/>
    <p:sldId id="781" r:id="rId10"/>
    <p:sldId id="778" r:id="rId11"/>
    <p:sldId id="745" r:id="rId12"/>
    <p:sldId id="784" r:id="rId13"/>
    <p:sldId id="746" r:id="rId14"/>
    <p:sldId id="747" r:id="rId15"/>
    <p:sldId id="766" r:id="rId16"/>
    <p:sldId id="749" r:id="rId17"/>
    <p:sldId id="751" r:id="rId18"/>
    <p:sldId id="785" r:id="rId19"/>
    <p:sldId id="752" r:id="rId20"/>
    <p:sldId id="765" r:id="rId21"/>
    <p:sldId id="753" r:id="rId22"/>
    <p:sldId id="760" r:id="rId23"/>
    <p:sldId id="759" r:id="rId24"/>
    <p:sldId id="754" r:id="rId25"/>
    <p:sldId id="755" r:id="rId26"/>
    <p:sldId id="756" r:id="rId27"/>
    <p:sldId id="786" r:id="rId28"/>
    <p:sldId id="762" r:id="rId29"/>
    <p:sldId id="764" r:id="rId30"/>
    <p:sldId id="763" r:id="rId31"/>
    <p:sldId id="528" r:id="rId32"/>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9"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Rg st="1" end="58"/>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3366FF"/>
    <a:srgbClr val="000066"/>
    <a:srgbClr val="66FFFF"/>
    <a:srgbClr val="99FFCC"/>
    <a:srgbClr val="FFCC99"/>
    <a:srgbClr val="A4F2FA"/>
    <a:srgbClr val="08A8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89" autoAdjust="0"/>
    <p:restoredTop sz="92793" autoAdjust="0"/>
  </p:normalViewPr>
  <p:slideViewPr>
    <p:cSldViewPr showGuides="1">
      <p:cViewPr varScale="1">
        <p:scale>
          <a:sx n="102" d="100"/>
          <a:sy n="102" d="100"/>
        </p:scale>
        <p:origin x="1914" y="120"/>
      </p:cViewPr>
      <p:guideLst>
        <p:guide orient="horz" pos="2189"/>
        <p:guide pos="2872"/>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3792"/>
    </p:cViewPr>
  </p:sorterViewPr>
  <p:gridSpacing cx="45000" cy="45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SzTx/>
              <a:buFontTx/>
              <a:buNone/>
              <a:defRPr sz="1200" b="0">
                <a:latin typeface="Arial" charset="0"/>
                <a:ea typeface="宋体" pitchFamily="2" charset="-122"/>
              </a:defRPr>
            </a:lvl1pPr>
          </a:lstStyle>
          <a:p>
            <a:pPr>
              <a:defRPr/>
            </a:pPr>
            <a:endParaRPr lang="en-US" altLang="zh-CN"/>
          </a:p>
        </p:txBody>
      </p:sp>
      <p:sp>
        <p:nvSpPr>
          <p:cNvPr id="4403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buClrTx/>
              <a:buSzTx/>
              <a:buFontTx/>
              <a:buNone/>
              <a:defRPr sz="1200" b="0">
                <a:latin typeface="Arial" charset="0"/>
                <a:ea typeface="宋体" pitchFamily="2" charset="-122"/>
              </a:defRPr>
            </a:lvl1pPr>
          </a:lstStyle>
          <a:p>
            <a:pPr>
              <a:defRPr/>
            </a:pPr>
            <a:endParaRPr lang="en-US" altLang="zh-CN"/>
          </a:p>
        </p:txBody>
      </p:sp>
      <p:sp>
        <p:nvSpPr>
          <p:cNvPr id="4403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spcBef>
                <a:spcPct val="0"/>
              </a:spcBef>
              <a:buClrTx/>
              <a:buSzTx/>
              <a:buFontTx/>
              <a:buNone/>
              <a:defRPr sz="1200" b="0">
                <a:latin typeface="Arial" charset="0"/>
                <a:ea typeface="宋体" pitchFamily="2" charset="-122"/>
              </a:defRPr>
            </a:lvl1pPr>
          </a:lstStyle>
          <a:p>
            <a:pPr>
              <a:defRPr/>
            </a:pPr>
            <a:endParaRPr lang="en-US" altLang="zh-CN"/>
          </a:p>
        </p:txBody>
      </p:sp>
      <p:sp>
        <p:nvSpPr>
          <p:cNvPr id="4403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buFont typeface="Monotype Sorts"/>
              <a:buNone/>
              <a:defRPr sz="1200" b="0"/>
            </a:lvl1pPr>
          </a:lstStyle>
          <a:p>
            <a:pPr>
              <a:defRPr/>
            </a:pPr>
            <a:fld id="{BA974B2D-98D0-41C3-AEB4-9538B44670AA}"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604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SzTx/>
              <a:buFontTx/>
              <a:buNone/>
              <a:defRPr sz="1200" b="0">
                <a:latin typeface="Arial" charset="0"/>
                <a:ea typeface="宋体" pitchFamily="2" charset="-122"/>
              </a:defRPr>
            </a:lvl1pPr>
          </a:lstStyle>
          <a:p>
            <a:pPr>
              <a:defRPr/>
            </a:pPr>
            <a:endParaRPr lang="en-US" altLang="zh-CN"/>
          </a:p>
        </p:txBody>
      </p:sp>
      <p:sp>
        <p:nvSpPr>
          <p:cNvPr id="36045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buClrTx/>
              <a:buSzTx/>
              <a:buFontTx/>
              <a:buNone/>
              <a:defRPr sz="1200" b="0">
                <a:latin typeface="Arial" charset="0"/>
                <a:ea typeface="宋体" pitchFamily="2" charset="-122"/>
              </a:defRPr>
            </a:lvl1pPr>
          </a:lstStyle>
          <a:p>
            <a:pPr>
              <a:defRPr/>
            </a:pPr>
            <a:endParaRPr lang="en-US" altLang="zh-CN"/>
          </a:p>
        </p:txBody>
      </p:sp>
      <p:sp>
        <p:nvSpPr>
          <p:cNvPr id="2052"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045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6045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spcBef>
                <a:spcPct val="0"/>
              </a:spcBef>
              <a:buClrTx/>
              <a:buSzTx/>
              <a:buFontTx/>
              <a:buNone/>
              <a:defRPr sz="1200" b="0">
                <a:latin typeface="Arial" charset="0"/>
                <a:ea typeface="宋体" pitchFamily="2" charset="-122"/>
              </a:defRPr>
            </a:lvl1pPr>
          </a:lstStyle>
          <a:p>
            <a:pPr>
              <a:defRPr/>
            </a:pPr>
            <a:endParaRPr lang="en-US" altLang="zh-CN"/>
          </a:p>
        </p:txBody>
      </p:sp>
      <p:sp>
        <p:nvSpPr>
          <p:cNvPr id="36045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buFont typeface="Monotype Sorts"/>
              <a:buNone/>
              <a:defRPr sz="1200" b="0"/>
            </a:lvl1pPr>
          </a:lstStyle>
          <a:p>
            <a:pPr>
              <a:defRPr/>
            </a:pPr>
            <a:fld id="{57FB7FB9-53A3-411D-8F54-5B7B912E646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xfrm>
            <a:off x="1143000" y="685800"/>
            <a:ext cx="4572000" cy="3429000"/>
          </a:xfrm>
          <a:ln/>
        </p:spPr>
      </p:sp>
      <p:sp>
        <p:nvSpPr>
          <p:cNvPr id="51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5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1680BBD-531A-4E02-9C1E-5A0ABD2151F6}" type="slidenum">
              <a:rPr lang="en-US" altLang="zh-CN" smtClean="0"/>
              <a:pPr>
                <a:spcBef>
                  <a:spcPct val="0"/>
                </a:spcBef>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1143000" y="685800"/>
            <a:ext cx="4572000" cy="3429000"/>
          </a:xfrm>
          <a:ln/>
        </p:spPr>
      </p:sp>
      <p:sp>
        <p:nvSpPr>
          <p:cNvPr id="7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7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41FD68-A3C4-4E90-B8B9-41A58992CF46}" type="slidenum">
              <a:rPr lang="en-US" altLang="zh-CN" smtClean="0"/>
              <a:pPr>
                <a:spcBef>
                  <a:spcPct val="0"/>
                </a:spcBef>
              </a:pPr>
              <a:t>2</a:t>
            </a:fld>
            <a:endParaRPr lang="en-US" altLang="zh-CN"/>
          </a:p>
        </p:txBody>
      </p:sp>
    </p:spTree>
    <p:extLst>
      <p:ext uri="{BB962C8B-B14F-4D97-AF65-F5344CB8AC3E}">
        <p14:creationId xmlns:p14="http://schemas.microsoft.com/office/powerpoint/2010/main" val="1200226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3</a:t>
            </a:fld>
            <a:endParaRPr lang="en-US" altLang="zh-CN"/>
          </a:p>
        </p:txBody>
      </p:sp>
    </p:spTree>
    <p:extLst>
      <p:ext uri="{BB962C8B-B14F-4D97-AF65-F5344CB8AC3E}">
        <p14:creationId xmlns:p14="http://schemas.microsoft.com/office/powerpoint/2010/main" val="1264246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4</a:t>
            </a:fld>
            <a:endParaRPr lang="en-US" altLang="zh-CN"/>
          </a:p>
        </p:txBody>
      </p:sp>
    </p:spTree>
    <p:extLst>
      <p:ext uri="{BB962C8B-B14F-4D97-AF65-F5344CB8AC3E}">
        <p14:creationId xmlns:p14="http://schemas.microsoft.com/office/powerpoint/2010/main" val="3444132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5</a:t>
            </a:fld>
            <a:endParaRPr lang="en-US" altLang="zh-CN"/>
          </a:p>
        </p:txBody>
      </p:sp>
    </p:spTree>
    <p:extLst>
      <p:ext uri="{BB962C8B-B14F-4D97-AF65-F5344CB8AC3E}">
        <p14:creationId xmlns:p14="http://schemas.microsoft.com/office/powerpoint/2010/main" val="468719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6</a:t>
            </a:fld>
            <a:endParaRPr lang="en-US" altLang="zh-CN"/>
          </a:p>
        </p:txBody>
      </p:sp>
    </p:spTree>
    <p:extLst>
      <p:ext uri="{BB962C8B-B14F-4D97-AF65-F5344CB8AC3E}">
        <p14:creationId xmlns:p14="http://schemas.microsoft.com/office/powerpoint/2010/main" val="1380345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7</a:t>
            </a:fld>
            <a:endParaRPr lang="en-US" altLang="zh-CN"/>
          </a:p>
        </p:txBody>
      </p:sp>
    </p:spTree>
    <p:extLst>
      <p:ext uri="{BB962C8B-B14F-4D97-AF65-F5344CB8AC3E}">
        <p14:creationId xmlns:p14="http://schemas.microsoft.com/office/powerpoint/2010/main" val="3132628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8</a:t>
            </a:fld>
            <a:endParaRPr lang="en-US" altLang="zh-CN"/>
          </a:p>
        </p:txBody>
      </p:sp>
    </p:spTree>
    <p:extLst>
      <p:ext uri="{BB962C8B-B14F-4D97-AF65-F5344CB8AC3E}">
        <p14:creationId xmlns:p14="http://schemas.microsoft.com/office/powerpoint/2010/main" val="1344185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9</a:t>
            </a:fld>
            <a:endParaRPr lang="en-US" altLang="zh-CN"/>
          </a:p>
        </p:txBody>
      </p:sp>
    </p:spTree>
    <p:extLst>
      <p:ext uri="{BB962C8B-B14F-4D97-AF65-F5344CB8AC3E}">
        <p14:creationId xmlns:p14="http://schemas.microsoft.com/office/powerpoint/2010/main" val="1605698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10</a:t>
            </a:fld>
            <a:endParaRPr lang="en-US" altLang="zh-CN"/>
          </a:p>
        </p:txBody>
      </p:sp>
    </p:spTree>
    <p:extLst>
      <p:ext uri="{BB962C8B-B14F-4D97-AF65-F5344CB8AC3E}">
        <p14:creationId xmlns:p14="http://schemas.microsoft.com/office/powerpoint/2010/main" val="3043044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11</a:t>
            </a:fld>
            <a:endParaRPr lang="en-US" altLang="zh-CN"/>
          </a:p>
        </p:txBody>
      </p:sp>
    </p:spTree>
    <p:extLst>
      <p:ext uri="{BB962C8B-B14F-4D97-AF65-F5344CB8AC3E}">
        <p14:creationId xmlns:p14="http://schemas.microsoft.com/office/powerpoint/2010/main" val="1568180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1143000" y="685800"/>
            <a:ext cx="4572000" cy="3429000"/>
          </a:xfrm>
          <a:ln/>
        </p:spPr>
      </p:sp>
      <p:sp>
        <p:nvSpPr>
          <p:cNvPr id="7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7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41FD68-A3C4-4E90-B8B9-41A58992CF46}" type="slidenum">
              <a:rPr lang="en-US" altLang="zh-CN" smtClean="0"/>
              <a:pPr>
                <a:spcBef>
                  <a:spcPct val="0"/>
                </a:spcBef>
              </a:pPr>
              <a:t>12</a:t>
            </a:fld>
            <a:endParaRPr lang="en-US" altLang="zh-CN"/>
          </a:p>
        </p:txBody>
      </p:sp>
    </p:spTree>
    <p:extLst>
      <p:ext uri="{BB962C8B-B14F-4D97-AF65-F5344CB8AC3E}">
        <p14:creationId xmlns:p14="http://schemas.microsoft.com/office/powerpoint/2010/main" val="223314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13</a:t>
            </a:fld>
            <a:endParaRPr lang="en-US" altLang="zh-CN"/>
          </a:p>
        </p:txBody>
      </p:sp>
    </p:spTree>
    <p:extLst>
      <p:ext uri="{BB962C8B-B14F-4D97-AF65-F5344CB8AC3E}">
        <p14:creationId xmlns:p14="http://schemas.microsoft.com/office/powerpoint/2010/main" val="896921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14</a:t>
            </a:fld>
            <a:endParaRPr lang="en-US" altLang="zh-CN"/>
          </a:p>
        </p:txBody>
      </p:sp>
    </p:spTree>
    <p:extLst>
      <p:ext uri="{BB962C8B-B14F-4D97-AF65-F5344CB8AC3E}">
        <p14:creationId xmlns:p14="http://schemas.microsoft.com/office/powerpoint/2010/main" val="1123684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15</a:t>
            </a:fld>
            <a:endParaRPr lang="en-US" altLang="zh-CN"/>
          </a:p>
        </p:txBody>
      </p:sp>
    </p:spTree>
    <p:extLst>
      <p:ext uri="{BB962C8B-B14F-4D97-AF65-F5344CB8AC3E}">
        <p14:creationId xmlns:p14="http://schemas.microsoft.com/office/powerpoint/2010/main" val="2655238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16</a:t>
            </a:fld>
            <a:endParaRPr lang="en-US" altLang="zh-CN"/>
          </a:p>
        </p:txBody>
      </p:sp>
    </p:spTree>
    <p:extLst>
      <p:ext uri="{BB962C8B-B14F-4D97-AF65-F5344CB8AC3E}">
        <p14:creationId xmlns:p14="http://schemas.microsoft.com/office/powerpoint/2010/main" val="2098001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17</a:t>
            </a:fld>
            <a:endParaRPr lang="en-US" altLang="zh-CN"/>
          </a:p>
        </p:txBody>
      </p:sp>
    </p:spTree>
    <p:extLst>
      <p:ext uri="{BB962C8B-B14F-4D97-AF65-F5344CB8AC3E}">
        <p14:creationId xmlns:p14="http://schemas.microsoft.com/office/powerpoint/2010/main" val="21694412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1143000" y="685800"/>
            <a:ext cx="4572000" cy="3429000"/>
          </a:xfrm>
          <a:ln/>
        </p:spPr>
      </p:sp>
      <p:sp>
        <p:nvSpPr>
          <p:cNvPr id="7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7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41FD68-A3C4-4E90-B8B9-41A58992CF46}" type="slidenum">
              <a:rPr lang="en-US" altLang="zh-CN" smtClean="0"/>
              <a:pPr>
                <a:spcBef>
                  <a:spcPct val="0"/>
                </a:spcBef>
              </a:pPr>
              <a:t>18</a:t>
            </a:fld>
            <a:endParaRPr lang="en-US" altLang="zh-CN"/>
          </a:p>
        </p:txBody>
      </p:sp>
    </p:spTree>
    <p:extLst>
      <p:ext uri="{BB962C8B-B14F-4D97-AF65-F5344CB8AC3E}">
        <p14:creationId xmlns:p14="http://schemas.microsoft.com/office/powerpoint/2010/main" val="2080978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19</a:t>
            </a:fld>
            <a:endParaRPr lang="en-US" altLang="zh-CN"/>
          </a:p>
        </p:txBody>
      </p:sp>
    </p:spTree>
    <p:extLst>
      <p:ext uri="{BB962C8B-B14F-4D97-AF65-F5344CB8AC3E}">
        <p14:creationId xmlns:p14="http://schemas.microsoft.com/office/powerpoint/2010/main" val="42359524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20</a:t>
            </a:fld>
            <a:endParaRPr lang="en-US" altLang="zh-CN"/>
          </a:p>
        </p:txBody>
      </p:sp>
    </p:spTree>
    <p:extLst>
      <p:ext uri="{BB962C8B-B14F-4D97-AF65-F5344CB8AC3E}">
        <p14:creationId xmlns:p14="http://schemas.microsoft.com/office/powerpoint/2010/main" val="274567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21</a:t>
            </a:fld>
            <a:endParaRPr lang="en-US" altLang="zh-CN"/>
          </a:p>
        </p:txBody>
      </p:sp>
    </p:spTree>
    <p:extLst>
      <p:ext uri="{BB962C8B-B14F-4D97-AF65-F5344CB8AC3E}">
        <p14:creationId xmlns:p14="http://schemas.microsoft.com/office/powerpoint/2010/main" val="2054513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22</a:t>
            </a:fld>
            <a:endParaRPr lang="en-US" altLang="zh-CN"/>
          </a:p>
        </p:txBody>
      </p:sp>
    </p:spTree>
    <p:extLst>
      <p:ext uri="{BB962C8B-B14F-4D97-AF65-F5344CB8AC3E}">
        <p14:creationId xmlns:p14="http://schemas.microsoft.com/office/powerpoint/2010/main" val="18968080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23</a:t>
            </a:fld>
            <a:endParaRPr lang="en-US" altLang="zh-CN"/>
          </a:p>
        </p:txBody>
      </p:sp>
    </p:spTree>
    <p:extLst>
      <p:ext uri="{BB962C8B-B14F-4D97-AF65-F5344CB8AC3E}">
        <p14:creationId xmlns:p14="http://schemas.microsoft.com/office/powerpoint/2010/main" val="99741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24</a:t>
            </a:fld>
            <a:endParaRPr lang="en-US" altLang="zh-CN"/>
          </a:p>
        </p:txBody>
      </p:sp>
    </p:spTree>
    <p:extLst>
      <p:ext uri="{BB962C8B-B14F-4D97-AF65-F5344CB8AC3E}">
        <p14:creationId xmlns:p14="http://schemas.microsoft.com/office/powerpoint/2010/main" val="3829424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25</a:t>
            </a:fld>
            <a:endParaRPr lang="en-US" altLang="zh-CN"/>
          </a:p>
        </p:txBody>
      </p:sp>
    </p:spTree>
    <p:extLst>
      <p:ext uri="{BB962C8B-B14F-4D97-AF65-F5344CB8AC3E}">
        <p14:creationId xmlns:p14="http://schemas.microsoft.com/office/powerpoint/2010/main" val="33943498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26</a:t>
            </a:fld>
            <a:endParaRPr lang="en-US" altLang="zh-CN"/>
          </a:p>
        </p:txBody>
      </p:sp>
    </p:spTree>
    <p:extLst>
      <p:ext uri="{BB962C8B-B14F-4D97-AF65-F5344CB8AC3E}">
        <p14:creationId xmlns:p14="http://schemas.microsoft.com/office/powerpoint/2010/main" val="16898643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1143000" y="685800"/>
            <a:ext cx="4572000" cy="3429000"/>
          </a:xfrm>
          <a:ln/>
        </p:spPr>
      </p:sp>
      <p:sp>
        <p:nvSpPr>
          <p:cNvPr id="7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7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41FD68-A3C4-4E90-B8B9-41A58992CF46}" type="slidenum">
              <a:rPr lang="en-US" altLang="zh-CN" smtClean="0"/>
              <a:pPr>
                <a:spcBef>
                  <a:spcPct val="0"/>
                </a:spcBef>
              </a:pPr>
              <a:t>27</a:t>
            </a:fld>
            <a:endParaRPr lang="en-US" altLang="zh-CN"/>
          </a:p>
        </p:txBody>
      </p:sp>
    </p:spTree>
    <p:extLst>
      <p:ext uri="{BB962C8B-B14F-4D97-AF65-F5344CB8AC3E}">
        <p14:creationId xmlns:p14="http://schemas.microsoft.com/office/powerpoint/2010/main" val="4597063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28</a:t>
            </a:fld>
            <a:endParaRPr lang="en-US" altLang="zh-CN"/>
          </a:p>
        </p:txBody>
      </p:sp>
    </p:spTree>
    <p:extLst>
      <p:ext uri="{BB962C8B-B14F-4D97-AF65-F5344CB8AC3E}">
        <p14:creationId xmlns:p14="http://schemas.microsoft.com/office/powerpoint/2010/main" val="3069119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29</a:t>
            </a:fld>
            <a:endParaRPr lang="en-US" altLang="zh-CN"/>
          </a:p>
        </p:txBody>
      </p:sp>
    </p:spTree>
    <p:extLst>
      <p:ext uri="{BB962C8B-B14F-4D97-AF65-F5344CB8AC3E}">
        <p14:creationId xmlns:p14="http://schemas.microsoft.com/office/powerpoint/2010/main" val="40548123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xfrm>
            <a:off x="1143000" y="685800"/>
            <a:ext cx="4572000" cy="3429000"/>
          </a:xfrm>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E21AC0-5EEF-451C-957F-39AD86666BFC}" type="slidenum">
              <a:rPr lang="en-US" altLang="zh-CN" smtClean="0"/>
              <a:pPr>
                <a:spcBef>
                  <a:spcPct val="0"/>
                </a:spcBef>
              </a:pPr>
              <a:t>30</a:t>
            </a:fld>
            <a:endParaRPr lang="en-US" altLang="zh-CN"/>
          </a:p>
        </p:txBody>
      </p:sp>
    </p:spTree>
    <p:extLst>
      <p:ext uri="{BB962C8B-B14F-4D97-AF65-F5344CB8AC3E}">
        <p14:creationId xmlns:p14="http://schemas.microsoft.com/office/powerpoint/2010/main" val="38704452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a:xfrm>
            <a:off x="1143000" y="685800"/>
            <a:ext cx="4572000" cy="3429000"/>
          </a:xfrm>
          <a:ln/>
        </p:spPr>
      </p:sp>
      <p:sp>
        <p:nvSpPr>
          <p:cNvPr id="11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latin typeface="Arial" panose="020B0604020202020204" pitchFamily="34" charset="0"/>
            </a:endParaRPr>
          </a:p>
        </p:txBody>
      </p:sp>
      <p:sp>
        <p:nvSpPr>
          <p:cNvPr id="11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E8186F5-CB7E-402C-92D8-AF41DFB1F7D7}" type="slidenum">
              <a:rPr lang="en-US" altLang="zh-CN" smtClean="0"/>
              <a:pPr>
                <a:spcBef>
                  <a:spcPct val="0"/>
                </a:spcBef>
              </a:pPr>
              <a:t>31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4"/>
            <a:ext cx="8229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E7F6652-62A1-454F-81FD-501A0D85DAEF}" type="slidenum">
              <a:rPr lang="en-US" altLang="zh-CN"/>
              <a:pPr>
                <a:defRPr/>
              </a:pPr>
              <a:t>‹#›</a:t>
            </a:fld>
            <a:endParaRPr lang="en-US" altLang="zh-CN"/>
          </a:p>
        </p:txBody>
      </p:sp>
    </p:spTree>
    <p:extLst>
      <p:ext uri="{BB962C8B-B14F-4D97-AF65-F5344CB8AC3E}">
        <p14:creationId xmlns:p14="http://schemas.microsoft.com/office/powerpoint/2010/main" val="15565272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C61B835A-E540-400A-ADC8-0E2403FDC7FB}" type="slidenum">
              <a:rPr lang="en-US" altLang="zh-CN"/>
              <a:pPr>
                <a:defRPr/>
              </a:pPr>
              <a:t>‹#›</a:t>
            </a:fld>
            <a:endParaRPr lang="en-US" altLang="zh-CN"/>
          </a:p>
        </p:txBody>
      </p:sp>
    </p:spTree>
    <p:extLst>
      <p:ext uri="{BB962C8B-B14F-4D97-AF65-F5344CB8AC3E}">
        <p14:creationId xmlns:p14="http://schemas.microsoft.com/office/powerpoint/2010/main" val="41093039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3" name="图片 2" descr="图片包含 旭日形&#10;&#10;描述已自动生成">
            <a:extLst>
              <a:ext uri="{FF2B5EF4-FFF2-40B4-BE49-F238E27FC236}">
                <a16:creationId xmlns:a16="http://schemas.microsoft.com/office/drawing/2014/main" id="{352E75F6-DDCC-DB57-2DA4-33339213AD5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251520" y="139667"/>
            <a:ext cx="720000" cy="720000"/>
          </a:xfrm>
          <a:prstGeom prst="rect">
            <a:avLst/>
          </a:prstGeom>
        </p:spPr>
      </p:pic>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SzTx/>
              <a:buFontTx/>
              <a:buNone/>
              <a:defRPr sz="1400" b="0">
                <a:latin typeface="+mn-lt"/>
                <a:ea typeface="+mn-ea"/>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sz="1400" b="0">
                <a:latin typeface="+mn-lt"/>
                <a:ea typeface="+mn-ea"/>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buFont typeface="Monotype Sorts"/>
              <a:buNone/>
              <a:defRPr sz="1400" b="0"/>
            </a:lvl1pPr>
          </a:lstStyle>
          <a:p>
            <a:pPr>
              <a:defRPr/>
            </a:pPr>
            <a:fld id="{060D63CF-4A60-4262-9F78-502CA24CE9BB}" type="slidenum">
              <a:rPr lang="en-US" altLang="zh-CN"/>
              <a:pPr>
                <a:defRPr/>
              </a:pPr>
              <a:t>‹#›</a:t>
            </a:fld>
            <a:endParaRPr lang="en-US" altLang="zh-CN"/>
          </a:p>
        </p:txBody>
      </p:sp>
      <p:sp>
        <p:nvSpPr>
          <p:cNvPr id="1031" name="Line 8"/>
          <p:cNvSpPr>
            <a:spLocks noChangeShapeType="1"/>
          </p:cNvSpPr>
          <p:nvPr/>
        </p:nvSpPr>
        <p:spPr bwMode="auto">
          <a:xfrm>
            <a:off x="0" y="1052736"/>
            <a:ext cx="914400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Tree>
  </p:cSld>
  <p:clrMap bg1="lt1" tx1="dk1" bg2="lt2" tx2="dk2" accent1="accent1" accent2="accent2" accent3="accent3" accent4="accent4" accent5="accent5" accent6="accent6" hlink="hlink" folHlink="folHlink"/>
  <p:sldLayoutIdLst>
    <p:sldLayoutId id="2147483650" r:id="rId1"/>
    <p:sldLayoutId id="2147483655" r:id="rId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5.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w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ChangeArrowheads="1"/>
          </p:cNvSpPr>
          <p:nvPr/>
        </p:nvSpPr>
        <p:spPr bwMode="auto">
          <a:xfrm>
            <a:off x="0" y="3786188"/>
            <a:ext cx="91440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buFont typeface="Monotype Sorts"/>
              <a:buNone/>
            </a:pPr>
            <a:r>
              <a:rPr lang="zh-CN" altLang="en-US" sz="2800" dirty="0">
                <a:solidFill>
                  <a:schemeClr val="tx2"/>
                </a:solidFill>
                <a:latin typeface="黑体" panose="02010609060101010101" pitchFamily="49" charset="-122"/>
                <a:ea typeface="黑体" panose="02010609060101010101" pitchFamily="49" charset="-122"/>
              </a:rPr>
              <a:t>郑雨辰</a:t>
            </a:r>
            <a:endParaRPr lang="en-US" altLang="zh-CN" sz="2800" dirty="0">
              <a:solidFill>
                <a:schemeClr val="tx2"/>
              </a:solidFill>
              <a:latin typeface="黑体" panose="02010609060101010101" pitchFamily="49" charset="-122"/>
              <a:ea typeface="黑体" panose="02010609060101010101" pitchFamily="49" charset="-122"/>
            </a:endParaRPr>
          </a:p>
          <a:p>
            <a:pPr algn="ctr" eaLnBrk="1" hangingPunct="1">
              <a:lnSpc>
                <a:spcPct val="120000"/>
              </a:lnSpc>
              <a:spcBef>
                <a:spcPct val="0"/>
              </a:spcBef>
              <a:buFont typeface="Monotype Sorts"/>
              <a:buNone/>
            </a:pPr>
            <a:endParaRPr lang="en-US" altLang="zh-CN" sz="2800" dirty="0">
              <a:solidFill>
                <a:schemeClr val="tx2"/>
              </a:solidFill>
              <a:latin typeface="黑体" panose="02010609060101010101" pitchFamily="49" charset="-122"/>
              <a:ea typeface="黑体" panose="02010609060101010101" pitchFamily="49" charset="-122"/>
            </a:endParaRPr>
          </a:p>
          <a:p>
            <a:pPr algn="ctr" eaLnBrk="1" hangingPunct="1">
              <a:lnSpc>
                <a:spcPct val="120000"/>
              </a:lnSpc>
              <a:spcBef>
                <a:spcPct val="0"/>
              </a:spcBef>
              <a:buFont typeface="Monotype Sorts"/>
              <a:buNone/>
            </a:pPr>
            <a:r>
              <a:rPr lang="zh-CN" altLang="en-US" sz="2800" dirty="0">
                <a:solidFill>
                  <a:schemeClr val="tx2"/>
                </a:solidFill>
                <a:latin typeface="黑体" panose="02010609060101010101" pitchFamily="49" charset="-122"/>
                <a:ea typeface="黑体" panose="02010609060101010101" pitchFamily="49" charset="-122"/>
              </a:rPr>
              <a:t>中国地质大学（武汉）工程学院 </a:t>
            </a:r>
          </a:p>
        </p:txBody>
      </p:sp>
      <p:sp>
        <p:nvSpPr>
          <p:cNvPr id="4099" name="Text Box 5"/>
          <p:cNvSpPr txBox="1">
            <a:spLocks noChangeArrowheads="1"/>
          </p:cNvSpPr>
          <p:nvPr/>
        </p:nvSpPr>
        <p:spPr bwMode="auto">
          <a:xfrm>
            <a:off x="2735267" y="5767388"/>
            <a:ext cx="3673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Monotype Sorts"/>
              <a:buNone/>
            </a:pPr>
            <a:r>
              <a:rPr lang="zh-CN" altLang="en-US" sz="2800" dirty="0">
                <a:latin typeface="黑体" panose="02010609060101010101" pitchFamily="49" charset="-122"/>
                <a:ea typeface="黑体" panose="02010609060101010101" pitchFamily="49" charset="-122"/>
              </a:rPr>
              <a:t>二〇二二年十二月</a:t>
            </a:r>
          </a:p>
        </p:txBody>
      </p:sp>
      <p:sp>
        <p:nvSpPr>
          <p:cNvPr id="329738" name="Rectangle 10"/>
          <p:cNvSpPr>
            <a:spLocks noChangeAspect="1" noChangeArrowheads="1"/>
          </p:cNvSpPr>
          <p:nvPr/>
        </p:nvSpPr>
        <p:spPr bwMode="auto">
          <a:xfrm>
            <a:off x="251519" y="1714504"/>
            <a:ext cx="8640961" cy="1643063"/>
          </a:xfrm>
          <a:prstGeom prst="rect">
            <a:avLst/>
          </a:prstGeom>
          <a:noFill/>
          <a:ln w="9525">
            <a:noFill/>
            <a:miter lim="800000"/>
          </a:ln>
          <a:effectLst/>
        </p:spPr>
        <p:txBody>
          <a:bodyPr anchor="ctr"/>
          <a:lstStyle/>
          <a:p>
            <a:pPr algn="ctr" eaLnBrk="1" hangingPunct="1">
              <a:lnSpc>
                <a:spcPct val="120000"/>
              </a:lnSpc>
              <a:defRPr/>
            </a:pPr>
            <a:r>
              <a:rPr lang="en-US" altLang="zh-CN" sz="4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FDEM-SPH</a:t>
            </a:r>
            <a:r>
              <a:rPr lang="zh-CN" altLang="en-US" sz="4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数值仿真算法及</a:t>
            </a:r>
            <a:endParaRPr lang="en-US" altLang="zh-CN" sz="4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algn="ctr" eaLnBrk="1" hangingPunct="1">
              <a:lnSpc>
                <a:spcPct val="120000"/>
              </a:lnSpc>
              <a:defRPr/>
            </a:pPr>
            <a:r>
              <a:rPr lang="zh-CN" altLang="en-US" sz="4000"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岩土工程应用研究</a:t>
            </a:r>
          </a:p>
        </p:txBody>
      </p:sp>
      <p:pic>
        <p:nvPicPr>
          <p:cNvPr id="410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
            <a:ext cx="914400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91E074B3-5C00-8C5D-D351-AF7B5ADE165C}"/>
              </a:ext>
            </a:extLst>
          </p:cNvPr>
          <p:cNvSpPr>
            <a:spLocks noGrp="1"/>
          </p:cNvSpPr>
          <p:nvPr>
            <p:ph type="sldNum" sz="quarter" idx="12"/>
          </p:nvPr>
        </p:nvSpPr>
        <p:spPr/>
        <p:txBody>
          <a:bodyPr/>
          <a:lstStyle/>
          <a:p>
            <a:pPr>
              <a:defRPr/>
            </a:pPr>
            <a:fld id="{8E7F6652-62A1-454F-81FD-501A0D85DAEF}" type="slidenum">
              <a:rPr lang="en-US" altLang="zh-CN" smtClean="0"/>
              <a:pPr>
                <a:defRPr/>
              </a:pPr>
              <a:t>1</a:t>
            </a:fld>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971601" y="1486642"/>
            <a:ext cx="7200799" cy="3337837"/>
          </a:xfrm>
          <a:prstGeom prst="rect">
            <a:avLst/>
          </a:prstGeom>
          <a:solidFill>
            <a:schemeClr val="bg1"/>
          </a:solidFill>
          <a:ln w="28575" algn="ctr">
            <a:solidFill>
              <a:srgbClr val="FF3300"/>
            </a:solidFill>
            <a:miter lim="800000"/>
            <a:headEnd/>
            <a:tailEnd/>
          </a:ln>
          <a:effectLst>
            <a:outerShdw dist="161645" dir="2700000" algn="ctr" rotWithShape="0">
              <a:schemeClr val="tx2">
                <a:alpha val="50000"/>
              </a:schemeClr>
            </a:outerShdw>
          </a:effec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0"/>
              </a:spcBef>
              <a:buFontTx/>
              <a:buNone/>
            </a:pPr>
            <a:r>
              <a:rPr lang="zh-CN" altLang="en-US" dirty="0">
                <a:solidFill>
                  <a:srgbClr val="FF0000"/>
                </a:solidFill>
                <a:highlight>
                  <a:srgbClr val="FFFF00"/>
                </a:highlight>
                <a:latin typeface="黑体" panose="02010609060101010101" pitchFamily="49" charset="-122"/>
                <a:ea typeface="黑体" panose="02010609060101010101" pitchFamily="49" charset="-122"/>
              </a:rPr>
              <a:t>一、立题依据</a:t>
            </a:r>
            <a:endParaRPr lang="en-US" altLang="zh-CN" dirty="0">
              <a:solidFill>
                <a:srgbClr val="FF0000"/>
              </a:solidFill>
              <a:highlight>
                <a:srgbClr val="FFFF00"/>
              </a:highlight>
              <a:latin typeface="黑体" panose="02010609060101010101" pitchFamily="49" charset="-122"/>
              <a:ea typeface="黑体" panose="02010609060101010101" pitchFamily="49" charset="-122"/>
            </a:endParaRPr>
          </a:p>
          <a:p>
            <a:pPr eaLnBrk="1" hangingPunct="1">
              <a:lnSpc>
                <a:spcPct val="180000"/>
              </a:lnSpc>
              <a:spcBef>
                <a:spcPts val="0"/>
              </a:spcBef>
              <a:buFont typeface="Monotype Sorts"/>
              <a:buNone/>
            </a:pPr>
            <a:r>
              <a:rPr lang="zh-CN" altLang="en-US" dirty="0">
                <a:solidFill>
                  <a:srgbClr val="FF0000"/>
                </a:solidFill>
                <a:latin typeface="黑体" panose="02010609060101010101" pitchFamily="49" charset="-122"/>
                <a:ea typeface="黑体" panose="02010609060101010101" pitchFamily="49" charset="-122"/>
              </a:rPr>
              <a:t>二、研究内容和目标</a:t>
            </a:r>
          </a:p>
          <a:p>
            <a:pPr eaLnBrk="1" hangingPunct="1">
              <a:lnSpc>
                <a:spcPct val="180000"/>
              </a:lnSpc>
              <a:spcBef>
                <a:spcPts val="0"/>
              </a:spcBef>
              <a:buFont typeface="Monotype Sorts"/>
              <a:buNone/>
            </a:pPr>
            <a:r>
              <a:rPr lang="zh-CN" altLang="en-US" dirty="0">
                <a:solidFill>
                  <a:srgbClr val="FF0000"/>
                </a:solidFill>
                <a:latin typeface="黑体" panose="02010609060101010101" pitchFamily="49" charset="-122"/>
                <a:ea typeface="黑体" panose="02010609060101010101" pitchFamily="49" charset="-122"/>
              </a:rPr>
              <a:t>三、研究方案设计及可行性分析</a:t>
            </a:r>
            <a:endParaRPr lang="en-US" altLang="zh-CN" dirty="0">
              <a:solidFill>
                <a:srgbClr val="FF0000"/>
              </a:solidFill>
              <a:latin typeface="黑体" panose="02010609060101010101" pitchFamily="49" charset="-122"/>
              <a:ea typeface="黑体" panose="02010609060101010101" pitchFamily="49" charset="-122"/>
            </a:endParaRPr>
          </a:p>
          <a:p>
            <a:pPr eaLnBrk="1" hangingPunct="1">
              <a:lnSpc>
                <a:spcPct val="180000"/>
              </a:lnSpc>
              <a:spcBef>
                <a:spcPts val="0"/>
              </a:spcBef>
              <a:buFont typeface="Monotype Sorts"/>
              <a:buNone/>
            </a:pPr>
            <a:r>
              <a:rPr lang="zh-CN" altLang="en-US" dirty="0">
                <a:solidFill>
                  <a:srgbClr val="FF0000"/>
                </a:solidFill>
                <a:latin typeface="黑体" panose="02010609060101010101" pitchFamily="49" charset="-122"/>
                <a:ea typeface="黑体" panose="02010609060101010101" pitchFamily="49" charset="-122"/>
              </a:rPr>
              <a:t>四、研究基础与工作条件</a:t>
            </a:r>
          </a:p>
        </p:txBody>
      </p:sp>
      <p:sp>
        <p:nvSpPr>
          <p:cNvPr id="6147" name="Text Box 3"/>
          <p:cNvSpPr txBox="1">
            <a:spLocks noChangeArrowheads="1"/>
          </p:cNvSpPr>
          <p:nvPr/>
        </p:nvSpPr>
        <p:spPr bwMode="auto">
          <a:xfrm>
            <a:off x="2608263" y="692150"/>
            <a:ext cx="144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2573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Monotype Sorts"/>
              <a:buChar char="•"/>
            </a:pPr>
            <a:endParaRPr lang="zh-CN" altLang="zh-CN" sz="2400">
              <a:solidFill>
                <a:schemeClr val="bg1"/>
              </a:solidFill>
            </a:endParaRPr>
          </a:p>
        </p:txBody>
      </p:sp>
      <p:sp>
        <p:nvSpPr>
          <p:cNvPr id="6148" name="Rectangle 4"/>
          <p:cNvSpPr>
            <a:spLocks noChangeArrowheads="1"/>
          </p:cNvSpPr>
          <p:nvPr/>
        </p:nvSpPr>
        <p:spPr bwMode="auto">
          <a:xfrm>
            <a:off x="2700338" y="-23854"/>
            <a:ext cx="398145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0"/>
              </a:spcBef>
              <a:buFont typeface="Monotype Sorts"/>
              <a:buNone/>
            </a:pPr>
            <a:r>
              <a:rPr lang="zh-CN" altLang="en-US" sz="4800" dirty="0">
                <a:latin typeface="黑体" panose="02010609060101010101" pitchFamily="49" charset="-122"/>
                <a:ea typeface="黑体" panose="02010609060101010101" pitchFamily="49" charset="-122"/>
              </a:rPr>
              <a:t>汇 报 提 纲</a:t>
            </a:r>
          </a:p>
        </p:txBody>
      </p:sp>
      <p:pic>
        <p:nvPicPr>
          <p:cNvPr id="6149" name="Picture 1030" descr="图片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49729"/>
            <a:ext cx="91440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33454D3F-1DDA-6328-ADDA-BA4F91C31059}"/>
              </a:ext>
            </a:extLst>
          </p:cNvPr>
          <p:cNvSpPr>
            <a:spLocks noGrp="1"/>
          </p:cNvSpPr>
          <p:nvPr>
            <p:ph type="sldNum" sz="quarter" idx="12"/>
          </p:nvPr>
        </p:nvSpPr>
        <p:spPr/>
        <p:txBody>
          <a:bodyPr/>
          <a:lstStyle/>
          <a:p>
            <a:pPr>
              <a:defRPr/>
            </a:pPr>
            <a:fld id="{C61B835A-E540-400A-ADC8-0E2403FDC7FB}" type="slidenum">
              <a:rPr lang="en-US" altLang="zh-CN" smtClean="0"/>
              <a:pPr>
                <a:defRPr/>
              </a:pPr>
              <a:t>2</a:t>
            </a:fld>
            <a:endParaRPr lang="en-US" altLang="zh-CN"/>
          </a:p>
        </p:txBody>
      </p:sp>
    </p:spTree>
    <p:extLst>
      <p:ext uri="{BB962C8B-B14F-4D97-AF65-F5344CB8AC3E}">
        <p14:creationId xmlns:p14="http://schemas.microsoft.com/office/powerpoint/2010/main" val="1650069779"/>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一、立题依据</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1.1. </a:t>
            </a:r>
            <a:r>
              <a:rPr lang="zh-CN" altLang="en-US" b="0" dirty="0">
                <a:latin typeface="微软雅黑" pitchFamily="34" charset="-122"/>
                <a:ea typeface="微软雅黑" pitchFamily="34" charset="-122"/>
              </a:rPr>
              <a:t>选题的来源、目的和意义</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3528392"/>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buFont typeface="Monotype Sorts" pitchFamily="2" charset="2"/>
              <a:buNone/>
              <a:defRPr/>
            </a:pPr>
            <a:r>
              <a:rPr lang="zh-CN" altLang="en-US" sz="2000" b="0" dirty="0">
                <a:latin typeface="微软雅黑" pitchFamily="34" charset="-122"/>
                <a:ea typeface="微软雅黑" pitchFamily="34" charset="-122"/>
              </a:rPr>
              <a:t>本课题选题来源于导师严成增教授主持的</a:t>
            </a:r>
            <a:r>
              <a:rPr lang="zh-CN" altLang="en-US" sz="2000" b="0" dirty="0">
                <a:solidFill>
                  <a:srgbClr val="FF0000"/>
                </a:solidFill>
                <a:latin typeface="微软雅黑" pitchFamily="34" charset="-122"/>
                <a:ea typeface="微软雅黑" pitchFamily="34" charset="-122"/>
              </a:rPr>
              <a:t>国家自然科学基金面上项目</a:t>
            </a:r>
            <a:r>
              <a:rPr lang="en-US" altLang="zh-CN" sz="2000" b="0" dirty="0">
                <a:latin typeface="微软雅黑" pitchFamily="34" charset="-122"/>
                <a:ea typeface="微软雅黑" pitchFamily="34" charset="-122"/>
              </a:rPr>
              <a:t>《</a:t>
            </a:r>
            <a:r>
              <a:rPr lang="zh-CN" altLang="en-US" sz="2000" b="0" dirty="0">
                <a:latin typeface="微软雅黑" pitchFamily="34" charset="-122"/>
                <a:ea typeface="微软雅黑" pitchFamily="34" charset="-122"/>
              </a:rPr>
              <a:t>考虑热破裂影响的水岩换热三维数值模型及验证研究</a:t>
            </a:r>
            <a:r>
              <a:rPr lang="en-US" altLang="zh-CN" sz="2000" b="0" dirty="0">
                <a:latin typeface="微软雅黑" pitchFamily="34" charset="-122"/>
                <a:ea typeface="微软雅黑" pitchFamily="34" charset="-122"/>
              </a:rPr>
              <a:t>》</a:t>
            </a:r>
            <a:r>
              <a:rPr lang="zh-CN" altLang="zh-CN" sz="2000" b="0" dirty="0">
                <a:latin typeface="微软雅黑" pitchFamily="34" charset="-122"/>
                <a:ea typeface="微软雅黑" pitchFamily="34" charset="-122"/>
              </a:rPr>
              <a:t>。</a:t>
            </a:r>
            <a:endParaRPr lang="en-US" altLang="zh-CN" sz="2000" b="0" dirty="0">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buFont typeface="Monotype Sorts" pitchFamily="2" charset="2"/>
              <a:buNone/>
              <a:defRPr/>
            </a:pPr>
            <a:r>
              <a:rPr lang="zh-CN" altLang="en-US" sz="2000" b="0" dirty="0">
                <a:solidFill>
                  <a:schemeClr val="tx1"/>
                </a:solidFill>
                <a:latin typeface="微软雅黑" pitchFamily="34" charset="-122"/>
                <a:ea typeface="微软雅黑" pitchFamily="34" charset="-122"/>
              </a:rPr>
              <a:t>岩土体工程的变形和破坏以</a:t>
            </a:r>
            <a:r>
              <a:rPr lang="zh-CN" altLang="en-US" sz="2000" b="0" dirty="0">
                <a:solidFill>
                  <a:srgbClr val="FF0000"/>
                </a:solidFill>
                <a:latin typeface="微软雅黑" pitchFamily="34" charset="-122"/>
                <a:ea typeface="微软雅黑" pitchFamily="34" charset="-122"/>
              </a:rPr>
              <a:t>大位移</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非连续变形</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开裂</a:t>
            </a:r>
            <a:r>
              <a:rPr lang="zh-CN" altLang="en-US" sz="2000" b="0" dirty="0">
                <a:solidFill>
                  <a:schemeClr val="tx1"/>
                </a:solidFill>
                <a:latin typeface="微软雅黑" pitchFamily="34" charset="-122"/>
                <a:ea typeface="微软雅黑" pitchFamily="34" charset="-122"/>
              </a:rPr>
              <a:t>等为基本特征，</a:t>
            </a:r>
            <a:r>
              <a:rPr lang="zh-CN" altLang="en-US" sz="2000" b="0" dirty="0">
                <a:solidFill>
                  <a:srgbClr val="FF0000"/>
                </a:solidFill>
                <a:latin typeface="微软雅黑" pitchFamily="34" charset="-122"/>
                <a:ea typeface="微软雅黑" pitchFamily="34" charset="-122"/>
              </a:rPr>
              <a:t>流体流动</a:t>
            </a:r>
            <a:r>
              <a:rPr lang="zh-CN" altLang="en-US" sz="2000" b="0" dirty="0">
                <a:solidFill>
                  <a:schemeClr val="tx1"/>
                </a:solidFill>
                <a:latin typeface="微软雅黑" pitchFamily="34" charset="-122"/>
                <a:ea typeface="微软雅黑" pitchFamily="34" charset="-122"/>
              </a:rPr>
              <a:t>和</a:t>
            </a:r>
            <a:r>
              <a:rPr lang="zh-CN" altLang="en-US" sz="2000" b="0" dirty="0">
                <a:solidFill>
                  <a:srgbClr val="FF0000"/>
                </a:solidFill>
                <a:latin typeface="微软雅黑" pitchFamily="34" charset="-122"/>
                <a:ea typeface="微软雅黑" pitchFamily="34" charset="-122"/>
              </a:rPr>
              <a:t>冲击</a:t>
            </a:r>
            <a:r>
              <a:rPr lang="zh-CN" altLang="en-US" sz="2000" b="0" dirty="0">
                <a:solidFill>
                  <a:schemeClr val="tx1"/>
                </a:solidFill>
                <a:latin typeface="微软雅黑" pitchFamily="34" charset="-122"/>
                <a:ea typeface="微软雅黑" pitchFamily="34" charset="-122"/>
              </a:rPr>
              <a:t>也极大影响了岩土体的稳定性，针对以上问题的</a:t>
            </a:r>
            <a:r>
              <a:rPr lang="zh-CN" altLang="en-US" sz="2000" b="0" dirty="0">
                <a:solidFill>
                  <a:srgbClr val="FF0000"/>
                </a:solidFill>
                <a:latin typeface="微软雅黑" pitchFamily="34" charset="-122"/>
                <a:ea typeface="微软雅黑" pitchFamily="34" charset="-122"/>
              </a:rPr>
              <a:t>仿真模拟</a:t>
            </a:r>
            <a:r>
              <a:rPr lang="zh-CN" altLang="en-US" sz="2000" b="0" dirty="0">
                <a:solidFill>
                  <a:schemeClr val="tx1"/>
                </a:solidFill>
                <a:latin typeface="微软雅黑" pitchFamily="34" charset="-122"/>
                <a:ea typeface="微软雅黑" pitchFamily="34" charset="-122"/>
              </a:rPr>
              <a:t>一直是</a:t>
            </a:r>
            <a:r>
              <a:rPr lang="zh-CN" altLang="en-US" sz="2000" b="0" dirty="0">
                <a:solidFill>
                  <a:srgbClr val="FF0000"/>
                </a:solidFill>
                <a:latin typeface="微软雅黑" pitchFamily="34" charset="-122"/>
                <a:ea typeface="微软雅黑" pitchFamily="34" charset="-122"/>
              </a:rPr>
              <a:t>岩体力学数值计算</a:t>
            </a:r>
            <a:r>
              <a:rPr lang="zh-CN" altLang="en-US" sz="2000" b="0" dirty="0">
                <a:solidFill>
                  <a:schemeClr val="tx1"/>
                </a:solidFill>
                <a:latin typeface="微软雅黑" pitchFamily="34" charset="-122"/>
                <a:ea typeface="微软雅黑" pitchFamily="34" charset="-122"/>
              </a:rPr>
              <a:t>领域的热点和难点之一。</a:t>
            </a:r>
            <a:endParaRPr lang="en-US" altLang="zh-CN" sz="20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buFont typeface="Monotype Sorts" pitchFamily="2" charset="2"/>
              <a:buNone/>
              <a:defRPr/>
            </a:pPr>
            <a:r>
              <a:rPr lang="zh-CN" altLang="en-US" sz="2000" b="0" dirty="0">
                <a:solidFill>
                  <a:schemeClr val="tx1"/>
                </a:solidFill>
                <a:latin typeface="微软雅黑" pitchFamily="34" charset="-122"/>
                <a:ea typeface="微软雅黑" pitchFamily="34" charset="-122"/>
              </a:rPr>
              <a:t>本课题针对工程中</a:t>
            </a:r>
            <a:r>
              <a:rPr lang="zh-CN" altLang="en-US" sz="2000" b="0" dirty="0">
                <a:solidFill>
                  <a:srgbClr val="FF0000"/>
                </a:solidFill>
                <a:latin typeface="微软雅黑" pitchFamily="34" charset="-122"/>
                <a:ea typeface="微软雅黑" pitchFamily="34" charset="-122"/>
              </a:rPr>
              <a:t>真实流体</a:t>
            </a:r>
            <a:r>
              <a:rPr lang="zh-CN" altLang="en-US" sz="2000" b="0" dirty="0">
                <a:solidFill>
                  <a:schemeClr val="tx1"/>
                </a:solidFill>
                <a:latin typeface="微软雅黑" pitchFamily="34" charset="-122"/>
                <a:ea typeface="微软雅黑" pitchFamily="34" charset="-122"/>
              </a:rPr>
              <a:t>和</a:t>
            </a:r>
            <a:r>
              <a:rPr lang="zh-CN" altLang="en-US" sz="2000" b="0" dirty="0">
                <a:solidFill>
                  <a:srgbClr val="FF0000"/>
                </a:solidFill>
                <a:latin typeface="微软雅黑" pitchFamily="34" charset="-122"/>
                <a:ea typeface="微软雅黑" pitchFamily="34" charset="-122"/>
              </a:rPr>
              <a:t>岩土体</a:t>
            </a:r>
            <a:r>
              <a:rPr lang="zh-CN" altLang="en-US" sz="2000" b="0" dirty="0">
                <a:solidFill>
                  <a:schemeClr val="tx1"/>
                </a:solidFill>
                <a:latin typeface="微软雅黑" pitchFamily="34" charset="-122"/>
                <a:ea typeface="微软雅黑" pitchFamily="34" charset="-122"/>
              </a:rPr>
              <a:t>的相互作用，建立</a:t>
            </a:r>
            <a:r>
              <a:rPr lang="en-US" altLang="zh-CN" sz="2000" b="0" dirty="0">
                <a:solidFill>
                  <a:srgbClr val="FF0000"/>
                </a:solidFill>
                <a:latin typeface="微软雅黑" pitchFamily="34" charset="-122"/>
                <a:ea typeface="微软雅黑" pitchFamily="34" charset="-122"/>
              </a:rPr>
              <a:t>FDEM-SPH</a:t>
            </a:r>
            <a:r>
              <a:rPr lang="zh-CN" altLang="en-US" sz="2000" b="0" dirty="0">
                <a:solidFill>
                  <a:srgbClr val="FF0000"/>
                </a:solidFill>
                <a:latin typeface="微软雅黑" pitchFamily="34" charset="-122"/>
                <a:ea typeface="微软雅黑" pitchFamily="34" charset="-122"/>
              </a:rPr>
              <a:t>耦合模型</a:t>
            </a:r>
            <a:r>
              <a:rPr lang="zh-CN" altLang="en-US" sz="2000" b="0" dirty="0">
                <a:solidFill>
                  <a:schemeClr val="tx1"/>
                </a:solidFill>
                <a:latin typeface="微软雅黑" pitchFamily="34" charset="-122"/>
                <a:ea typeface="微软雅黑" pitchFamily="34" charset="-122"/>
              </a:rPr>
              <a:t>，开发相应的</a:t>
            </a:r>
            <a:r>
              <a:rPr lang="zh-CN" altLang="en-US" sz="2000" b="0" dirty="0">
                <a:solidFill>
                  <a:srgbClr val="FF0000"/>
                </a:solidFill>
                <a:latin typeface="微软雅黑" pitchFamily="34" charset="-122"/>
                <a:ea typeface="微软雅黑" pitchFamily="34" charset="-122"/>
              </a:rPr>
              <a:t>数值仿真程序</a:t>
            </a:r>
            <a:r>
              <a:rPr lang="zh-CN" altLang="en-US" sz="2000" b="0" dirty="0">
                <a:solidFill>
                  <a:schemeClr val="tx1"/>
                </a:solidFill>
                <a:latin typeface="微软雅黑" pitchFamily="34" charset="-122"/>
                <a:ea typeface="微软雅黑" pitchFamily="34" charset="-122"/>
              </a:rPr>
              <a:t>，将提出的模型用于岩土工程应用中，为实际的工程建设活动提供理论与实践指导。</a:t>
            </a:r>
            <a:endParaRPr lang="en-US" altLang="zh-CN" sz="2000" b="0" dirty="0">
              <a:solidFill>
                <a:schemeClr val="tx1"/>
              </a:solidFill>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C8E6DC21-57C2-A664-3491-EC8D7B42A900}"/>
              </a:ext>
            </a:extLst>
          </p:cNvPr>
          <p:cNvSpPr>
            <a:spLocks noGrp="1"/>
          </p:cNvSpPr>
          <p:nvPr>
            <p:ph type="sldNum" sz="quarter" idx="12"/>
          </p:nvPr>
        </p:nvSpPr>
        <p:spPr/>
        <p:txBody>
          <a:bodyPr/>
          <a:lstStyle/>
          <a:p>
            <a:pPr>
              <a:defRPr/>
            </a:pPr>
            <a:fld id="{8E7F6652-62A1-454F-81FD-501A0D85DAEF}" type="slidenum">
              <a:rPr lang="en-US" altLang="zh-CN" smtClean="0"/>
              <a:pPr>
                <a:defRPr/>
              </a:pPr>
              <a:t>3</a:t>
            </a:fld>
            <a:endParaRPr lang="en-US" altLang="zh-CN"/>
          </a:p>
        </p:txBody>
      </p:sp>
    </p:spTree>
    <p:extLst>
      <p:ext uri="{BB962C8B-B14F-4D97-AF65-F5344CB8AC3E}">
        <p14:creationId xmlns:p14="http://schemas.microsoft.com/office/powerpoint/2010/main" val="5833607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一、立题依据</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1.2. </a:t>
            </a:r>
            <a:r>
              <a:rPr lang="zh-CN" altLang="en-US" b="0" dirty="0">
                <a:latin typeface="微软雅黑" pitchFamily="34" charset="-122"/>
                <a:ea typeface="微软雅黑" pitchFamily="34" charset="-122"/>
              </a:rPr>
              <a:t>国内外研究现状</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3528392"/>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1</a:t>
            </a:r>
            <a:r>
              <a:rPr lang="zh-CN" altLang="en-US" sz="2000" dirty="0">
                <a:solidFill>
                  <a:schemeClr val="tx1"/>
                </a:solidFill>
                <a:latin typeface="微软雅黑" pitchFamily="34" charset="-122"/>
                <a:ea typeface="微软雅黑" pitchFamily="34" charset="-122"/>
              </a:rPr>
              <a:t>）有限</a:t>
            </a:r>
            <a:r>
              <a:rPr lang="en-US" altLang="zh-CN" sz="2000" dirty="0">
                <a:solidFill>
                  <a:schemeClr val="tx1"/>
                </a:solidFill>
                <a:latin typeface="微软雅黑" pitchFamily="34" charset="-122"/>
                <a:ea typeface="微软雅黑" pitchFamily="34" charset="-122"/>
              </a:rPr>
              <a:t>-</a:t>
            </a:r>
            <a:r>
              <a:rPr lang="zh-CN" altLang="en-US" sz="2000" dirty="0">
                <a:solidFill>
                  <a:schemeClr val="tx1"/>
                </a:solidFill>
                <a:latin typeface="微软雅黑" pitchFamily="34" charset="-122"/>
                <a:ea typeface="微软雅黑" pitchFamily="34" charset="-122"/>
              </a:rPr>
              <a:t>离散元法研究现状</a:t>
            </a:r>
          </a:p>
          <a:p>
            <a:pPr indent="457200" algn="just" eaLnBrk="1" hangingPunct="1">
              <a:lnSpc>
                <a:spcPct val="130000"/>
              </a:lnSpc>
              <a:spcBef>
                <a:spcPts val="0"/>
              </a:spcBef>
              <a:buClr>
                <a:srgbClr val="FF0000"/>
              </a:buClr>
              <a:buSzPct val="80000"/>
            </a:pPr>
            <a:r>
              <a:rPr lang="en-US" altLang="zh-CN" sz="2000" b="0" dirty="0">
                <a:solidFill>
                  <a:srgbClr val="FF0000"/>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由</a:t>
            </a:r>
            <a:r>
              <a:rPr lang="en-US" altLang="zh-CN" sz="2000" b="0" dirty="0" err="1">
                <a:solidFill>
                  <a:schemeClr val="tx1"/>
                </a:solidFill>
                <a:latin typeface="微软雅黑" pitchFamily="34" charset="-122"/>
                <a:ea typeface="微软雅黑" pitchFamily="34" charset="-122"/>
              </a:rPr>
              <a:t>Munjiza</a:t>
            </a:r>
            <a:r>
              <a:rPr lang="zh-CN" altLang="en-US" sz="2000" b="0" dirty="0">
                <a:solidFill>
                  <a:schemeClr val="tx1"/>
                </a:solidFill>
                <a:latin typeface="微软雅黑" pitchFamily="34" charset="-122"/>
                <a:ea typeface="微软雅黑" pitchFamily="34" charset="-122"/>
              </a:rPr>
              <a:t>于</a:t>
            </a:r>
            <a:r>
              <a:rPr lang="en-US" altLang="zh-CN" sz="2000" b="0" dirty="0">
                <a:solidFill>
                  <a:schemeClr val="tx1"/>
                </a:solidFill>
                <a:latin typeface="微软雅黑" pitchFamily="34" charset="-122"/>
                <a:ea typeface="微软雅黑" pitchFamily="34" charset="-122"/>
              </a:rPr>
              <a:t>1995</a:t>
            </a:r>
            <a:r>
              <a:rPr lang="zh-CN" altLang="en-US" sz="2000" b="0" dirty="0">
                <a:solidFill>
                  <a:schemeClr val="tx1"/>
                </a:solidFill>
                <a:latin typeface="微软雅黑" pitchFamily="34" charset="-122"/>
                <a:ea typeface="微软雅黑" pitchFamily="34" charset="-122"/>
              </a:rPr>
              <a:t>年提出，该方法吸收了显式有限元求解</a:t>
            </a:r>
            <a:r>
              <a:rPr lang="zh-CN" altLang="en-US" sz="2000" b="0" dirty="0">
                <a:solidFill>
                  <a:srgbClr val="FF0000"/>
                </a:solidFill>
                <a:latin typeface="微软雅黑" pitchFamily="34" charset="-122"/>
                <a:ea typeface="微软雅黑" pitchFamily="34" charset="-122"/>
              </a:rPr>
              <a:t>变形和应力</a:t>
            </a:r>
            <a:r>
              <a:rPr lang="zh-CN" altLang="en-US" sz="2000" b="0" dirty="0">
                <a:solidFill>
                  <a:schemeClr val="tx1"/>
                </a:solidFill>
                <a:latin typeface="微软雅黑" pitchFamily="34" charset="-122"/>
                <a:ea typeface="微软雅黑" pitchFamily="34" charset="-122"/>
              </a:rPr>
              <a:t>的优势，同时又吸收离散元方法处理</a:t>
            </a:r>
            <a:r>
              <a:rPr lang="zh-CN" altLang="en-US" sz="2000" b="0" dirty="0">
                <a:solidFill>
                  <a:srgbClr val="FF0000"/>
                </a:solidFill>
                <a:latin typeface="微软雅黑" pitchFamily="34" charset="-122"/>
                <a:ea typeface="微软雅黑" pitchFamily="34" charset="-122"/>
              </a:rPr>
              <a:t>接触</a:t>
            </a:r>
            <a:r>
              <a:rPr lang="zh-CN" altLang="en-US" sz="2000" b="0" dirty="0">
                <a:solidFill>
                  <a:schemeClr val="tx1"/>
                </a:solidFill>
                <a:latin typeface="微软雅黑" pitchFamily="34" charset="-122"/>
                <a:ea typeface="微软雅黑" pitchFamily="34" charset="-122"/>
              </a:rPr>
              <a:t>和粘聚单元模型模拟</a:t>
            </a:r>
            <a:r>
              <a:rPr lang="zh-CN" altLang="en-US" sz="2000" b="0" dirty="0">
                <a:solidFill>
                  <a:srgbClr val="FF0000"/>
                </a:solidFill>
                <a:latin typeface="微软雅黑" pitchFamily="34" charset="-122"/>
                <a:ea typeface="微软雅黑" pitchFamily="34" charset="-122"/>
              </a:rPr>
              <a:t>破裂</a:t>
            </a:r>
            <a:r>
              <a:rPr lang="zh-CN" altLang="en-US" sz="2000" b="0" dirty="0">
                <a:solidFill>
                  <a:schemeClr val="tx1"/>
                </a:solidFill>
                <a:latin typeface="微软雅黑" pitchFamily="34" charset="-122"/>
                <a:ea typeface="微软雅黑" pitchFamily="34" charset="-122"/>
              </a:rPr>
              <a:t>的优势，通过</a:t>
            </a:r>
            <a:r>
              <a:rPr lang="zh-CN" altLang="en-US" sz="2000" b="0" dirty="0">
                <a:solidFill>
                  <a:srgbClr val="FF0000"/>
                </a:solidFill>
                <a:latin typeface="微软雅黑" pitchFamily="34" charset="-122"/>
                <a:ea typeface="微软雅黑" pitchFamily="34" charset="-122"/>
              </a:rPr>
              <a:t>实体单元的变形</a:t>
            </a:r>
            <a:r>
              <a:rPr lang="zh-CN" altLang="en-US" sz="2000" b="0" dirty="0">
                <a:solidFill>
                  <a:schemeClr val="tx1"/>
                </a:solidFill>
                <a:latin typeface="微软雅黑" pitchFamily="34" charset="-122"/>
                <a:ea typeface="微软雅黑" pitchFamily="34" charset="-122"/>
              </a:rPr>
              <a:t>及</a:t>
            </a:r>
            <a:r>
              <a:rPr lang="zh-CN" altLang="en-US" sz="2000" b="0" dirty="0">
                <a:solidFill>
                  <a:srgbClr val="FF0000"/>
                </a:solidFill>
                <a:latin typeface="微软雅黑" pitchFamily="34" charset="-122"/>
                <a:ea typeface="微软雅黑" pitchFamily="34" charset="-122"/>
              </a:rPr>
              <a:t>未断裂节理单元的粘结作用</a:t>
            </a:r>
            <a:r>
              <a:rPr lang="zh-CN" altLang="en-US" sz="2000" b="0" dirty="0">
                <a:solidFill>
                  <a:schemeClr val="tx1"/>
                </a:solidFill>
                <a:latin typeface="微软雅黑" pitchFamily="34" charset="-122"/>
                <a:ea typeface="微软雅黑" pitchFamily="34" charset="-122"/>
              </a:rPr>
              <a:t>表征连续体的变形及应力</a:t>
            </a:r>
            <a:r>
              <a:rPr lang="en-US" altLang="zh-CN" sz="2000" b="0" dirty="0">
                <a:solidFill>
                  <a:schemeClr val="tx1"/>
                </a:solidFill>
                <a:latin typeface="微软雅黑" pitchFamily="34" charset="-122"/>
                <a:ea typeface="微软雅黑" pitchFamily="34" charset="-122"/>
              </a:rPr>
              <a:t>,</a:t>
            </a:r>
            <a:r>
              <a:rPr lang="zh-CN" altLang="en-US" sz="2000" b="0" dirty="0">
                <a:solidFill>
                  <a:schemeClr val="tx1"/>
                </a:solidFill>
                <a:latin typeface="微软雅黑" pitchFamily="34" charset="-122"/>
                <a:ea typeface="微软雅黑" pitchFamily="34" charset="-122"/>
              </a:rPr>
              <a:t>通过</a:t>
            </a:r>
            <a:r>
              <a:rPr lang="zh-CN" altLang="en-US" sz="2000" b="0" dirty="0">
                <a:solidFill>
                  <a:srgbClr val="FF0000"/>
                </a:solidFill>
                <a:latin typeface="微软雅黑" pitchFamily="34" charset="-122"/>
                <a:ea typeface="微软雅黑" pitchFamily="34" charset="-122"/>
              </a:rPr>
              <a:t>节理单元的断裂</a:t>
            </a:r>
            <a:r>
              <a:rPr lang="zh-CN" altLang="en-US" sz="2000" b="0" dirty="0">
                <a:solidFill>
                  <a:schemeClr val="tx1"/>
                </a:solidFill>
                <a:latin typeface="微软雅黑" pitchFamily="34" charset="-122"/>
                <a:ea typeface="微软雅黑" pitchFamily="34" charset="-122"/>
              </a:rPr>
              <a:t>来模拟裂缝的萌生及扩展。在爆破、海洋和港口工程、</a:t>
            </a:r>
            <a:r>
              <a:rPr lang="zh-CN" altLang="en-US" sz="2000" b="0" dirty="0">
                <a:solidFill>
                  <a:srgbClr val="FF0000"/>
                </a:solidFill>
                <a:latin typeface="微软雅黑" pitchFamily="34" charset="-122"/>
                <a:ea typeface="微软雅黑" pitchFamily="34" charset="-122"/>
              </a:rPr>
              <a:t>岩石力学</a:t>
            </a:r>
            <a:r>
              <a:rPr lang="zh-CN" altLang="en-US" sz="2000" b="0" dirty="0">
                <a:solidFill>
                  <a:schemeClr val="tx1"/>
                </a:solidFill>
                <a:latin typeface="微软雅黑" pitchFamily="34" charset="-122"/>
                <a:ea typeface="微软雅黑" pitchFamily="34" charset="-122"/>
              </a:rPr>
              <a:t>、砌体结构、古建筑、水力压裂、地热开采、边坡、隧道、颗粒堆积、生物医学等领域获得了广泛应用。</a:t>
            </a:r>
          </a:p>
        </p:txBody>
      </p:sp>
      <p:sp>
        <p:nvSpPr>
          <p:cNvPr id="2" name="灯片编号占位符 1">
            <a:extLst>
              <a:ext uri="{FF2B5EF4-FFF2-40B4-BE49-F238E27FC236}">
                <a16:creationId xmlns:a16="http://schemas.microsoft.com/office/drawing/2014/main" id="{889A5AA7-477D-3ABD-504D-8AC7CDED4CE8}"/>
              </a:ext>
            </a:extLst>
          </p:cNvPr>
          <p:cNvSpPr>
            <a:spLocks noGrp="1"/>
          </p:cNvSpPr>
          <p:nvPr>
            <p:ph type="sldNum" sz="quarter" idx="12"/>
          </p:nvPr>
        </p:nvSpPr>
        <p:spPr/>
        <p:txBody>
          <a:bodyPr/>
          <a:lstStyle/>
          <a:p>
            <a:pPr>
              <a:defRPr/>
            </a:pPr>
            <a:fld id="{8E7F6652-62A1-454F-81FD-501A0D85DAEF}" type="slidenum">
              <a:rPr lang="en-US" altLang="zh-CN" smtClean="0"/>
              <a:pPr>
                <a:defRPr/>
              </a:pPr>
              <a:t>4</a:t>
            </a:fld>
            <a:endParaRPr lang="en-US" altLang="zh-CN"/>
          </a:p>
        </p:txBody>
      </p:sp>
    </p:spTree>
    <p:extLst>
      <p:ext uri="{BB962C8B-B14F-4D97-AF65-F5344CB8AC3E}">
        <p14:creationId xmlns:p14="http://schemas.microsoft.com/office/powerpoint/2010/main" val="29341808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一、立题依据</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1.2.</a:t>
            </a:r>
            <a:r>
              <a:rPr lang="zh-CN" altLang="en-US" b="0" dirty="0">
                <a:latin typeface="微软雅黑" pitchFamily="34" charset="-122"/>
                <a:ea typeface="微软雅黑" pitchFamily="34" charset="-122"/>
              </a:rPr>
              <a:t>国内外研究现状</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39"/>
            <a:ext cx="7889498" cy="4256385"/>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在</a:t>
            </a:r>
            <a:r>
              <a:rPr lang="zh-CN" altLang="en-US" sz="2000" dirty="0">
                <a:solidFill>
                  <a:schemeClr val="tx1"/>
                </a:solidFill>
                <a:latin typeface="微软雅黑" pitchFamily="34" charset="-122"/>
                <a:ea typeface="微软雅黑" pitchFamily="34" charset="-122"/>
              </a:rPr>
              <a:t>力学计算模块</a:t>
            </a:r>
            <a:r>
              <a:rPr lang="zh-CN" altLang="en-US" sz="2000" b="0" dirty="0">
                <a:solidFill>
                  <a:schemeClr val="tx1"/>
                </a:solidFill>
                <a:latin typeface="微软雅黑" pitchFamily="34" charset="-122"/>
                <a:ea typeface="微软雅黑" pitchFamily="34" charset="-122"/>
              </a:rPr>
              <a:t>方面，</a:t>
            </a:r>
            <a:r>
              <a:rPr lang="en-US" altLang="zh-CN" sz="2000" b="0" dirty="0" err="1">
                <a:solidFill>
                  <a:schemeClr val="tx1"/>
                </a:solidFill>
                <a:latin typeface="微软雅黑" pitchFamily="34" charset="-122"/>
                <a:ea typeface="微软雅黑" pitchFamily="34" charset="-122"/>
              </a:rPr>
              <a:t>Mahabadi</a:t>
            </a:r>
            <a:r>
              <a:rPr lang="zh-CN" altLang="en-US" sz="2000" b="0" dirty="0">
                <a:solidFill>
                  <a:schemeClr val="tx1"/>
                </a:solidFill>
                <a:latin typeface="微软雅黑" pitchFamily="34" charset="-122"/>
                <a:ea typeface="微软雅黑" pitchFamily="34" charset="-122"/>
              </a:rPr>
              <a:t>等的开发了</a:t>
            </a:r>
            <a:r>
              <a:rPr lang="zh-CN" altLang="en-US" sz="2000" b="0" dirty="0">
                <a:solidFill>
                  <a:srgbClr val="FF0000"/>
                </a:solidFill>
                <a:latin typeface="微软雅黑" pitchFamily="34" charset="-122"/>
                <a:ea typeface="微软雅黑" pitchFamily="34" charset="-122"/>
              </a:rPr>
              <a:t>地应力</a:t>
            </a:r>
            <a:r>
              <a:rPr lang="zh-CN" altLang="en-US" sz="2000" b="0" dirty="0">
                <a:solidFill>
                  <a:schemeClr val="tx1"/>
                </a:solidFill>
                <a:latin typeface="微软雅黑" pitchFamily="34" charset="-122"/>
                <a:ea typeface="微软雅黑" pitchFamily="34" charset="-122"/>
              </a:rPr>
              <a:t>模块、</a:t>
            </a:r>
            <a:r>
              <a:rPr lang="zh-CN" altLang="en-US" sz="2000" b="0" dirty="0">
                <a:solidFill>
                  <a:srgbClr val="FF0000"/>
                </a:solidFill>
                <a:latin typeface="微软雅黑" pitchFamily="34" charset="-122"/>
                <a:ea typeface="微软雅黑" pitchFamily="34" charset="-122"/>
              </a:rPr>
              <a:t>吸收边界</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库伦静摩擦力</a:t>
            </a: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适用于地质力学问题的求解。严成增等开发了</a:t>
            </a:r>
            <a:r>
              <a:rPr lang="zh-CN" altLang="en-US" sz="2000" b="0" dirty="0">
                <a:solidFill>
                  <a:srgbClr val="FF0000"/>
                </a:solidFill>
                <a:latin typeface="微软雅黑" pitchFamily="34" charset="-122"/>
                <a:ea typeface="微软雅黑" pitchFamily="34" charset="-122"/>
              </a:rPr>
              <a:t>三维静摩擦力</a:t>
            </a:r>
            <a:r>
              <a:rPr lang="zh-CN" altLang="en-US" sz="2000" b="0" dirty="0">
                <a:solidFill>
                  <a:schemeClr val="tx1"/>
                </a:solidFill>
                <a:latin typeface="微软雅黑" pitchFamily="34" charset="-122"/>
                <a:ea typeface="微软雅黑" pitchFamily="34" charset="-122"/>
              </a:rPr>
              <a:t>模块。</a:t>
            </a:r>
            <a:r>
              <a:rPr lang="en-US" altLang="zh-CN" sz="2000" b="0" dirty="0">
                <a:solidFill>
                  <a:schemeClr val="tx1"/>
                </a:solidFill>
                <a:latin typeface="微软雅黑" pitchFamily="34" charset="-122"/>
                <a:ea typeface="微软雅黑" pitchFamily="34" charset="-122"/>
              </a:rPr>
              <a:t>Fukuda</a:t>
            </a:r>
            <a:r>
              <a:rPr lang="zh-CN" altLang="en-US" sz="2000" b="0" dirty="0">
                <a:solidFill>
                  <a:schemeClr val="tx1"/>
                </a:solidFill>
                <a:latin typeface="微软雅黑" pitchFamily="34" charset="-122"/>
                <a:ea typeface="微软雅黑" pitchFamily="34" charset="-122"/>
              </a:rPr>
              <a:t>等添加了</a:t>
            </a:r>
            <a:r>
              <a:rPr lang="zh-CN" altLang="en-US" sz="2000" b="0" dirty="0">
                <a:solidFill>
                  <a:srgbClr val="FF0000"/>
                </a:solidFill>
                <a:latin typeface="微软雅黑" pitchFamily="34" charset="-122"/>
                <a:ea typeface="微软雅黑" pitchFamily="34" charset="-122"/>
              </a:rPr>
              <a:t>接触阻尼</a:t>
            </a:r>
            <a:r>
              <a:rPr lang="zh-CN" altLang="en-US" sz="2000" b="0" dirty="0">
                <a:solidFill>
                  <a:schemeClr val="tx1"/>
                </a:solidFill>
                <a:latin typeface="微软雅黑" pitchFamily="34" charset="-122"/>
                <a:ea typeface="微软雅黑" pitchFamily="34" charset="-122"/>
              </a:rPr>
              <a:t>，使得其可以考虑碰撞引起的能量损耗。</a:t>
            </a:r>
            <a:endParaRPr lang="en-US" altLang="zh-CN" sz="20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在</a:t>
            </a:r>
            <a:r>
              <a:rPr lang="zh-CN" altLang="en-US" sz="2000" dirty="0">
                <a:solidFill>
                  <a:schemeClr val="tx1"/>
                </a:solidFill>
                <a:latin typeface="微软雅黑" pitchFamily="34" charset="-122"/>
                <a:ea typeface="微软雅黑" pitchFamily="34" charset="-122"/>
              </a:rPr>
              <a:t>接触算法</a:t>
            </a:r>
            <a:r>
              <a:rPr lang="zh-CN" altLang="en-US" sz="2000" b="0" dirty="0">
                <a:solidFill>
                  <a:schemeClr val="tx1"/>
                </a:solidFill>
                <a:latin typeface="微软雅黑" pitchFamily="34" charset="-122"/>
                <a:ea typeface="微软雅黑" pitchFamily="34" charset="-122"/>
              </a:rPr>
              <a:t>方面，</a:t>
            </a:r>
            <a:r>
              <a:rPr lang="en-US" altLang="zh-CN" sz="2000" b="0" dirty="0" err="1">
                <a:solidFill>
                  <a:schemeClr val="tx1"/>
                </a:solidFill>
                <a:latin typeface="微软雅黑" pitchFamily="34" charset="-122"/>
                <a:ea typeface="微软雅黑" pitchFamily="34" charset="-122"/>
              </a:rPr>
              <a:t>Munjiza</a:t>
            </a:r>
            <a:r>
              <a:rPr lang="zh-CN" altLang="en-US" sz="2000" b="0" dirty="0">
                <a:solidFill>
                  <a:schemeClr val="tx1"/>
                </a:solidFill>
                <a:latin typeface="微软雅黑" pitchFamily="34" charset="-122"/>
                <a:ea typeface="微软雅黑" pitchFamily="34" charset="-122"/>
              </a:rPr>
              <a:t>先后采用</a:t>
            </a:r>
            <a:r>
              <a:rPr lang="en-US" altLang="zh-CN" sz="2000" b="0" dirty="0">
                <a:solidFill>
                  <a:srgbClr val="FF0000"/>
                </a:solidFill>
                <a:latin typeface="微软雅黑" pitchFamily="34" charset="-122"/>
                <a:ea typeface="微软雅黑" pitchFamily="34" charset="-122"/>
              </a:rPr>
              <a:t>NBS</a:t>
            </a:r>
            <a:r>
              <a:rPr lang="zh-CN" altLang="en-US" sz="2000" b="0" dirty="0">
                <a:solidFill>
                  <a:schemeClr val="tx1"/>
                </a:solidFill>
                <a:latin typeface="微软雅黑" pitchFamily="34" charset="-122"/>
                <a:ea typeface="微软雅黑" pitchFamily="34" charset="-122"/>
              </a:rPr>
              <a:t>以及</a:t>
            </a:r>
            <a:r>
              <a:rPr lang="en-US" altLang="zh-CN" sz="2000" b="0" dirty="0">
                <a:solidFill>
                  <a:srgbClr val="FF0000"/>
                </a:solidFill>
                <a:latin typeface="微软雅黑" pitchFamily="34" charset="-122"/>
                <a:ea typeface="微软雅黑" pitchFamily="34" charset="-122"/>
              </a:rPr>
              <a:t>MR</a:t>
            </a:r>
            <a:r>
              <a:rPr lang="zh-CN" altLang="en-US" sz="2000" b="0" dirty="0">
                <a:solidFill>
                  <a:schemeClr val="tx1"/>
                </a:solidFill>
                <a:latin typeface="微软雅黑" pitchFamily="34" charset="-122"/>
                <a:ea typeface="微软雅黑" pitchFamily="34" charset="-122"/>
              </a:rPr>
              <a:t>接触检测算法判断接触关系，进而计算势接触力。严成增等提出一种</a:t>
            </a:r>
            <a:r>
              <a:rPr lang="zh-CN" altLang="en-US" sz="2000" b="0" dirty="0">
                <a:solidFill>
                  <a:srgbClr val="FF0000"/>
                </a:solidFill>
                <a:latin typeface="微软雅黑" pitchFamily="34" charset="-122"/>
                <a:ea typeface="微软雅黑" pitchFamily="34" charset="-122"/>
              </a:rPr>
              <a:t>新的势函数</a:t>
            </a:r>
            <a:r>
              <a:rPr lang="zh-CN" altLang="en-US" sz="2000" b="0" dirty="0">
                <a:solidFill>
                  <a:schemeClr val="tx1"/>
                </a:solidFill>
                <a:latin typeface="微软雅黑" pitchFamily="34" charset="-122"/>
                <a:ea typeface="微软雅黑" pitchFamily="34" charset="-122"/>
              </a:rPr>
              <a:t>克服原有势函数嵌入量相同但接触力大小不同的问题。此外，</a:t>
            </a:r>
            <a:r>
              <a:rPr lang="en-US" altLang="zh-CN" sz="2000" b="0" dirty="0">
                <a:solidFill>
                  <a:schemeClr val="tx1"/>
                </a:solidFill>
                <a:latin typeface="微软雅黑" pitchFamily="34" charset="-122"/>
                <a:ea typeface="微软雅黑" pitchFamily="34" charset="-122"/>
              </a:rPr>
              <a:t>Zhao</a:t>
            </a:r>
            <a:r>
              <a:rPr lang="zh-CN" altLang="en-US" sz="2000" b="0" dirty="0">
                <a:solidFill>
                  <a:schemeClr val="tx1"/>
                </a:solidFill>
                <a:latin typeface="微软雅黑" pitchFamily="34" charset="-122"/>
                <a:ea typeface="微软雅黑" pitchFamily="34" charset="-122"/>
              </a:rPr>
              <a:t>等提出了</a:t>
            </a:r>
            <a:r>
              <a:rPr lang="zh-CN" altLang="en-US" sz="2000" b="0" dirty="0">
                <a:solidFill>
                  <a:srgbClr val="FF0000"/>
                </a:solidFill>
                <a:latin typeface="微软雅黑" pitchFamily="34" charset="-122"/>
                <a:ea typeface="微软雅黑" pitchFamily="34" charset="-122"/>
              </a:rPr>
              <a:t>距离势函数</a:t>
            </a:r>
            <a:r>
              <a:rPr lang="zh-CN" altLang="en-US" sz="2000" b="0" dirty="0">
                <a:solidFill>
                  <a:schemeClr val="tx1"/>
                </a:solidFill>
                <a:latin typeface="微软雅黑" pitchFamily="34" charset="-122"/>
                <a:ea typeface="微软雅黑" pitchFamily="34" charset="-122"/>
              </a:rPr>
              <a:t>，可以处理任意多边形</a:t>
            </a:r>
            <a:r>
              <a:rPr lang="en-US" altLang="zh-CN" sz="2000" b="0" dirty="0">
                <a:solidFill>
                  <a:schemeClr val="tx1"/>
                </a:solidFill>
                <a:latin typeface="微软雅黑" pitchFamily="34" charset="-122"/>
                <a:ea typeface="微软雅黑" pitchFamily="34" charset="-122"/>
              </a:rPr>
              <a:t>/</a:t>
            </a:r>
            <a:r>
              <a:rPr lang="zh-CN" altLang="en-US" sz="2000" b="0" dirty="0">
                <a:solidFill>
                  <a:schemeClr val="tx1"/>
                </a:solidFill>
                <a:latin typeface="微软雅黑" pitchFamily="34" charset="-122"/>
                <a:ea typeface="微软雅黑" pitchFamily="34" charset="-122"/>
              </a:rPr>
              <a:t>多面体的接触力计算问题，同时对切向接触力的计算也做了改进，计算时耗费内存小。</a:t>
            </a:r>
            <a:r>
              <a:rPr lang="en-US" altLang="zh-CN" sz="2000" b="0" dirty="0">
                <a:solidFill>
                  <a:schemeClr val="tx1"/>
                </a:solidFill>
                <a:latin typeface="微软雅黑" pitchFamily="34" charset="-122"/>
                <a:ea typeface="微软雅黑" pitchFamily="34" charset="-122"/>
              </a:rPr>
              <a:t>Lei</a:t>
            </a:r>
            <a:r>
              <a:rPr lang="zh-CN" altLang="en-US" sz="2000" b="0" dirty="0">
                <a:solidFill>
                  <a:schemeClr val="tx1"/>
                </a:solidFill>
                <a:latin typeface="微软雅黑" pitchFamily="34" charset="-122"/>
                <a:ea typeface="微软雅黑" pitchFamily="34" charset="-122"/>
              </a:rPr>
              <a:t>等提出了</a:t>
            </a:r>
            <a:r>
              <a:rPr lang="zh-CN" altLang="en-US" sz="2000" b="0" dirty="0">
                <a:solidFill>
                  <a:srgbClr val="FF0000"/>
                </a:solidFill>
                <a:latin typeface="微软雅黑" pitchFamily="34" charset="-122"/>
                <a:ea typeface="微软雅黑" pitchFamily="34" charset="-122"/>
              </a:rPr>
              <a:t>光滑接触力</a:t>
            </a:r>
            <a:r>
              <a:rPr lang="zh-CN" altLang="en-US" sz="2000" b="0" dirty="0">
                <a:solidFill>
                  <a:schemeClr val="tx1"/>
                </a:solidFill>
                <a:latin typeface="微软雅黑" pitchFamily="34" charset="-122"/>
                <a:ea typeface="微软雅黑" pitchFamily="34" charset="-122"/>
              </a:rPr>
              <a:t>算法。</a:t>
            </a:r>
          </a:p>
        </p:txBody>
      </p:sp>
      <p:sp>
        <p:nvSpPr>
          <p:cNvPr id="2" name="灯片编号占位符 1">
            <a:extLst>
              <a:ext uri="{FF2B5EF4-FFF2-40B4-BE49-F238E27FC236}">
                <a16:creationId xmlns:a16="http://schemas.microsoft.com/office/drawing/2014/main" id="{596EA298-86FF-F22B-82AE-9E1A139C0082}"/>
              </a:ext>
            </a:extLst>
          </p:cNvPr>
          <p:cNvSpPr>
            <a:spLocks noGrp="1"/>
          </p:cNvSpPr>
          <p:nvPr>
            <p:ph type="sldNum" sz="quarter" idx="12"/>
          </p:nvPr>
        </p:nvSpPr>
        <p:spPr/>
        <p:txBody>
          <a:bodyPr/>
          <a:lstStyle/>
          <a:p>
            <a:pPr>
              <a:defRPr/>
            </a:pPr>
            <a:fld id="{8E7F6652-62A1-454F-81FD-501A0D85DAEF}" type="slidenum">
              <a:rPr lang="en-US" altLang="zh-CN" smtClean="0"/>
              <a:pPr>
                <a:defRPr/>
              </a:pPr>
              <a:t>5</a:t>
            </a:fld>
            <a:endParaRPr lang="en-US" altLang="zh-CN"/>
          </a:p>
        </p:txBody>
      </p:sp>
    </p:spTree>
    <p:extLst>
      <p:ext uri="{BB962C8B-B14F-4D97-AF65-F5344CB8AC3E}">
        <p14:creationId xmlns:p14="http://schemas.microsoft.com/office/powerpoint/2010/main" val="35599557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一、立题依据</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1.2.</a:t>
            </a:r>
            <a:r>
              <a:rPr lang="zh-CN" altLang="en-US" b="0" dirty="0">
                <a:latin typeface="微软雅黑" pitchFamily="34" charset="-122"/>
                <a:ea typeface="微软雅黑" pitchFamily="34" charset="-122"/>
              </a:rPr>
              <a:t>国内外研究现状</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39"/>
            <a:ext cx="7889498" cy="3915161"/>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在</a:t>
            </a:r>
            <a:r>
              <a:rPr lang="zh-CN" altLang="en-US" sz="2000" dirty="0">
                <a:solidFill>
                  <a:schemeClr val="tx1"/>
                </a:solidFill>
                <a:latin typeface="微软雅黑" pitchFamily="34" charset="-122"/>
                <a:ea typeface="微软雅黑" pitchFamily="34" charset="-122"/>
              </a:rPr>
              <a:t>实体单元变形及应力计算</a:t>
            </a:r>
            <a:r>
              <a:rPr lang="zh-CN" altLang="en-US" sz="2000" b="0" dirty="0">
                <a:solidFill>
                  <a:schemeClr val="tx1"/>
                </a:solidFill>
                <a:latin typeface="微软雅黑" pitchFamily="34" charset="-122"/>
                <a:ea typeface="微软雅黑" pitchFamily="34" charset="-122"/>
              </a:rPr>
              <a:t>方面，</a:t>
            </a:r>
            <a:r>
              <a:rPr lang="en-US" altLang="zh-CN" sz="2000" b="0">
                <a:solidFill>
                  <a:schemeClr val="tx1"/>
                </a:solidFill>
                <a:latin typeface="微软雅黑" pitchFamily="34" charset="-122"/>
                <a:ea typeface="微软雅黑" pitchFamily="34" charset="-122"/>
              </a:rPr>
              <a:t>Lei</a:t>
            </a:r>
            <a:r>
              <a:rPr lang="zh-CN" altLang="en-US" sz="2000" b="0">
                <a:solidFill>
                  <a:schemeClr val="tx1"/>
                </a:solidFill>
                <a:latin typeface="微软雅黑" pitchFamily="34" charset="-122"/>
                <a:ea typeface="微软雅黑" pitchFamily="34" charset="-122"/>
              </a:rPr>
              <a:t>提出</a:t>
            </a:r>
            <a:r>
              <a:rPr lang="zh-CN" altLang="en-US" sz="2000" b="0" dirty="0">
                <a:solidFill>
                  <a:schemeClr val="tx1"/>
                </a:solidFill>
                <a:latin typeface="微软雅黑" pitchFamily="34" charset="-122"/>
                <a:ea typeface="微软雅黑" pitchFamily="34" charset="-122"/>
              </a:rPr>
              <a:t>了</a:t>
            </a:r>
            <a:r>
              <a:rPr lang="zh-CN" altLang="en-US" sz="2000" b="0" dirty="0">
                <a:solidFill>
                  <a:srgbClr val="FF0000"/>
                </a:solidFill>
                <a:latin typeface="微软雅黑" pitchFamily="34" charset="-122"/>
                <a:ea typeface="微软雅黑" pitchFamily="34" charset="-122"/>
              </a:rPr>
              <a:t>十节点四面体单元</a:t>
            </a:r>
            <a:r>
              <a:rPr lang="zh-CN" altLang="en-US" sz="2000" b="0" dirty="0">
                <a:solidFill>
                  <a:schemeClr val="tx1"/>
                </a:solidFill>
                <a:latin typeface="微软雅黑" pitchFamily="34" charset="-122"/>
                <a:ea typeface="微软雅黑" pitchFamily="34" charset="-122"/>
              </a:rPr>
              <a:t>，从而规避了低阶的四节点四面体单元存在的体积自锁问题。</a:t>
            </a:r>
            <a:r>
              <a:rPr lang="en-US" altLang="zh-CN" sz="2000" b="0">
                <a:solidFill>
                  <a:schemeClr val="tx1"/>
                </a:solidFill>
                <a:latin typeface="微软雅黑" pitchFamily="34" charset="-122"/>
                <a:ea typeface="微软雅黑" pitchFamily="34" charset="-122"/>
              </a:rPr>
              <a:t>Lei</a:t>
            </a:r>
            <a:r>
              <a:rPr lang="zh-CN" altLang="en-US" sz="2000" b="0">
                <a:solidFill>
                  <a:schemeClr val="tx1"/>
                </a:solidFill>
                <a:latin typeface="微软雅黑" pitchFamily="34" charset="-122"/>
                <a:ea typeface="微软雅黑" pitchFamily="34" charset="-122"/>
              </a:rPr>
              <a:t>还</a:t>
            </a:r>
            <a:r>
              <a:rPr lang="zh-CN" altLang="en-US" sz="2000" b="0" dirty="0">
                <a:solidFill>
                  <a:schemeClr val="tx1"/>
                </a:solidFill>
                <a:latin typeface="微软雅黑" pitchFamily="34" charset="-122"/>
                <a:ea typeface="微软雅黑" pitchFamily="34" charset="-122"/>
              </a:rPr>
              <a:t>针对岩土材料，开发通用的</a:t>
            </a:r>
            <a:r>
              <a:rPr lang="zh-CN" altLang="en-US" sz="2000" b="0" dirty="0">
                <a:solidFill>
                  <a:srgbClr val="FF0000"/>
                </a:solidFill>
                <a:latin typeface="微软雅黑" pitchFamily="34" charset="-122"/>
                <a:ea typeface="微软雅黑" pitchFamily="34" charset="-122"/>
              </a:rPr>
              <a:t>各项异性</a:t>
            </a:r>
            <a:r>
              <a:rPr lang="zh-CN" altLang="en-US" sz="2000" b="0" dirty="0">
                <a:solidFill>
                  <a:schemeClr val="tx1"/>
                </a:solidFill>
                <a:latin typeface="微软雅黑" pitchFamily="34" charset="-122"/>
                <a:ea typeface="微软雅黑" pitchFamily="34" charset="-122"/>
              </a:rPr>
              <a:t>变形公式。</a:t>
            </a:r>
            <a:r>
              <a:rPr lang="en-US" altLang="zh-CN" sz="2000" b="0">
                <a:solidFill>
                  <a:schemeClr val="tx1"/>
                </a:solidFill>
                <a:latin typeface="微软雅黑" pitchFamily="34" charset="-122"/>
                <a:ea typeface="微软雅黑" pitchFamily="34" charset="-122"/>
              </a:rPr>
              <a:t>Fukuda</a:t>
            </a:r>
            <a:r>
              <a:rPr lang="zh-CN" altLang="en-US" sz="2000" b="0">
                <a:solidFill>
                  <a:schemeClr val="tx1"/>
                </a:solidFill>
                <a:latin typeface="微软雅黑" pitchFamily="34" charset="-122"/>
                <a:ea typeface="微软雅黑" pitchFamily="34" charset="-122"/>
              </a:rPr>
              <a:t>也</a:t>
            </a:r>
            <a:r>
              <a:rPr lang="zh-CN" altLang="en-US" sz="2000" b="0" dirty="0">
                <a:solidFill>
                  <a:schemeClr val="tx1"/>
                </a:solidFill>
                <a:latin typeface="微软雅黑" pitchFamily="34" charset="-122"/>
                <a:ea typeface="微软雅黑" pitchFamily="34" charset="-122"/>
              </a:rPr>
              <a:t>引入了</a:t>
            </a:r>
            <a:r>
              <a:rPr lang="zh-CN" altLang="en-US" sz="2000" b="0" dirty="0">
                <a:solidFill>
                  <a:srgbClr val="FF0000"/>
                </a:solidFill>
                <a:latin typeface="微软雅黑" pitchFamily="34" charset="-122"/>
                <a:ea typeface="微软雅黑" pitchFamily="34" charset="-122"/>
              </a:rPr>
              <a:t>各项异性弹性本构方程</a:t>
            </a:r>
            <a:r>
              <a:rPr lang="zh-CN" altLang="en-US" sz="2000" b="0" dirty="0">
                <a:solidFill>
                  <a:schemeClr val="tx1"/>
                </a:solidFill>
                <a:latin typeface="微软雅黑" pitchFamily="34" charset="-122"/>
                <a:ea typeface="微软雅黑" pitchFamily="34" charset="-122"/>
              </a:rPr>
              <a:t>用于模拟岩石在准静态和动态加载下的破坏。</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在</a:t>
            </a:r>
            <a:r>
              <a:rPr lang="zh-CN" altLang="en-US" sz="2000" dirty="0">
                <a:solidFill>
                  <a:schemeClr val="tx1"/>
                </a:solidFill>
                <a:latin typeface="微软雅黑" pitchFamily="34" charset="-122"/>
                <a:ea typeface="微软雅黑" pitchFamily="34" charset="-122"/>
              </a:rPr>
              <a:t>节理单元变形及应力计算</a:t>
            </a:r>
            <a:r>
              <a:rPr lang="zh-CN" altLang="en-US" sz="2000" b="0" dirty="0">
                <a:solidFill>
                  <a:schemeClr val="tx1"/>
                </a:solidFill>
                <a:latin typeface="微软雅黑" pitchFamily="34" charset="-122"/>
                <a:ea typeface="微软雅黑" pitchFamily="34" charset="-122"/>
              </a:rPr>
              <a:t>方面，</a:t>
            </a:r>
            <a:r>
              <a:rPr lang="en-US" altLang="zh-CN" sz="2000" b="0">
                <a:solidFill>
                  <a:schemeClr val="tx1"/>
                </a:solidFill>
                <a:latin typeface="微软雅黑" pitchFamily="34" charset="-122"/>
                <a:ea typeface="微软雅黑" pitchFamily="34" charset="-122"/>
              </a:rPr>
              <a:t>Lisjiak</a:t>
            </a:r>
            <a:r>
              <a:rPr lang="zh-CN" altLang="en-US" sz="2000" b="0">
                <a:solidFill>
                  <a:schemeClr val="tx1"/>
                </a:solidFill>
                <a:latin typeface="微软雅黑" pitchFamily="34" charset="-122"/>
                <a:ea typeface="微软雅黑" pitchFamily="34" charset="-122"/>
              </a:rPr>
              <a:t>等</a:t>
            </a:r>
            <a:r>
              <a:rPr lang="zh-CN" altLang="en-US" sz="2000" b="0" dirty="0">
                <a:solidFill>
                  <a:schemeClr val="tx1"/>
                </a:solidFill>
                <a:latin typeface="微软雅黑" pitchFamily="34" charset="-122"/>
                <a:ea typeface="微软雅黑" pitchFamily="34" charset="-122"/>
              </a:rPr>
              <a:t>提出了</a:t>
            </a:r>
            <a:r>
              <a:rPr lang="zh-CN" altLang="en-US" sz="2000" b="0" dirty="0">
                <a:solidFill>
                  <a:srgbClr val="FF0000"/>
                </a:solidFill>
                <a:latin typeface="微软雅黑" pitchFamily="34" charset="-122"/>
                <a:ea typeface="微软雅黑" pitchFamily="34" charset="-122"/>
              </a:rPr>
              <a:t>横观各项同性本构</a:t>
            </a:r>
            <a:r>
              <a:rPr lang="zh-CN" altLang="en-US" sz="2000" b="0" dirty="0">
                <a:solidFill>
                  <a:schemeClr val="tx1"/>
                </a:solidFill>
                <a:latin typeface="微软雅黑" pitchFamily="34" charset="-122"/>
                <a:ea typeface="微软雅黑" pitchFamily="34" charset="-122"/>
              </a:rPr>
              <a:t>，以便对层状岩体的变形及破裂进行模拟。</a:t>
            </a:r>
            <a:r>
              <a:rPr lang="en-US" altLang="zh-CN" sz="2000" b="0">
                <a:solidFill>
                  <a:schemeClr val="tx1"/>
                </a:solidFill>
                <a:latin typeface="微软雅黑" pitchFamily="34" charset="-122"/>
                <a:ea typeface="微软雅黑" pitchFamily="34" charset="-122"/>
              </a:rPr>
              <a:t>Fukuda</a:t>
            </a:r>
            <a:r>
              <a:rPr lang="zh-CN" altLang="en-US" sz="2000" b="0">
                <a:solidFill>
                  <a:schemeClr val="tx1"/>
                </a:solidFill>
                <a:latin typeface="微软雅黑" pitchFamily="34" charset="-122"/>
                <a:ea typeface="微软雅黑" pitchFamily="34" charset="-122"/>
              </a:rPr>
              <a:t>等</a:t>
            </a:r>
            <a:r>
              <a:rPr lang="zh-CN" altLang="en-US" sz="2000" b="0" dirty="0">
                <a:solidFill>
                  <a:schemeClr val="tx1"/>
                </a:solidFill>
                <a:latin typeface="微软雅黑" pitchFamily="34" charset="-122"/>
                <a:ea typeface="微软雅黑" pitchFamily="34" charset="-122"/>
              </a:rPr>
              <a:t>增添了</a:t>
            </a:r>
            <a:r>
              <a:rPr lang="zh-CN" altLang="en-US" sz="2000" b="0" dirty="0">
                <a:solidFill>
                  <a:srgbClr val="FF0000"/>
                </a:solidFill>
                <a:latin typeface="微软雅黑" pitchFamily="34" charset="-122"/>
                <a:ea typeface="微软雅黑" pitchFamily="34" charset="-122"/>
              </a:rPr>
              <a:t>卸载</a:t>
            </a:r>
            <a:r>
              <a:rPr lang="zh-CN" altLang="en-US" sz="2000" b="0" dirty="0">
                <a:solidFill>
                  <a:schemeClr val="tx1"/>
                </a:solidFill>
                <a:latin typeface="微软雅黑" pitchFamily="34" charset="-122"/>
                <a:ea typeface="微软雅黑" pitchFamily="34" charset="-122"/>
              </a:rPr>
              <a:t>和</a:t>
            </a:r>
            <a:r>
              <a:rPr lang="zh-CN" altLang="en-US" sz="2000" b="0" dirty="0">
                <a:solidFill>
                  <a:srgbClr val="FF0000"/>
                </a:solidFill>
                <a:latin typeface="微软雅黑" pitchFamily="34" charset="-122"/>
                <a:ea typeface="微软雅黑" pitchFamily="34" charset="-122"/>
              </a:rPr>
              <a:t>重复加载</a:t>
            </a:r>
            <a:r>
              <a:rPr lang="zh-CN" altLang="en-US" sz="2000" b="0" dirty="0">
                <a:solidFill>
                  <a:schemeClr val="tx1"/>
                </a:solidFill>
                <a:latin typeface="微软雅黑" pitchFamily="34" charset="-122"/>
                <a:ea typeface="微软雅黑" pitchFamily="34" charset="-122"/>
              </a:rPr>
              <a:t>的应力</a:t>
            </a:r>
            <a:r>
              <a:rPr lang="en-US" altLang="zh-CN" sz="2000" b="0">
                <a:solidFill>
                  <a:schemeClr val="tx1"/>
                </a:solidFill>
                <a:latin typeface="微软雅黑" pitchFamily="34" charset="-122"/>
                <a:ea typeface="微软雅黑" pitchFamily="34" charset="-122"/>
              </a:rPr>
              <a:t>-</a:t>
            </a:r>
            <a:r>
              <a:rPr lang="zh-CN" altLang="en-US" sz="2000" b="0">
                <a:solidFill>
                  <a:schemeClr val="tx1"/>
                </a:solidFill>
                <a:latin typeface="微软雅黑" pitchFamily="34" charset="-122"/>
                <a:ea typeface="微软雅黑" pitchFamily="34" charset="-122"/>
              </a:rPr>
              <a:t>位移</a:t>
            </a:r>
            <a:r>
              <a:rPr lang="zh-CN" altLang="en-US" sz="2000" b="0" dirty="0">
                <a:solidFill>
                  <a:schemeClr val="tx1"/>
                </a:solidFill>
                <a:latin typeface="微软雅黑" pitchFamily="34" charset="-122"/>
                <a:ea typeface="微软雅黑" pitchFamily="34" charset="-122"/>
              </a:rPr>
              <a:t>关系。</a:t>
            </a:r>
            <a:r>
              <a:rPr lang="en-US" altLang="zh-CN" sz="2000" b="0">
                <a:solidFill>
                  <a:schemeClr val="tx1"/>
                </a:solidFill>
                <a:latin typeface="微软雅黑" pitchFamily="34" charset="-122"/>
                <a:ea typeface="微软雅黑" pitchFamily="34" charset="-122"/>
              </a:rPr>
              <a:t>Fukuda</a:t>
            </a:r>
            <a:r>
              <a:rPr lang="zh-CN" altLang="en-US" sz="2000" b="0">
                <a:solidFill>
                  <a:schemeClr val="tx1"/>
                </a:solidFill>
                <a:latin typeface="微软雅黑" pitchFamily="34" charset="-122"/>
                <a:ea typeface="微软雅黑" pitchFamily="34" charset="-122"/>
              </a:rPr>
              <a:t>等</a:t>
            </a:r>
            <a:r>
              <a:rPr lang="zh-CN" altLang="en-US" sz="2000" b="0" dirty="0">
                <a:solidFill>
                  <a:schemeClr val="tx1"/>
                </a:solidFill>
                <a:latin typeface="微软雅黑" pitchFamily="34" charset="-122"/>
                <a:ea typeface="微软雅黑" pitchFamily="34" charset="-122"/>
              </a:rPr>
              <a:t>尝试采用将开发基于</a:t>
            </a:r>
            <a:r>
              <a:rPr lang="en-US" altLang="zh-CN" sz="2000" b="0">
                <a:solidFill>
                  <a:schemeClr val="tx1"/>
                </a:solidFill>
                <a:latin typeface="微软雅黑" pitchFamily="34" charset="-122"/>
                <a:ea typeface="微软雅黑" pitchFamily="34" charset="-122"/>
              </a:rPr>
              <a:t>Extrinsic Cohesive Zone Model</a:t>
            </a:r>
            <a:r>
              <a:rPr lang="zh-CN" altLang="en-US" sz="2000" b="0">
                <a:solidFill>
                  <a:schemeClr val="tx1"/>
                </a:solidFill>
                <a:latin typeface="微软雅黑" pitchFamily="34" charset="-122"/>
                <a:ea typeface="微软雅黑" pitchFamily="34" charset="-122"/>
              </a:rPr>
              <a:t>（</a:t>
            </a:r>
            <a:r>
              <a:rPr lang="en-US" altLang="zh-CN" sz="2000" b="0">
                <a:solidFill>
                  <a:srgbClr val="FF0000"/>
                </a:solidFill>
                <a:latin typeface="微软雅黑" pitchFamily="34" charset="-122"/>
                <a:ea typeface="微软雅黑" pitchFamily="34" charset="-122"/>
              </a:rPr>
              <a:t>ECZM</a:t>
            </a:r>
            <a:r>
              <a:rPr lang="zh-CN" altLang="en-US" sz="2000" b="0">
                <a:solidFill>
                  <a:schemeClr val="tx1"/>
                </a:solidFill>
                <a:latin typeface="微软雅黑" pitchFamily="34" charset="-122"/>
                <a:ea typeface="微软雅黑" pitchFamily="34" charset="-122"/>
              </a:rPr>
              <a:t>）</a:t>
            </a:r>
            <a:r>
              <a:rPr lang="zh-CN" altLang="en-US" sz="2000" b="0" dirty="0">
                <a:solidFill>
                  <a:schemeClr val="tx1"/>
                </a:solidFill>
                <a:latin typeface="微软雅黑" pitchFamily="34" charset="-122"/>
                <a:ea typeface="微软雅黑" pitchFamily="34" charset="-122"/>
              </a:rPr>
              <a:t>的三维有限</a:t>
            </a:r>
            <a:r>
              <a:rPr lang="en-US" altLang="zh-CN" sz="2000" b="0">
                <a:solidFill>
                  <a:schemeClr val="tx1"/>
                </a:solidFill>
                <a:latin typeface="微软雅黑" pitchFamily="34" charset="-122"/>
                <a:ea typeface="微软雅黑" pitchFamily="34" charset="-122"/>
              </a:rPr>
              <a:t>-</a:t>
            </a:r>
            <a:r>
              <a:rPr lang="zh-CN" altLang="en-US" sz="2000" b="0">
                <a:solidFill>
                  <a:schemeClr val="tx1"/>
                </a:solidFill>
                <a:latin typeface="微软雅黑" pitchFamily="34" charset="-122"/>
                <a:ea typeface="微软雅黑" pitchFamily="34" charset="-122"/>
              </a:rPr>
              <a:t>离散</a:t>
            </a:r>
            <a:r>
              <a:rPr lang="zh-CN" altLang="en-US" sz="2000" b="0" dirty="0">
                <a:solidFill>
                  <a:schemeClr val="tx1"/>
                </a:solidFill>
                <a:latin typeface="微软雅黑" pitchFamily="34" charset="-122"/>
                <a:ea typeface="微软雅黑" pitchFamily="34" charset="-122"/>
              </a:rPr>
              <a:t>元法，自适应地插入节理单元。</a:t>
            </a:r>
          </a:p>
        </p:txBody>
      </p:sp>
      <p:sp>
        <p:nvSpPr>
          <p:cNvPr id="2" name="灯片编号占位符 1">
            <a:extLst>
              <a:ext uri="{FF2B5EF4-FFF2-40B4-BE49-F238E27FC236}">
                <a16:creationId xmlns:a16="http://schemas.microsoft.com/office/drawing/2014/main" id="{596EA298-86FF-F22B-82AE-9E1A139C0082}"/>
              </a:ext>
            </a:extLst>
          </p:cNvPr>
          <p:cNvSpPr>
            <a:spLocks noGrp="1"/>
          </p:cNvSpPr>
          <p:nvPr>
            <p:ph type="sldNum" sz="quarter" idx="12"/>
          </p:nvPr>
        </p:nvSpPr>
        <p:spPr/>
        <p:txBody>
          <a:bodyPr/>
          <a:lstStyle/>
          <a:p>
            <a:pPr>
              <a:defRPr/>
            </a:pPr>
            <a:fld id="{8E7F6652-62A1-454F-81FD-501A0D85DAEF}" type="slidenum">
              <a:rPr lang="en-US" altLang="zh-CN" smtClean="0"/>
              <a:pPr>
                <a:defRPr/>
              </a:pPr>
              <a:t>6</a:t>
            </a:fld>
            <a:endParaRPr lang="en-US" altLang="zh-CN"/>
          </a:p>
        </p:txBody>
      </p:sp>
    </p:spTree>
    <p:extLst>
      <p:ext uri="{BB962C8B-B14F-4D97-AF65-F5344CB8AC3E}">
        <p14:creationId xmlns:p14="http://schemas.microsoft.com/office/powerpoint/2010/main" val="8976159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一、立题依据</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1.2.</a:t>
            </a:r>
            <a:r>
              <a:rPr lang="zh-CN" altLang="en-US" b="0" dirty="0">
                <a:latin typeface="微软雅黑" pitchFamily="34" charset="-122"/>
                <a:ea typeface="微软雅黑" pitchFamily="34" charset="-122"/>
              </a:rPr>
              <a:t>国内外研究现状</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396016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2</a:t>
            </a:r>
            <a:r>
              <a:rPr lang="zh-CN" altLang="en-US" sz="2000" dirty="0">
                <a:solidFill>
                  <a:schemeClr val="tx1"/>
                </a:solidFill>
                <a:latin typeface="微软雅黑" pitchFamily="34" charset="-122"/>
                <a:ea typeface="微软雅黑" pitchFamily="34" charset="-122"/>
              </a:rPr>
              <a:t>）光滑粒子流体动力学研究现状</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光滑粒子流体动力学（</a:t>
            </a:r>
            <a:r>
              <a:rPr lang="en-US" altLang="zh-CN" sz="2000" b="0" dirty="0">
                <a:solidFill>
                  <a:srgbClr val="FF0000"/>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）是一种具有</a:t>
            </a:r>
            <a:r>
              <a:rPr lang="zh-CN" altLang="en-US" sz="2000" b="0" dirty="0">
                <a:solidFill>
                  <a:srgbClr val="FF0000"/>
                </a:solidFill>
                <a:latin typeface="微软雅黑" pitchFamily="34" charset="-122"/>
                <a:ea typeface="微软雅黑" pitchFamily="34" charset="-122"/>
              </a:rPr>
              <a:t>拉格朗日性质</a:t>
            </a:r>
            <a:r>
              <a:rPr lang="zh-CN" altLang="en-US" sz="2000" b="0" dirty="0">
                <a:solidFill>
                  <a:schemeClr val="tx1"/>
                </a:solidFill>
                <a:latin typeface="微软雅黑" pitchFamily="34" charset="-122"/>
                <a:ea typeface="微软雅黑" pitchFamily="34" charset="-122"/>
              </a:rPr>
              <a:t>的</a:t>
            </a:r>
            <a:r>
              <a:rPr lang="zh-CN" altLang="en-US" sz="2000" b="0" dirty="0">
                <a:solidFill>
                  <a:srgbClr val="FF0000"/>
                </a:solidFill>
                <a:latin typeface="微软雅黑" pitchFamily="34" charset="-122"/>
                <a:ea typeface="微软雅黑" pitchFamily="34" charset="-122"/>
              </a:rPr>
              <a:t>无网格粒子法</a:t>
            </a:r>
            <a:r>
              <a:rPr lang="zh-CN" altLang="en-US" sz="2000" b="0" dirty="0">
                <a:solidFill>
                  <a:schemeClr val="tx1"/>
                </a:solidFill>
                <a:latin typeface="微软雅黑" pitchFamily="34" charset="-122"/>
                <a:ea typeface="微软雅黑" pitchFamily="34" charset="-122"/>
              </a:rPr>
              <a:t>，通过使用一系列承载各种物理量（如质量、密度、粘度、压力、速度、坐标、能量、温度等）的粒子对流体进行离散和建模，适合模拟大变形问题。该方法最早于</a:t>
            </a:r>
            <a:r>
              <a:rPr lang="en-US" altLang="zh-CN" sz="2000" b="0" dirty="0">
                <a:solidFill>
                  <a:schemeClr val="tx1"/>
                </a:solidFill>
                <a:latin typeface="微软雅黑" pitchFamily="34" charset="-122"/>
                <a:ea typeface="微软雅黑" pitchFamily="34" charset="-122"/>
              </a:rPr>
              <a:t>1977</a:t>
            </a:r>
            <a:r>
              <a:rPr lang="zh-CN" altLang="en-US" sz="2000" b="0" dirty="0">
                <a:solidFill>
                  <a:schemeClr val="tx1"/>
                </a:solidFill>
                <a:latin typeface="微软雅黑" pitchFamily="34" charset="-122"/>
                <a:ea typeface="微软雅黑" pitchFamily="34" charset="-122"/>
              </a:rPr>
              <a:t>年由</a:t>
            </a:r>
            <a:r>
              <a:rPr lang="en-US" altLang="zh-CN" sz="2000" b="0" dirty="0">
                <a:solidFill>
                  <a:schemeClr val="tx1"/>
                </a:solidFill>
                <a:latin typeface="微软雅黑" pitchFamily="34" charset="-122"/>
                <a:ea typeface="微软雅黑" pitchFamily="34" charset="-122"/>
              </a:rPr>
              <a:t>Lucy</a:t>
            </a:r>
            <a:r>
              <a:rPr lang="zh-CN" altLang="en-US" sz="2000" b="0" dirty="0">
                <a:solidFill>
                  <a:schemeClr val="tx1"/>
                </a:solidFill>
                <a:latin typeface="微软雅黑" pitchFamily="34" charset="-122"/>
                <a:ea typeface="微软雅黑" pitchFamily="34" charset="-122"/>
              </a:rPr>
              <a:t>、</a:t>
            </a:r>
            <a:r>
              <a:rPr lang="en-US" altLang="zh-CN" sz="2000" b="0" dirty="0" err="1">
                <a:solidFill>
                  <a:schemeClr val="tx1"/>
                </a:solidFill>
                <a:latin typeface="微软雅黑" pitchFamily="34" charset="-122"/>
                <a:ea typeface="微软雅黑" pitchFamily="34" charset="-122"/>
              </a:rPr>
              <a:t>Gingold</a:t>
            </a:r>
            <a:r>
              <a:rPr lang="en-US" altLang="zh-CN" sz="2000" b="0" dirty="0">
                <a:solidFill>
                  <a:schemeClr val="tx1"/>
                </a:solidFill>
                <a:latin typeface="微软雅黑" pitchFamily="34" charset="-122"/>
                <a:ea typeface="微软雅黑" pitchFamily="34" charset="-122"/>
              </a:rPr>
              <a:t> </a:t>
            </a:r>
            <a:r>
              <a:rPr lang="zh-CN" altLang="en-US" sz="2000" b="0" dirty="0">
                <a:solidFill>
                  <a:schemeClr val="tx1"/>
                </a:solidFill>
                <a:latin typeface="微软雅黑" pitchFamily="34" charset="-122"/>
                <a:ea typeface="微软雅黑" pitchFamily="34" charset="-122"/>
              </a:rPr>
              <a:t>和 </a:t>
            </a:r>
            <a:r>
              <a:rPr lang="en-US" altLang="zh-CN" sz="2000" b="0" dirty="0">
                <a:solidFill>
                  <a:schemeClr val="tx1"/>
                </a:solidFill>
                <a:latin typeface="微软雅黑" pitchFamily="34" charset="-122"/>
                <a:ea typeface="微软雅黑" pitchFamily="34" charset="-122"/>
              </a:rPr>
              <a:t>Monaghan</a:t>
            </a:r>
            <a:r>
              <a:rPr lang="zh-CN" altLang="en-US" sz="2000" b="0" dirty="0">
                <a:solidFill>
                  <a:schemeClr val="tx1"/>
                </a:solidFill>
                <a:latin typeface="微软雅黑" pitchFamily="34" charset="-122"/>
                <a:ea typeface="微软雅黑" pitchFamily="34" charset="-122"/>
              </a:rPr>
              <a:t>分别提出，应用于</a:t>
            </a:r>
            <a:r>
              <a:rPr lang="zh-CN" altLang="en-US" sz="2000" b="0" dirty="0">
                <a:solidFill>
                  <a:srgbClr val="FF0000"/>
                </a:solidFill>
                <a:latin typeface="微软雅黑" pitchFamily="34" charset="-122"/>
                <a:ea typeface="微软雅黑" pitchFamily="34" charset="-122"/>
              </a:rPr>
              <a:t>天体物理学</a:t>
            </a:r>
            <a:r>
              <a:rPr lang="zh-CN" altLang="en-US" sz="2000" b="0" dirty="0">
                <a:solidFill>
                  <a:schemeClr val="tx1"/>
                </a:solidFill>
                <a:latin typeface="微软雅黑" pitchFamily="34" charset="-122"/>
                <a:ea typeface="微软雅黑" pitchFamily="34" charset="-122"/>
              </a:rPr>
              <a:t>现象的模拟。随后经过几十年的发展，光滑粒子流体动力学的应用领域已经不仅仅限于天体物理学，在</a:t>
            </a:r>
            <a:r>
              <a:rPr lang="zh-CN" altLang="en-US" sz="2000" b="0" dirty="0">
                <a:solidFill>
                  <a:srgbClr val="FF0000"/>
                </a:solidFill>
                <a:latin typeface="微软雅黑" pitchFamily="34" charset="-122"/>
                <a:ea typeface="微软雅黑" pitchFamily="34" charset="-122"/>
              </a:rPr>
              <a:t>流体力学</a:t>
            </a:r>
            <a:r>
              <a:rPr lang="zh-CN" altLang="en-US" sz="2000" b="0" dirty="0">
                <a:solidFill>
                  <a:schemeClr val="tx1"/>
                </a:solidFill>
                <a:latin typeface="微软雅黑" pitchFamily="34" charset="-122"/>
                <a:ea typeface="微软雅黑" pitchFamily="34" charset="-122"/>
              </a:rPr>
              <a:t>相关领域、</a:t>
            </a:r>
            <a:r>
              <a:rPr lang="zh-CN" altLang="en-US" sz="2000" b="0" dirty="0">
                <a:solidFill>
                  <a:srgbClr val="FF0000"/>
                </a:solidFill>
                <a:latin typeface="微软雅黑" pitchFamily="34" charset="-122"/>
                <a:ea typeface="微软雅黑" pitchFamily="34" charset="-122"/>
              </a:rPr>
              <a:t>固体断裂</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大变形</a:t>
            </a:r>
            <a:r>
              <a:rPr lang="zh-CN" altLang="en-US" sz="2000" b="0" dirty="0">
                <a:solidFill>
                  <a:schemeClr val="tx1"/>
                </a:solidFill>
                <a:latin typeface="微软雅黑" pitchFamily="34" charset="-122"/>
                <a:ea typeface="微软雅黑" pitchFamily="34" charset="-122"/>
              </a:rPr>
              <a:t>和</a:t>
            </a:r>
            <a:r>
              <a:rPr lang="zh-CN" altLang="en-US" sz="2000" b="0" dirty="0">
                <a:solidFill>
                  <a:srgbClr val="FF0000"/>
                </a:solidFill>
                <a:latin typeface="微软雅黑" pitchFamily="34" charset="-122"/>
                <a:ea typeface="微软雅黑" pitchFamily="34" charset="-122"/>
              </a:rPr>
              <a:t>冲击荷载</a:t>
            </a:r>
            <a:r>
              <a:rPr lang="zh-CN" altLang="en-US" sz="2000" b="0" dirty="0">
                <a:solidFill>
                  <a:schemeClr val="tx1"/>
                </a:solidFill>
                <a:latin typeface="微软雅黑" pitchFamily="34" charset="-122"/>
                <a:ea typeface="微软雅黑" pitchFamily="34" charset="-122"/>
              </a:rPr>
              <a:t>问题、</a:t>
            </a:r>
            <a:r>
              <a:rPr lang="zh-CN" altLang="en-US" sz="2000" b="0" dirty="0">
                <a:solidFill>
                  <a:srgbClr val="FF0000"/>
                </a:solidFill>
                <a:latin typeface="微软雅黑" pitchFamily="34" charset="-122"/>
                <a:ea typeface="微软雅黑" pitchFamily="34" charset="-122"/>
              </a:rPr>
              <a:t>爆炸</a:t>
            </a:r>
            <a:r>
              <a:rPr lang="zh-CN" altLang="en-US" sz="2000" b="0" dirty="0">
                <a:solidFill>
                  <a:schemeClr val="tx1"/>
                </a:solidFill>
                <a:latin typeface="微软雅黑" pitchFamily="34" charset="-122"/>
                <a:ea typeface="微软雅黑" pitchFamily="34" charset="-122"/>
              </a:rPr>
              <a:t>现象等的模拟中也取得了广泛的应用。</a:t>
            </a:r>
          </a:p>
        </p:txBody>
      </p:sp>
      <p:sp>
        <p:nvSpPr>
          <p:cNvPr id="2" name="灯片编号占位符 1">
            <a:extLst>
              <a:ext uri="{FF2B5EF4-FFF2-40B4-BE49-F238E27FC236}">
                <a16:creationId xmlns:a16="http://schemas.microsoft.com/office/drawing/2014/main" id="{596EA298-86FF-F22B-82AE-9E1A139C0082}"/>
              </a:ext>
            </a:extLst>
          </p:cNvPr>
          <p:cNvSpPr>
            <a:spLocks noGrp="1"/>
          </p:cNvSpPr>
          <p:nvPr>
            <p:ph type="sldNum" sz="quarter" idx="12"/>
          </p:nvPr>
        </p:nvSpPr>
        <p:spPr/>
        <p:txBody>
          <a:bodyPr/>
          <a:lstStyle/>
          <a:p>
            <a:pPr>
              <a:defRPr/>
            </a:pPr>
            <a:fld id="{8E7F6652-62A1-454F-81FD-501A0D85DAEF}" type="slidenum">
              <a:rPr lang="en-US" altLang="zh-CN" smtClean="0"/>
              <a:pPr>
                <a:defRPr/>
              </a:pPr>
              <a:t>7</a:t>
            </a:fld>
            <a:endParaRPr lang="en-US" altLang="zh-CN"/>
          </a:p>
        </p:txBody>
      </p:sp>
    </p:spTree>
    <p:extLst>
      <p:ext uri="{BB962C8B-B14F-4D97-AF65-F5344CB8AC3E}">
        <p14:creationId xmlns:p14="http://schemas.microsoft.com/office/powerpoint/2010/main" val="40008467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一、立题依据</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1.2.</a:t>
            </a:r>
            <a:r>
              <a:rPr lang="zh-CN" altLang="en-US" b="0" dirty="0">
                <a:latin typeface="微软雅黑" pitchFamily="34" charset="-122"/>
                <a:ea typeface="微软雅黑" pitchFamily="34" charset="-122"/>
              </a:rPr>
              <a:t>国内外研究现状</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39"/>
            <a:ext cx="7889498" cy="4256385"/>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在</a:t>
            </a:r>
            <a:r>
              <a:rPr lang="zh-CN" altLang="en-US" sz="2000" dirty="0">
                <a:solidFill>
                  <a:schemeClr val="tx1"/>
                </a:solidFill>
                <a:latin typeface="微软雅黑" pitchFamily="34" charset="-122"/>
                <a:ea typeface="微软雅黑" pitchFamily="34" charset="-122"/>
              </a:rPr>
              <a:t>流体力学</a:t>
            </a:r>
            <a:r>
              <a:rPr lang="zh-CN" altLang="en-US" sz="2000" b="0" dirty="0">
                <a:solidFill>
                  <a:schemeClr val="tx1"/>
                </a:solidFill>
                <a:latin typeface="微软雅黑" pitchFamily="34" charset="-122"/>
                <a:ea typeface="微软雅黑" pitchFamily="34" charset="-122"/>
              </a:rPr>
              <a:t>相关领域，</a:t>
            </a:r>
            <a:r>
              <a:rPr lang="en-US" altLang="zh-CN" sz="2000" b="0" dirty="0">
                <a:solidFill>
                  <a:schemeClr val="tx1"/>
                </a:solidFill>
                <a:latin typeface="微软雅黑" pitchFamily="34" charset="-122"/>
                <a:ea typeface="微软雅黑" pitchFamily="34" charset="-122"/>
              </a:rPr>
              <a:t>Morris</a:t>
            </a:r>
            <a:r>
              <a:rPr lang="zh-CN" altLang="en-US" sz="2000" b="0" dirty="0">
                <a:solidFill>
                  <a:schemeClr val="tx1"/>
                </a:solidFill>
                <a:latin typeface="微软雅黑" pitchFamily="34" charset="-122"/>
                <a:ea typeface="微软雅黑" pitchFamily="34" charset="-122"/>
              </a:rPr>
              <a:t>模拟了</a:t>
            </a:r>
            <a:r>
              <a:rPr lang="zh-CN" altLang="en-US" sz="2000" b="0" dirty="0">
                <a:solidFill>
                  <a:srgbClr val="FF0000"/>
                </a:solidFill>
                <a:latin typeface="微软雅黑" pitchFamily="34" charset="-122"/>
                <a:ea typeface="微软雅黑" pitchFamily="34" charset="-122"/>
              </a:rPr>
              <a:t>磁流体动力学</a:t>
            </a: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Monaghan</a:t>
            </a:r>
            <a:r>
              <a:rPr lang="zh-CN" altLang="en-US" sz="2000" b="0" dirty="0">
                <a:solidFill>
                  <a:schemeClr val="tx1"/>
                </a:solidFill>
                <a:latin typeface="微软雅黑" pitchFamily="34" charset="-122"/>
                <a:ea typeface="微软雅黑" pitchFamily="34" charset="-122"/>
              </a:rPr>
              <a:t>和</a:t>
            </a:r>
            <a:r>
              <a:rPr lang="en-US" altLang="zh-CN" sz="2000" b="0" dirty="0">
                <a:solidFill>
                  <a:schemeClr val="tx1"/>
                </a:solidFill>
                <a:latin typeface="微软雅黑" pitchFamily="34" charset="-122"/>
                <a:ea typeface="微软雅黑" pitchFamily="34" charset="-122"/>
              </a:rPr>
              <a:t>Morris</a:t>
            </a:r>
            <a:r>
              <a:rPr lang="zh-CN" altLang="en-US" sz="2000" b="0" dirty="0">
                <a:solidFill>
                  <a:schemeClr val="tx1"/>
                </a:solidFill>
                <a:latin typeface="微软雅黑" pitchFamily="34" charset="-122"/>
                <a:ea typeface="微软雅黑" pitchFamily="34" charset="-122"/>
              </a:rPr>
              <a:t>等模拟了</a:t>
            </a:r>
            <a:r>
              <a:rPr lang="zh-CN" altLang="en-US" sz="2000" b="0" dirty="0">
                <a:solidFill>
                  <a:srgbClr val="FF0000"/>
                </a:solidFill>
                <a:latin typeface="微软雅黑" pitchFamily="34" charset="-122"/>
                <a:ea typeface="微软雅黑" pitchFamily="34" charset="-122"/>
              </a:rPr>
              <a:t>准不可压流</a:t>
            </a: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Monaghan</a:t>
            </a:r>
            <a:r>
              <a:rPr lang="zh-CN" altLang="en-US" sz="2000" b="0" dirty="0">
                <a:solidFill>
                  <a:schemeClr val="tx1"/>
                </a:solidFill>
                <a:latin typeface="微软雅黑" pitchFamily="34" charset="-122"/>
                <a:ea typeface="微软雅黑" pitchFamily="34" charset="-122"/>
              </a:rPr>
              <a:t>模拟了</a:t>
            </a:r>
            <a:r>
              <a:rPr lang="zh-CN" altLang="en-US" sz="2000" b="0" dirty="0">
                <a:solidFill>
                  <a:srgbClr val="FF0000"/>
                </a:solidFill>
                <a:latin typeface="微软雅黑" pitchFamily="34" charset="-122"/>
                <a:ea typeface="微软雅黑" pitchFamily="34" charset="-122"/>
              </a:rPr>
              <a:t>重力流和孤立波</a:t>
            </a: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Monaghan</a:t>
            </a:r>
            <a:r>
              <a:rPr lang="zh-CN" altLang="en-US" sz="2000" b="0" dirty="0">
                <a:solidFill>
                  <a:schemeClr val="tx1"/>
                </a:solidFill>
                <a:latin typeface="微软雅黑" pitchFamily="34" charset="-122"/>
                <a:ea typeface="微软雅黑" pitchFamily="34" charset="-122"/>
              </a:rPr>
              <a:t>和</a:t>
            </a:r>
            <a:r>
              <a:rPr lang="en-US" altLang="zh-CN" sz="2000" b="0" dirty="0">
                <a:solidFill>
                  <a:schemeClr val="tx1"/>
                </a:solidFill>
                <a:latin typeface="微软雅黑" pitchFamily="34" charset="-122"/>
                <a:ea typeface="微软雅黑" pitchFamily="34" charset="-122"/>
              </a:rPr>
              <a:t>Kocharyan</a:t>
            </a:r>
            <a:r>
              <a:rPr lang="zh-CN" altLang="en-US" sz="2000" b="0" dirty="0">
                <a:solidFill>
                  <a:schemeClr val="tx1"/>
                </a:solidFill>
                <a:latin typeface="微软雅黑" pitchFamily="34" charset="-122"/>
                <a:ea typeface="微软雅黑" pitchFamily="34" charset="-122"/>
              </a:rPr>
              <a:t>模拟了含尘气体的</a:t>
            </a:r>
            <a:r>
              <a:rPr lang="zh-CN" altLang="en-US" sz="2000" b="0" dirty="0">
                <a:solidFill>
                  <a:srgbClr val="FF0000"/>
                </a:solidFill>
                <a:latin typeface="微软雅黑" pitchFamily="34" charset="-122"/>
                <a:ea typeface="微软雅黑" pitchFamily="34" charset="-122"/>
              </a:rPr>
              <a:t>两相流</a:t>
            </a: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Morris</a:t>
            </a:r>
            <a:r>
              <a:rPr lang="zh-CN" altLang="en-US" sz="2000" b="0" dirty="0">
                <a:solidFill>
                  <a:schemeClr val="tx1"/>
                </a:solidFill>
                <a:latin typeface="微软雅黑" pitchFamily="34" charset="-122"/>
                <a:ea typeface="微软雅黑" pitchFamily="34" charset="-122"/>
              </a:rPr>
              <a:t>等和</a:t>
            </a:r>
            <a:r>
              <a:rPr lang="en-US" altLang="zh-CN" sz="2000" b="0" dirty="0">
                <a:solidFill>
                  <a:schemeClr val="tx1"/>
                </a:solidFill>
                <a:latin typeface="微软雅黑" pitchFamily="34" charset="-122"/>
                <a:ea typeface="微软雅黑" pitchFamily="34" charset="-122"/>
              </a:rPr>
              <a:t>Zhu</a:t>
            </a:r>
            <a:r>
              <a:rPr lang="zh-CN" altLang="en-US" sz="2000" b="0" dirty="0">
                <a:solidFill>
                  <a:schemeClr val="tx1"/>
                </a:solidFill>
                <a:latin typeface="微软雅黑" pitchFamily="34" charset="-122"/>
                <a:ea typeface="微软雅黑" pitchFamily="34" charset="-122"/>
              </a:rPr>
              <a:t>等模拟了</a:t>
            </a:r>
            <a:r>
              <a:rPr lang="zh-CN" altLang="en-US" sz="2000" b="0" dirty="0">
                <a:solidFill>
                  <a:srgbClr val="FF0000"/>
                </a:solidFill>
                <a:latin typeface="微软雅黑" pitchFamily="34" charset="-122"/>
                <a:ea typeface="微软雅黑" pitchFamily="34" charset="-122"/>
              </a:rPr>
              <a:t>多孔介质中的流动</a:t>
            </a:r>
            <a:r>
              <a:rPr lang="zh-CN" altLang="en-US" sz="2000" b="0" dirty="0">
                <a:solidFill>
                  <a:schemeClr val="tx1"/>
                </a:solidFill>
                <a:latin typeface="微软雅黑" pitchFamily="34" charset="-122"/>
                <a:ea typeface="微软雅黑" pitchFamily="34" charset="-122"/>
              </a:rPr>
              <a:t>现象。</a:t>
            </a:r>
            <a:r>
              <a:rPr lang="en-US" altLang="zh-CN" sz="2000" b="0" dirty="0">
                <a:solidFill>
                  <a:schemeClr val="tx1"/>
                </a:solidFill>
                <a:latin typeface="微软雅黑" pitchFamily="34" charset="-122"/>
                <a:ea typeface="微软雅黑" pitchFamily="34" charset="-122"/>
              </a:rPr>
              <a:t>Dalrymple</a:t>
            </a:r>
            <a:r>
              <a:rPr lang="zh-CN" altLang="en-US" sz="2000" b="0" dirty="0">
                <a:solidFill>
                  <a:schemeClr val="tx1"/>
                </a:solidFill>
                <a:latin typeface="微软雅黑" pitchFamily="34" charset="-122"/>
                <a:ea typeface="微软雅黑" pitchFamily="34" charset="-122"/>
              </a:rPr>
              <a:t>和</a:t>
            </a:r>
            <a:r>
              <a:rPr lang="en-US" altLang="zh-CN" sz="2000" b="0" dirty="0">
                <a:solidFill>
                  <a:schemeClr val="tx1"/>
                </a:solidFill>
                <a:latin typeface="微软雅黑" pitchFamily="34" charset="-122"/>
                <a:ea typeface="微软雅黑" pitchFamily="34" charset="-122"/>
              </a:rPr>
              <a:t>Rogers</a:t>
            </a:r>
            <a:r>
              <a:rPr lang="zh-CN" altLang="en-US" sz="2000" b="0" dirty="0">
                <a:solidFill>
                  <a:schemeClr val="tx1"/>
                </a:solidFill>
                <a:latin typeface="微软雅黑" pitchFamily="34" charset="-122"/>
                <a:ea typeface="微软雅黑" pitchFamily="34" charset="-122"/>
              </a:rPr>
              <a:t>改进了光滑粒子流体动力学算法并模拟了海滩上的二维和三维</a:t>
            </a:r>
            <a:r>
              <a:rPr lang="zh-CN" altLang="en-US" sz="2000" b="0" dirty="0">
                <a:solidFill>
                  <a:srgbClr val="FF0000"/>
                </a:solidFill>
                <a:latin typeface="微软雅黑" pitchFamily="34" charset="-122"/>
                <a:ea typeface="微软雅黑" pitchFamily="34" charset="-122"/>
              </a:rPr>
              <a:t>波浪</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甲板涌浪</a:t>
            </a:r>
            <a:r>
              <a:rPr lang="zh-CN" altLang="en-US" sz="2000" b="0" dirty="0">
                <a:solidFill>
                  <a:schemeClr val="tx1"/>
                </a:solidFill>
                <a:latin typeface="微软雅黑" pitchFamily="34" charset="-122"/>
                <a:ea typeface="微软雅黑" pitchFamily="34" charset="-122"/>
              </a:rPr>
              <a:t>以及</a:t>
            </a:r>
            <a:r>
              <a:rPr lang="zh-CN" altLang="en-US" sz="2000" b="0" dirty="0">
                <a:solidFill>
                  <a:srgbClr val="FF0000"/>
                </a:solidFill>
                <a:latin typeface="微软雅黑" pitchFamily="34" charset="-122"/>
                <a:ea typeface="微软雅黑" pitchFamily="34" charset="-122"/>
              </a:rPr>
              <a:t>波浪和结构的相互作用</a:t>
            </a:r>
            <a:r>
              <a:rPr lang="zh-CN" altLang="en-US" sz="2000" b="0" dirty="0">
                <a:solidFill>
                  <a:schemeClr val="tx1"/>
                </a:solidFill>
                <a:latin typeface="微软雅黑" pitchFamily="34" charset="-122"/>
                <a:ea typeface="微软雅黑" pitchFamily="34" charset="-122"/>
              </a:rPr>
              <a:t>。杨波等模拟了</a:t>
            </a:r>
            <a:r>
              <a:rPr lang="en-US" altLang="zh-CN" sz="2000" b="0" dirty="0">
                <a:solidFill>
                  <a:srgbClr val="FF0000"/>
                </a:solidFill>
                <a:latin typeface="微软雅黑" pitchFamily="34" charset="-122"/>
                <a:ea typeface="微软雅黑" pitchFamily="34" charset="-122"/>
              </a:rPr>
              <a:t>Couette</a:t>
            </a:r>
            <a:r>
              <a:rPr lang="zh-CN" altLang="en-US" sz="2000" b="0" dirty="0">
                <a:solidFill>
                  <a:srgbClr val="FF0000"/>
                </a:solidFill>
                <a:latin typeface="微软雅黑" pitchFamily="34" charset="-122"/>
                <a:ea typeface="微软雅黑" pitchFamily="34" charset="-122"/>
              </a:rPr>
              <a:t>流</a:t>
            </a:r>
            <a:r>
              <a:rPr lang="en-US" altLang="zh-CN" sz="2000" b="0" dirty="0">
                <a:solidFill>
                  <a:schemeClr val="tx1"/>
                </a:solidFill>
                <a:latin typeface="微软雅黑" pitchFamily="34" charset="-122"/>
                <a:ea typeface="微软雅黑" pitchFamily="34" charset="-122"/>
              </a:rPr>
              <a:t>.</a:t>
            </a: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Morris</a:t>
            </a:r>
            <a:r>
              <a:rPr lang="zh-CN" altLang="en-US" sz="2000" b="0" dirty="0">
                <a:solidFill>
                  <a:schemeClr val="tx1"/>
                </a:solidFill>
                <a:latin typeface="微软雅黑" pitchFamily="34" charset="-122"/>
                <a:ea typeface="微软雅黑" pitchFamily="34" charset="-122"/>
              </a:rPr>
              <a:t>将连续表面力（</a:t>
            </a:r>
            <a:r>
              <a:rPr lang="en-US" altLang="zh-CN" sz="2000" b="0" dirty="0">
                <a:solidFill>
                  <a:schemeClr val="tx1"/>
                </a:solidFill>
                <a:latin typeface="微软雅黑" pitchFamily="34" charset="-122"/>
                <a:ea typeface="微软雅黑" pitchFamily="34" charset="-122"/>
              </a:rPr>
              <a:t>CSF</a:t>
            </a:r>
            <a:r>
              <a:rPr lang="zh-CN" altLang="en-US" sz="2000" b="0" dirty="0">
                <a:solidFill>
                  <a:schemeClr val="tx1"/>
                </a:solidFill>
                <a:latin typeface="微软雅黑" pitchFamily="34" charset="-122"/>
                <a:ea typeface="微软雅黑" pitchFamily="34" charset="-122"/>
              </a:rPr>
              <a:t>）模型引入</a:t>
            </a: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中，模拟了密度和粘度相同的两相流动问题。</a:t>
            </a:r>
            <a:r>
              <a:rPr lang="en-US" altLang="zh-CN" sz="2000" b="0" dirty="0" err="1">
                <a:solidFill>
                  <a:schemeClr val="tx1"/>
                </a:solidFill>
                <a:latin typeface="微软雅黑" pitchFamily="34" charset="-122"/>
                <a:ea typeface="微软雅黑" pitchFamily="34" charset="-122"/>
              </a:rPr>
              <a:t>Adami</a:t>
            </a:r>
            <a:r>
              <a:rPr lang="zh-CN" altLang="en-US" sz="2000" b="0" dirty="0">
                <a:solidFill>
                  <a:schemeClr val="tx1"/>
                </a:solidFill>
                <a:latin typeface="微软雅黑" pitchFamily="34" charset="-122"/>
                <a:ea typeface="微软雅黑" pitchFamily="34" charset="-122"/>
              </a:rPr>
              <a:t>等提出了一种新的</a:t>
            </a:r>
            <a:r>
              <a:rPr lang="zh-CN" altLang="en-US" sz="2000" b="0" dirty="0">
                <a:solidFill>
                  <a:srgbClr val="FF0000"/>
                </a:solidFill>
                <a:latin typeface="微软雅黑" pitchFamily="34" charset="-122"/>
                <a:ea typeface="微软雅黑" pitchFamily="34" charset="-122"/>
              </a:rPr>
              <a:t>表面张力</a:t>
            </a:r>
            <a:r>
              <a:rPr lang="zh-CN" altLang="en-US" sz="2000" b="0" dirty="0">
                <a:solidFill>
                  <a:schemeClr val="tx1"/>
                </a:solidFill>
                <a:latin typeface="微软雅黑" pitchFamily="34" charset="-122"/>
                <a:ea typeface="微软雅黑" pitchFamily="34" charset="-122"/>
              </a:rPr>
              <a:t>公式，并推导了一种新的计算应力面张量的散度的算法，实现了对密度相差较大的</a:t>
            </a:r>
            <a:r>
              <a:rPr lang="zh-CN" altLang="en-US" sz="2000" b="0" dirty="0">
                <a:solidFill>
                  <a:srgbClr val="FF0000"/>
                </a:solidFill>
                <a:latin typeface="微软雅黑" pitchFamily="34" charset="-122"/>
                <a:ea typeface="微软雅黑" pitchFamily="34" charset="-122"/>
              </a:rPr>
              <a:t>多相流</a:t>
            </a:r>
            <a:r>
              <a:rPr lang="zh-CN" altLang="en-US" sz="2000" b="0" dirty="0">
                <a:solidFill>
                  <a:schemeClr val="tx1"/>
                </a:solidFill>
                <a:latin typeface="微软雅黑" pitchFamily="34" charset="-122"/>
                <a:ea typeface="微软雅黑" pitchFamily="34" charset="-122"/>
              </a:rPr>
              <a:t>的模拟。</a:t>
            </a:r>
          </a:p>
        </p:txBody>
      </p:sp>
      <p:sp>
        <p:nvSpPr>
          <p:cNvPr id="2" name="灯片编号占位符 1">
            <a:extLst>
              <a:ext uri="{FF2B5EF4-FFF2-40B4-BE49-F238E27FC236}">
                <a16:creationId xmlns:a16="http://schemas.microsoft.com/office/drawing/2014/main" id="{596EA298-86FF-F22B-82AE-9E1A139C0082}"/>
              </a:ext>
            </a:extLst>
          </p:cNvPr>
          <p:cNvSpPr>
            <a:spLocks noGrp="1"/>
          </p:cNvSpPr>
          <p:nvPr>
            <p:ph type="sldNum" sz="quarter" idx="12"/>
          </p:nvPr>
        </p:nvSpPr>
        <p:spPr/>
        <p:txBody>
          <a:bodyPr/>
          <a:lstStyle/>
          <a:p>
            <a:pPr>
              <a:defRPr/>
            </a:pPr>
            <a:fld id="{8E7F6652-62A1-454F-81FD-501A0D85DAEF}" type="slidenum">
              <a:rPr lang="en-US" altLang="zh-CN" smtClean="0"/>
              <a:pPr>
                <a:defRPr/>
              </a:pPr>
              <a:t>8</a:t>
            </a:fld>
            <a:endParaRPr lang="en-US" altLang="zh-CN"/>
          </a:p>
        </p:txBody>
      </p:sp>
    </p:spTree>
    <p:extLst>
      <p:ext uri="{BB962C8B-B14F-4D97-AF65-F5344CB8AC3E}">
        <p14:creationId xmlns:p14="http://schemas.microsoft.com/office/powerpoint/2010/main" val="39898243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一、立题依据</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1.2.</a:t>
            </a:r>
            <a:r>
              <a:rPr lang="zh-CN" altLang="en-US" b="0" dirty="0">
                <a:latin typeface="微软雅黑" pitchFamily="34" charset="-122"/>
                <a:ea typeface="微软雅黑" pitchFamily="34" charset="-122"/>
              </a:rPr>
              <a:t>国内外研究现状</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1"/>
            <a:ext cx="7889498" cy="225016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流体压力是通过</a:t>
            </a:r>
            <a:r>
              <a:rPr lang="zh-CN" altLang="en-US" sz="2000" dirty="0">
                <a:solidFill>
                  <a:schemeClr val="tx1"/>
                </a:solidFill>
                <a:latin typeface="微软雅黑" pitchFamily="34" charset="-122"/>
                <a:ea typeface="微软雅黑" pitchFamily="34" charset="-122"/>
              </a:rPr>
              <a:t>状态方程</a:t>
            </a:r>
            <a:r>
              <a:rPr lang="zh-CN" altLang="en-US" sz="2000" b="0" dirty="0">
                <a:solidFill>
                  <a:schemeClr val="tx1"/>
                </a:solidFill>
                <a:latin typeface="微软雅黑" pitchFamily="34" charset="-122"/>
                <a:ea typeface="微软雅黑" pitchFamily="34" charset="-122"/>
              </a:rPr>
              <a:t>计算。</a:t>
            </a:r>
            <a:r>
              <a:rPr lang="en-US" altLang="zh-CN" sz="2000" b="0" dirty="0">
                <a:solidFill>
                  <a:schemeClr val="tx1"/>
                </a:solidFill>
                <a:latin typeface="微软雅黑" pitchFamily="34" charset="-122"/>
                <a:ea typeface="微软雅黑" pitchFamily="34" charset="-122"/>
              </a:rPr>
              <a:t>Monaghan</a:t>
            </a:r>
            <a:r>
              <a:rPr lang="zh-CN" altLang="en-US" sz="2000" b="0" dirty="0">
                <a:solidFill>
                  <a:schemeClr val="tx1"/>
                </a:solidFill>
                <a:latin typeface="微软雅黑" pitchFamily="34" charset="-122"/>
                <a:ea typeface="微软雅黑" pitchFamily="34" charset="-122"/>
              </a:rPr>
              <a:t>使用了用</a:t>
            </a:r>
            <a:r>
              <a:rPr lang="zh-CN" altLang="en-US" sz="2000" b="0" dirty="0">
                <a:solidFill>
                  <a:srgbClr val="FF0000"/>
                </a:solidFill>
                <a:latin typeface="微软雅黑" pitchFamily="34" charset="-122"/>
                <a:ea typeface="微软雅黑" pitchFamily="34" charset="-122"/>
              </a:rPr>
              <a:t>声速</a:t>
            </a:r>
            <a:r>
              <a:rPr lang="zh-CN" altLang="en-US" sz="2000" b="0" dirty="0">
                <a:solidFill>
                  <a:schemeClr val="tx1"/>
                </a:solidFill>
                <a:latin typeface="微软雅黑" pitchFamily="34" charset="-122"/>
                <a:ea typeface="微软雅黑" pitchFamily="34" charset="-122"/>
              </a:rPr>
              <a:t>描述流体的状态方程。</a:t>
            </a:r>
            <a:r>
              <a:rPr lang="en-US" altLang="zh-CN" sz="2000" b="0" dirty="0">
                <a:solidFill>
                  <a:schemeClr val="tx1"/>
                </a:solidFill>
                <a:latin typeface="微软雅黑" pitchFamily="34" charset="-122"/>
                <a:ea typeface="微软雅黑" pitchFamily="34" charset="-122"/>
              </a:rPr>
              <a:t>Becker</a:t>
            </a:r>
            <a:r>
              <a:rPr lang="zh-CN" altLang="en-US" sz="2000" b="0" dirty="0">
                <a:solidFill>
                  <a:schemeClr val="tx1"/>
                </a:solidFill>
                <a:latin typeface="微软雅黑" pitchFamily="34" charset="-122"/>
                <a:ea typeface="微软雅黑" pitchFamily="34" charset="-122"/>
              </a:rPr>
              <a:t>等采用了基于</a:t>
            </a:r>
            <a:r>
              <a:rPr lang="en-US" altLang="zh-CN" sz="2000" b="0" dirty="0">
                <a:solidFill>
                  <a:srgbClr val="FF0000"/>
                </a:solidFill>
                <a:latin typeface="微软雅黑" pitchFamily="34" charset="-122"/>
                <a:ea typeface="微软雅黑" pitchFamily="34" charset="-122"/>
              </a:rPr>
              <a:t>Tait</a:t>
            </a:r>
            <a:r>
              <a:rPr lang="zh-CN" altLang="en-US" sz="2000" b="0" dirty="0">
                <a:solidFill>
                  <a:srgbClr val="FF0000"/>
                </a:solidFill>
                <a:latin typeface="微软雅黑" pitchFamily="34" charset="-122"/>
                <a:ea typeface="微软雅黑" pitchFamily="34" charset="-122"/>
              </a:rPr>
              <a:t>方程</a:t>
            </a:r>
            <a:r>
              <a:rPr lang="zh-CN" altLang="en-US" sz="2000" b="0" dirty="0">
                <a:solidFill>
                  <a:schemeClr val="tx1"/>
                </a:solidFill>
                <a:latin typeface="微软雅黑" pitchFamily="34" charset="-122"/>
                <a:ea typeface="微软雅黑" pitchFamily="34" charset="-122"/>
              </a:rPr>
              <a:t>的状态方程。</a:t>
            </a:r>
            <a:r>
              <a:rPr lang="en-US" altLang="zh-CN" sz="2000" b="0" dirty="0">
                <a:solidFill>
                  <a:schemeClr val="tx1"/>
                </a:solidFill>
                <a:latin typeface="微软雅黑" pitchFamily="34" charset="-122"/>
                <a:ea typeface="微软雅黑" pitchFamily="34" charset="-122"/>
              </a:rPr>
              <a:t>Mirror</a:t>
            </a:r>
            <a:r>
              <a:rPr lang="zh-CN" altLang="en-US" sz="2000" b="0" dirty="0">
                <a:solidFill>
                  <a:schemeClr val="tx1"/>
                </a:solidFill>
                <a:latin typeface="微软雅黑" pitchFamily="34" charset="-122"/>
                <a:ea typeface="微软雅黑" pitchFamily="34" charset="-122"/>
              </a:rPr>
              <a:t>等采用了更为简单的状态方程。其中</a:t>
            </a:r>
            <a:r>
              <a:rPr lang="zh-CN" altLang="en-US" sz="2000" b="0" dirty="0">
                <a:solidFill>
                  <a:srgbClr val="FF0000"/>
                </a:solidFill>
                <a:latin typeface="微软雅黑" pitchFamily="34" charset="-122"/>
                <a:ea typeface="微软雅黑" pitchFamily="34" charset="-122"/>
              </a:rPr>
              <a:t>声速</a:t>
            </a:r>
            <a:r>
              <a:rPr lang="zh-CN" altLang="en-US" sz="2000" b="0" dirty="0">
                <a:solidFill>
                  <a:schemeClr val="tx1"/>
                </a:solidFill>
                <a:latin typeface="微软雅黑" pitchFamily="34" charset="-122"/>
                <a:ea typeface="微软雅黑" pitchFamily="34" charset="-122"/>
              </a:rPr>
              <a:t>是一个重要的影响因素，</a:t>
            </a:r>
            <a:r>
              <a:rPr lang="en-US" altLang="zh-CN" sz="2000" b="0" dirty="0">
                <a:solidFill>
                  <a:schemeClr val="tx1"/>
                </a:solidFill>
                <a:latin typeface="微软雅黑" pitchFamily="34" charset="-122"/>
                <a:ea typeface="微软雅黑" pitchFamily="34" charset="-122"/>
              </a:rPr>
              <a:t>Monaghan</a:t>
            </a:r>
            <a:r>
              <a:rPr lang="zh-CN" altLang="en-US" sz="2000" b="0" dirty="0">
                <a:solidFill>
                  <a:schemeClr val="tx1"/>
                </a:solidFill>
                <a:latin typeface="微软雅黑" pitchFamily="34" charset="-122"/>
                <a:ea typeface="微软雅黑" pitchFamily="34" charset="-122"/>
              </a:rPr>
              <a:t>定义了</a:t>
            </a:r>
            <a:r>
              <a:rPr lang="zh-CN" altLang="en-US" sz="2000" b="0" dirty="0">
                <a:solidFill>
                  <a:srgbClr val="FF0000"/>
                </a:solidFill>
                <a:latin typeface="微软雅黑" pitchFamily="34" charset="-122"/>
                <a:ea typeface="微软雅黑" pitchFamily="34" charset="-122"/>
              </a:rPr>
              <a:t>相对密度差</a:t>
            </a:r>
            <a:r>
              <a:rPr lang="zh-CN" altLang="en-US" sz="2000" b="0" dirty="0">
                <a:solidFill>
                  <a:schemeClr val="tx1"/>
                </a:solidFill>
                <a:latin typeface="微软雅黑" pitchFamily="34" charset="-122"/>
                <a:ea typeface="微软雅黑" pitchFamily="34" charset="-122"/>
              </a:rPr>
              <a:t>用于估计声速大小，</a:t>
            </a:r>
            <a:r>
              <a:rPr lang="en-US" altLang="zh-CN" sz="2000" b="0" dirty="0">
                <a:solidFill>
                  <a:schemeClr val="tx1"/>
                </a:solidFill>
                <a:latin typeface="微软雅黑" pitchFamily="34" charset="-122"/>
                <a:ea typeface="微软雅黑" pitchFamily="34" charset="-122"/>
              </a:rPr>
              <a:t>Mirror</a:t>
            </a:r>
            <a:r>
              <a:rPr lang="zh-CN" altLang="en-US" sz="2000" b="0" dirty="0">
                <a:solidFill>
                  <a:schemeClr val="tx1"/>
                </a:solidFill>
                <a:latin typeface="微软雅黑" pitchFamily="34" charset="-122"/>
                <a:ea typeface="微软雅黑" pitchFamily="34" charset="-122"/>
              </a:rPr>
              <a:t>等则通过综合考虑</a:t>
            </a:r>
            <a:r>
              <a:rPr lang="zh-CN" altLang="en-US" sz="2000" b="0" dirty="0">
                <a:solidFill>
                  <a:srgbClr val="FF0000"/>
                </a:solidFill>
                <a:latin typeface="微软雅黑" pitchFamily="34" charset="-122"/>
                <a:ea typeface="微软雅黑" pitchFamily="34" charset="-122"/>
              </a:rPr>
              <a:t>压力</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黏性力</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体力</a:t>
            </a:r>
            <a:r>
              <a:rPr lang="zh-CN" altLang="en-US" sz="2000" b="0" dirty="0">
                <a:solidFill>
                  <a:schemeClr val="tx1"/>
                </a:solidFill>
                <a:latin typeface="微软雅黑" pitchFamily="34" charset="-122"/>
                <a:ea typeface="微软雅黑" pitchFamily="34" charset="-122"/>
              </a:rPr>
              <a:t>来估算声速取值。</a:t>
            </a:r>
            <a:endParaRPr lang="en-US" altLang="zh-CN" sz="2000" b="0" dirty="0">
              <a:solidFill>
                <a:schemeClr val="tx1"/>
              </a:solidFill>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596EA298-86FF-F22B-82AE-9E1A139C0082}"/>
              </a:ext>
            </a:extLst>
          </p:cNvPr>
          <p:cNvSpPr>
            <a:spLocks noGrp="1"/>
          </p:cNvSpPr>
          <p:nvPr>
            <p:ph type="sldNum" sz="quarter" idx="12"/>
          </p:nvPr>
        </p:nvSpPr>
        <p:spPr/>
        <p:txBody>
          <a:bodyPr/>
          <a:lstStyle/>
          <a:p>
            <a:pPr>
              <a:defRPr/>
            </a:pPr>
            <a:fld id="{8E7F6652-62A1-454F-81FD-501A0D85DAEF}" type="slidenum">
              <a:rPr lang="en-US" altLang="zh-CN" smtClean="0"/>
              <a:pPr>
                <a:defRPr/>
              </a:pPr>
              <a:t>9</a:t>
            </a:fld>
            <a:endParaRPr lang="en-US" altLang="zh-CN"/>
          </a:p>
        </p:txBody>
      </p:sp>
      <p:sp>
        <p:nvSpPr>
          <p:cNvPr id="3" name="同侧圆角矩形 4">
            <a:extLst>
              <a:ext uri="{FF2B5EF4-FFF2-40B4-BE49-F238E27FC236}">
                <a16:creationId xmlns:a16="http://schemas.microsoft.com/office/drawing/2014/main" id="{900D6E0D-8129-C706-7D83-D2A632FAEC96}"/>
              </a:ext>
            </a:extLst>
          </p:cNvPr>
          <p:cNvSpPr/>
          <p:nvPr/>
        </p:nvSpPr>
        <p:spPr>
          <a:xfrm>
            <a:off x="642942" y="4455026"/>
            <a:ext cx="7889498" cy="1790198"/>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最近相邻粒子搜索算法</a:t>
            </a:r>
            <a:r>
              <a:rPr lang="zh-CN" altLang="en-US" sz="2000" b="0" dirty="0">
                <a:solidFill>
                  <a:schemeClr val="tx1"/>
                </a:solidFill>
                <a:latin typeface="微软雅黑" pitchFamily="34" charset="-122"/>
                <a:ea typeface="微软雅黑" pitchFamily="34" charset="-122"/>
              </a:rPr>
              <a:t>对计算速度影响很大，最简单的是</a:t>
            </a:r>
            <a:r>
              <a:rPr lang="zh-CN" altLang="en-US" sz="2000" b="0" dirty="0">
                <a:solidFill>
                  <a:srgbClr val="FF0000"/>
                </a:solidFill>
                <a:latin typeface="微软雅黑" pitchFamily="34" charset="-122"/>
                <a:ea typeface="微软雅黑" pitchFamily="34" charset="-122"/>
              </a:rPr>
              <a:t>全配对搜索法</a:t>
            </a: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Monaghan</a:t>
            </a:r>
            <a:r>
              <a:rPr lang="zh-CN" altLang="en-US" sz="2000" b="0" dirty="0">
                <a:solidFill>
                  <a:schemeClr val="tx1"/>
                </a:solidFill>
                <a:latin typeface="微软雅黑" pitchFamily="34" charset="-122"/>
                <a:ea typeface="微软雅黑" pitchFamily="34" charset="-122"/>
              </a:rPr>
              <a:t>开发了</a:t>
            </a:r>
            <a:r>
              <a:rPr lang="zh-CN" altLang="en-US" sz="2000" b="0" dirty="0">
                <a:solidFill>
                  <a:srgbClr val="FF0000"/>
                </a:solidFill>
                <a:latin typeface="微软雅黑" pitchFamily="34" charset="-122"/>
                <a:ea typeface="微软雅黑" pitchFamily="34" charset="-122"/>
              </a:rPr>
              <a:t>链表搜索法</a:t>
            </a:r>
            <a:r>
              <a:rPr lang="zh-CN" altLang="en-US" sz="2000" b="0" dirty="0">
                <a:solidFill>
                  <a:schemeClr val="tx1"/>
                </a:solidFill>
                <a:latin typeface="微软雅黑" pitchFamily="34" charset="-122"/>
                <a:ea typeface="微软雅黑" pitchFamily="34" charset="-122"/>
              </a:rPr>
              <a:t>。</a:t>
            </a:r>
            <a:r>
              <a:rPr lang="en-US" altLang="zh-CN" sz="2000" b="0" dirty="0" err="1">
                <a:solidFill>
                  <a:schemeClr val="tx1"/>
                </a:solidFill>
                <a:latin typeface="微软雅黑" pitchFamily="34" charset="-122"/>
                <a:ea typeface="微软雅黑" pitchFamily="34" charset="-122"/>
              </a:rPr>
              <a:t>Hemquist</a:t>
            </a:r>
            <a:r>
              <a:rPr lang="zh-CN" altLang="en-US" sz="2000" b="0" dirty="0">
                <a:solidFill>
                  <a:schemeClr val="tx1"/>
                </a:solidFill>
                <a:latin typeface="微软雅黑" pitchFamily="34" charset="-122"/>
                <a:ea typeface="微软雅黑" pitchFamily="34" charset="-122"/>
              </a:rPr>
              <a:t>和</a:t>
            </a:r>
            <a:r>
              <a:rPr lang="en-US" altLang="zh-CN" sz="2000" b="0" dirty="0">
                <a:solidFill>
                  <a:schemeClr val="tx1"/>
                </a:solidFill>
                <a:latin typeface="微软雅黑" pitchFamily="34" charset="-122"/>
                <a:ea typeface="微软雅黑" pitchFamily="34" charset="-122"/>
              </a:rPr>
              <a:t>Katz</a:t>
            </a:r>
            <a:r>
              <a:rPr lang="zh-CN" altLang="en-US" sz="2000" b="0" dirty="0">
                <a:solidFill>
                  <a:schemeClr val="tx1"/>
                </a:solidFill>
                <a:latin typeface="微软雅黑" pitchFamily="34" charset="-122"/>
                <a:ea typeface="微软雅黑" pitchFamily="34" charset="-122"/>
              </a:rPr>
              <a:t>开发了</a:t>
            </a:r>
            <a:r>
              <a:rPr lang="zh-CN" altLang="en-US" sz="2000" b="0" dirty="0">
                <a:solidFill>
                  <a:srgbClr val="FF0000"/>
                </a:solidFill>
                <a:latin typeface="微软雅黑" pitchFamily="34" charset="-122"/>
                <a:ea typeface="微软雅黑" pitchFamily="34" charset="-122"/>
              </a:rPr>
              <a:t>树状链表搜索法</a:t>
            </a:r>
            <a:r>
              <a:rPr lang="zh-CN" altLang="en-US" sz="2000" b="0" dirty="0">
                <a:solidFill>
                  <a:schemeClr val="tx1"/>
                </a:solidFill>
                <a:latin typeface="微软雅黑" pitchFamily="34" charset="-122"/>
                <a:ea typeface="微软雅黑" pitchFamily="34" charset="-122"/>
              </a:rPr>
              <a:t>用于可变光滑半径问题的求解。</a:t>
            </a:r>
            <a:r>
              <a:rPr lang="en-US" altLang="zh-CN" sz="2000" b="0" dirty="0">
                <a:solidFill>
                  <a:schemeClr val="tx1"/>
                </a:solidFill>
                <a:latin typeface="微软雅黑" pitchFamily="34" charset="-122"/>
                <a:ea typeface="微软雅黑" pitchFamily="34" charset="-122"/>
              </a:rPr>
              <a:t>Liu</a:t>
            </a:r>
            <a:r>
              <a:rPr lang="zh-CN" altLang="en-US" sz="2000" b="0" dirty="0">
                <a:solidFill>
                  <a:schemeClr val="tx1"/>
                </a:solidFill>
                <a:latin typeface="微软雅黑" pitchFamily="34" charset="-122"/>
                <a:ea typeface="微软雅黑" pitchFamily="34" charset="-122"/>
              </a:rPr>
              <a:t>和</a:t>
            </a:r>
            <a:r>
              <a:rPr lang="en-US" altLang="zh-CN" sz="2000" b="0" dirty="0">
                <a:solidFill>
                  <a:schemeClr val="tx1"/>
                </a:solidFill>
                <a:latin typeface="微软雅黑" pitchFamily="34" charset="-122"/>
                <a:ea typeface="微软雅黑" pitchFamily="34" charset="-122"/>
              </a:rPr>
              <a:t>Tu</a:t>
            </a:r>
            <a:r>
              <a:rPr lang="zh-CN" altLang="en-US" sz="2000" b="0" dirty="0">
                <a:solidFill>
                  <a:schemeClr val="tx1"/>
                </a:solidFill>
                <a:latin typeface="微软雅黑" pitchFamily="34" charset="-122"/>
                <a:ea typeface="微软雅黑" pitchFamily="34" charset="-122"/>
              </a:rPr>
              <a:t>还开发了</a:t>
            </a:r>
            <a:r>
              <a:rPr lang="en-US" altLang="zh-CN" sz="2000" b="0" dirty="0">
                <a:solidFill>
                  <a:srgbClr val="FF0000"/>
                </a:solidFill>
                <a:latin typeface="微软雅黑" pitchFamily="34" charset="-122"/>
                <a:ea typeface="微软雅黑" pitchFamily="34" charset="-122"/>
              </a:rPr>
              <a:t>Bucket</a:t>
            </a:r>
            <a:r>
              <a:rPr lang="zh-CN" altLang="en-US" sz="2000" b="0" dirty="0">
                <a:solidFill>
                  <a:srgbClr val="FF0000"/>
                </a:solidFill>
                <a:latin typeface="微软雅黑" pitchFamily="34" charset="-122"/>
                <a:ea typeface="微软雅黑" pitchFamily="34" charset="-122"/>
              </a:rPr>
              <a:t>算法</a:t>
            </a:r>
            <a:r>
              <a:rPr lang="zh-CN" altLang="en-US" sz="2000" b="0" dirty="0">
                <a:solidFill>
                  <a:schemeClr val="tx1"/>
                </a:solidFill>
                <a:latin typeface="微软雅黑" pitchFamily="34" charset="-122"/>
                <a:ea typeface="微软雅黑" pitchFamily="34" charset="-122"/>
              </a:rPr>
              <a:t>应用于</a:t>
            </a:r>
            <a:r>
              <a:rPr lang="en-US" altLang="zh-CN" sz="2000" b="0" dirty="0">
                <a:solidFill>
                  <a:schemeClr val="tx1"/>
                </a:solidFill>
                <a:latin typeface="微软雅黑" pitchFamily="34" charset="-122"/>
                <a:ea typeface="微软雅黑" pitchFamily="34" charset="-122"/>
              </a:rPr>
              <a:t>MFree2D</a:t>
            </a:r>
            <a:r>
              <a:rPr lang="zh-CN" altLang="en-US" sz="2000" b="0" dirty="0">
                <a:solidFill>
                  <a:schemeClr val="tx1"/>
                </a:solidFill>
                <a:latin typeface="微软雅黑" pitchFamily="34" charset="-122"/>
                <a:ea typeface="微软雅黑" pitchFamily="34" charset="-122"/>
              </a:rPr>
              <a:t>程序中。</a:t>
            </a:r>
            <a:endParaRPr lang="en-US" altLang="zh-CN" sz="2000" b="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3257560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一、立题依据</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1.2.</a:t>
            </a:r>
            <a:r>
              <a:rPr lang="zh-CN" altLang="en-US" b="0" dirty="0">
                <a:latin typeface="微软雅黑" pitchFamily="34" charset="-122"/>
                <a:ea typeface="微软雅黑" pitchFamily="34" charset="-122"/>
              </a:rPr>
              <a:t>国内外研究现状</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39"/>
            <a:ext cx="7889498" cy="4256385"/>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粒子在</a:t>
            </a:r>
            <a:r>
              <a:rPr lang="zh-CN" altLang="en-US" sz="2000" dirty="0">
                <a:solidFill>
                  <a:schemeClr val="tx1"/>
                </a:solidFill>
                <a:latin typeface="微软雅黑" pitchFamily="34" charset="-122"/>
                <a:ea typeface="微软雅黑" pitchFamily="34" charset="-122"/>
              </a:rPr>
              <a:t>边界</a:t>
            </a:r>
            <a:r>
              <a:rPr lang="zh-CN" altLang="en-US" sz="2000" b="0" dirty="0">
                <a:solidFill>
                  <a:schemeClr val="tx1"/>
                </a:solidFill>
                <a:latin typeface="微软雅黑" pitchFamily="34" charset="-122"/>
                <a:ea typeface="微软雅黑" pitchFamily="34" charset="-122"/>
              </a:rPr>
              <a:t>附近会发生截断效应，目前主要有排斥力、边界锡共识、动态边界等三种方法用于提升边界附近的计算精度。</a:t>
            </a:r>
            <a:r>
              <a:rPr lang="en-US" altLang="zh-CN" sz="2000" b="0" dirty="0">
                <a:solidFill>
                  <a:schemeClr val="tx1"/>
                </a:solidFill>
                <a:latin typeface="微软雅黑" pitchFamily="34" charset="-122"/>
                <a:ea typeface="微软雅黑" pitchFamily="34" charset="-122"/>
              </a:rPr>
              <a:t>Monaghan</a:t>
            </a:r>
            <a:r>
              <a:rPr lang="zh-CN" altLang="en-US" sz="2000" b="0" dirty="0">
                <a:solidFill>
                  <a:schemeClr val="tx1"/>
                </a:solidFill>
                <a:latin typeface="微软雅黑" pitchFamily="34" charset="-122"/>
                <a:ea typeface="微软雅黑" pitchFamily="34" charset="-122"/>
              </a:rPr>
              <a:t>在边界外设置一层虚粒子，通过边界虚粒子给邻近边界的粒子施加一个</a:t>
            </a:r>
            <a:r>
              <a:rPr lang="zh-CN" altLang="en-US" sz="2000" b="0" dirty="0">
                <a:solidFill>
                  <a:srgbClr val="FF0000"/>
                </a:solidFill>
                <a:latin typeface="微软雅黑" pitchFamily="34" charset="-122"/>
                <a:ea typeface="微软雅黑" pitchFamily="34" charset="-122"/>
              </a:rPr>
              <a:t>排斥力</a:t>
            </a:r>
            <a:r>
              <a:rPr lang="zh-CN" altLang="en-US" sz="2000" b="0" dirty="0">
                <a:solidFill>
                  <a:schemeClr val="tx1"/>
                </a:solidFill>
                <a:latin typeface="微软雅黑" pitchFamily="34" charset="-122"/>
                <a:ea typeface="微软雅黑" pitchFamily="34" charset="-122"/>
              </a:rPr>
              <a:t>弥补边界附近的缺陷。</a:t>
            </a:r>
            <a:r>
              <a:rPr lang="en-US" altLang="zh-CN" sz="2000" b="0" dirty="0" err="1">
                <a:solidFill>
                  <a:schemeClr val="tx1"/>
                </a:solidFill>
                <a:latin typeface="微软雅黑" pitchFamily="34" charset="-122"/>
                <a:ea typeface="微软雅黑" pitchFamily="34" charset="-122"/>
              </a:rPr>
              <a:t>Kulasegaram</a:t>
            </a:r>
            <a:r>
              <a:rPr lang="zh-CN" altLang="en-US" sz="2000" b="0" dirty="0">
                <a:solidFill>
                  <a:schemeClr val="tx1"/>
                </a:solidFill>
                <a:latin typeface="微软雅黑" pitchFamily="34" charset="-122"/>
                <a:ea typeface="微软雅黑" pitchFamily="34" charset="-122"/>
              </a:rPr>
              <a:t>等在边界处引入附加函数来提高模拟精度，通过</a:t>
            </a:r>
            <a:r>
              <a:rPr lang="zh-CN" altLang="en-US" sz="2000" b="0" dirty="0">
                <a:solidFill>
                  <a:srgbClr val="FF0000"/>
                </a:solidFill>
                <a:latin typeface="微软雅黑" pitchFamily="34" charset="-122"/>
                <a:ea typeface="微软雅黑" pitchFamily="34" charset="-122"/>
              </a:rPr>
              <a:t>半解析边界</a:t>
            </a:r>
            <a:r>
              <a:rPr lang="zh-CN" altLang="en-US" sz="2000" b="0" dirty="0">
                <a:solidFill>
                  <a:schemeClr val="tx1"/>
                </a:solidFill>
                <a:latin typeface="微软雅黑" pitchFamily="34" charset="-122"/>
                <a:ea typeface="微软雅黑" pitchFamily="34" charset="-122"/>
              </a:rPr>
              <a:t>处理公式优化边界问题。</a:t>
            </a:r>
            <a:r>
              <a:rPr lang="en-US" altLang="zh-CN" sz="2000" b="0" dirty="0">
                <a:solidFill>
                  <a:schemeClr val="tx1"/>
                </a:solidFill>
                <a:latin typeface="微软雅黑" pitchFamily="34" charset="-122"/>
                <a:ea typeface="微软雅黑" pitchFamily="34" charset="-122"/>
              </a:rPr>
              <a:t>Mayrhofer</a:t>
            </a:r>
            <a:r>
              <a:rPr lang="zh-CN" altLang="en-US" sz="2000" b="0" dirty="0">
                <a:solidFill>
                  <a:schemeClr val="tx1"/>
                </a:solidFill>
                <a:latin typeface="微软雅黑" pitchFamily="34" charset="-122"/>
                <a:ea typeface="微软雅黑" pitchFamily="34" charset="-122"/>
              </a:rPr>
              <a:t>等、</a:t>
            </a:r>
            <a:r>
              <a:rPr lang="en-US" altLang="zh-CN" sz="2000" b="0" dirty="0">
                <a:solidFill>
                  <a:schemeClr val="tx1"/>
                </a:solidFill>
                <a:latin typeface="微软雅黑" pitchFamily="34" charset="-122"/>
                <a:ea typeface="微软雅黑" pitchFamily="34" charset="-122"/>
              </a:rPr>
              <a:t>Nair</a:t>
            </a:r>
            <a:r>
              <a:rPr lang="zh-CN" altLang="en-US" sz="2000" b="0" dirty="0">
                <a:solidFill>
                  <a:schemeClr val="tx1"/>
                </a:solidFill>
                <a:latin typeface="微软雅黑" pitchFamily="34" charset="-122"/>
                <a:ea typeface="微软雅黑" pitchFamily="34" charset="-122"/>
              </a:rPr>
              <a:t>等、</a:t>
            </a:r>
            <a:r>
              <a:rPr lang="en-US" altLang="zh-CN" sz="2000" b="0" dirty="0">
                <a:solidFill>
                  <a:schemeClr val="tx1"/>
                </a:solidFill>
                <a:latin typeface="微软雅黑" pitchFamily="34" charset="-122"/>
                <a:ea typeface="微软雅黑" pitchFamily="34" charset="-122"/>
              </a:rPr>
              <a:t>Leroy</a:t>
            </a:r>
            <a:r>
              <a:rPr lang="zh-CN" altLang="en-US" sz="2000" b="0" dirty="0">
                <a:solidFill>
                  <a:schemeClr val="tx1"/>
                </a:solidFill>
                <a:latin typeface="微软雅黑" pitchFamily="34" charset="-122"/>
                <a:ea typeface="微软雅黑" pitchFamily="34" charset="-122"/>
              </a:rPr>
              <a:t>等也使用了半解析的方式处理边界问题。</a:t>
            </a:r>
            <a:r>
              <a:rPr lang="en-US" altLang="zh-CN" sz="2000" b="0" dirty="0">
                <a:solidFill>
                  <a:schemeClr val="tx1"/>
                </a:solidFill>
                <a:latin typeface="微软雅黑" pitchFamily="34" charset="-122"/>
                <a:ea typeface="微软雅黑" pitchFamily="34" charset="-122"/>
              </a:rPr>
              <a:t> Dalrymple</a:t>
            </a:r>
            <a:r>
              <a:rPr lang="zh-CN" altLang="en-US" sz="2000" b="0" dirty="0">
                <a:solidFill>
                  <a:schemeClr val="tx1"/>
                </a:solidFill>
                <a:latin typeface="微软雅黑" pitchFamily="34" charset="-122"/>
                <a:ea typeface="微软雅黑" pitchFamily="34" charset="-122"/>
              </a:rPr>
              <a:t>和</a:t>
            </a:r>
            <a:r>
              <a:rPr lang="en-US" altLang="zh-CN" sz="2000" b="0" dirty="0" err="1">
                <a:solidFill>
                  <a:schemeClr val="tx1"/>
                </a:solidFill>
                <a:latin typeface="微软雅黑" pitchFamily="34" charset="-122"/>
                <a:ea typeface="微软雅黑" pitchFamily="34" charset="-122"/>
              </a:rPr>
              <a:t>Knio</a:t>
            </a:r>
            <a:r>
              <a:rPr lang="zh-CN" altLang="en-US" sz="2000" b="0" dirty="0">
                <a:solidFill>
                  <a:schemeClr val="tx1"/>
                </a:solidFill>
                <a:latin typeface="微软雅黑" pitchFamily="34" charset="-122"/>
                <a:ea typeface="微软雅黑" pitchFamily="34" charset="-122"/>
              </a:rPr>
              <a:t>最早提出了</a:t>
            </a:r>
            <a:r>
              <a:rPr lang="zh-CN" altLang="en-US" sz="2000" b="0" dirty="0">
                <a:solidFill>
                  <a:srgbClr val="FF0000"/>
                </a:solidFill>
                <a:latin typeface="微软雅黑" pitchFamily="34" charset="-122"/>
                <a:ea typeface="微软雅黑" pitchFamily="34" charset="-122"/>
              </a:rPr>
              <a:t>动态边界条件</a:t>
            </a:r>
            <a:r>
              <a:rPr lang="zh-CN" altLang="en-US" sz="2000" b="0" dirty="0">
                <a:solidFill>
                  <a:schemeClr val="tx1"/>
                </a:solidFill>
                <a:latin typeface="微软雅黑" pitchFamily="34" charset="-122"/>
                <a:ea typeface="微软雅黑" pitchFamily="34" charset="-122"/>
              </a:rPr>
              <a:t>的思想，即在边界布置具有流体性质的动态粒子并参与流体压力密度等的更新。优点是不需要额外的算法处理边界问题，而且边界粒子容易排布，可以应对复杂的边界问题。</a:t>
            </a:r>
          </a:p>
        </p:txBody>
      </p:sp>
      <p:sp>
        <p:nvSpPr>
          <p:cNvPr id="2" name="灯片编号占位符 1">
            <a:extLst>
              <a:ext uri="{FF2B5EF4-FFF2-40B4-BE49-F238E27FC236}">
                <a16:creationId xmlns:a16="http://schemas.microsoft.com/office/drawing/2014/main" id="{596EA298-86FF-F22B-82AE-9E1A139C0082}"/>
              </a:ext>
            </a:extLst>
          </p:cNvPr>
          <p:cNvSpPr>
            <a:spLocks noGrp="1"/>
          </p:cNvSpPr>
          <p:nvPr>
            <p:ph type="sldNum" sz="quarter" idx="12"/>
          </p:nvPr>
        </p:nvSpPr>
        <p:spPr/>
        <p:txBody>
          <a:bodyPr/>
          <a:lstStyle/>
          <a:p>
            <a:pPr>
              <a:defRPr/>
            </a:pPr>
            <a:fld id="{8E7F6652-62A1-454F-81FD-501A0D85DAEF}" type="slidenum">
              <a:rPr lang="en-US" altLang="zh-CN" smtClean="0"/>
              <a:pPr>
                <a:defRPr/>
              </a:pPr>
              <a:t>10</a:t>
            </a:fld>
            <a:endParaRPr lang="en-US" altLang="zh-CN"/>
          </a:p>
        </p:txBody>
      </p:sp>
    </p:spTree>
    <p:extLst>
      <p:ext uri="{BB962C8B-B14F-4D97-AF65-F5344CB8AC3E}">
        <p14:creationId xmlns:p14="http://schemas.microsoft.com/office/powerpoint/2010/main" val="5609067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一、立题依据</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1.3. </a:t>
            </a:r>
            <a:r>
              <a:rPr lang="zh-CN" altLang="en-US" b="0" dirty="0">
                <a:latin typeface="微软雅黑" pitchFamily="34" charset="-122"/>
                <a:ea typeface="微软雅黑" pitchFamily="34" charset="-122"/>
              </a:rPr>
              <a:t>发展趋势及存在问题</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27251" y="1988839"/>
            <a:ext cx="7889498" cy="4256385"/>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经过多年的发展，</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在涉及</a:t>
            </a:r>
            <a:r>
              <a:rPr lang="zh-CN" altLang="en-US" sz="2000" b="0" dirty="0">
                <a:solidFill>
                  <a:srgbClr val="FF0000"/>
                </a:solidFill>
                <a:latin typeface="微软雅黑" pitchFamily="34" charset="-122"/>
                <a:ea typeface="微软雅黑" pitchFamily="34" charset="-122"/>
              </a:rPr>
              <a:t>岩体开裂</a:t>
            </a:r>
            <a:r>
              <a:rPr lang="zh-CN" altLang="en-US" sz="2000" b="0" dirty="0">
                <a:solidFill>
                  <a:schemeClr val="tx1"/>
                </a:solidFill>
                <a:latin typeface="微软雅黑" pitchFamily="34" charset="-122"/>
                <a:ea typeface="微软雅黑" pitchFamily="34" charset="-122"/>
              </a:rPr>
              <a:t>及</a:t>
            </a:r>
            <a:r>
              <a:rPr lang="zh-CN" altLang="en-US" sz="2000" b="0" dirty="0">
                <a:solidFill>
                  <a:srgbClr val="FF0000"/>
                </a:solidFill>
                <a:latin typeface="微软雅黑" pitchFamily="34" charset="-122"/>
                <a:ea typeface="微软雅黑" pitchFamily="34" charset="-122"/>
              </a:rPr>
              <a:t>裂纹拓展</a:t>
            </a:r>
            <a:r>
              <a:rPr lang="zh-CN" altLang="en-US" sz="2000" b="0" dirty="0">
                <a:solidFill>
                  <a:schemeClr val="tx1"/>
                </a:solidFill>
                <a:latin typeface="微软雅黑" pitchFamily="34" charset="-122"/>
                <a:ea typeface="微软雅黑" pitchFamily="34" charset="-122"/>
              </a:rPr>
              <a:t>的研究中，</a:t>
            </a: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在模拟</a:t>
            </a:r>
            <a:r>
              <a:rPr lang="zh-CN" altLang="en-US" sz="2000" b="0" dirty="0">
                <a:solidFill>
                  <a:srgbClr val="FF0000"/>
                </a:solidFill>
                <a:latin typeface="微软雅黑" pitchFamily="34" charset="-122"/>
                <a:ea typeface="微软雅黑" pitchFamily="34" charset="-122"/>
              </a:rPr>
              <a:t>波浪</a:t>
            </a:r>
            <a:r>
              <a:rPr lang="zh-CN" altLang="en-US" sz="2000" b="0" dirty="0">
                <a:solidFill>
                  <a:schemeClr val="tx1"/>
                </a:solidFill>
                <a:latin typeface="微软雅黑" pitchFamily="34" charset="-122"/>
                <a:ea typeface="微软雅黑" pitchFamily="34" charset="-122"/>
              </a:rPr>
              <a:t>和</a:t>
            </a:r>
            <a:r>
              <a:rPr lang="zh-CN" altLang="en-US" sz="2000" b="0" dirty="0">
                <a:solidFill>
                  <a:srgbClr val="FF0000"/>
                </a:solidFill>
                <a:latin typeface="微软雅黑" pitchFamily="34" charset="-122"/>
                <a:ea typeface="微软雅黑" pitchFamily="34" charset="-122"/>
              </a:rPr>
              <a:t>涌浪</a:t>
            </a:r>
            <a:r>
              <a:rPr lang="zh-CN" altLang="en-US" sz="2000" b="0" dirty="0">
                <a:solidFill>
                  <a:schemeClr val="tx1"/>
                </a:solidFill>
                <a:latin typeface="微软雅黑" pitchFamily="34" charset="-122"/>
                <a:ea typeface="微软雅黑" pitchFamily="34" charset="-122"/>
              </a:rPr>
              <a:t>问题中，已经形成了较为成熟的理论体系，得到广泛的应用。</a:t>
            </a:r>
            <a:endParaRPr lang="en-US" altLang="zh-CN" sz="20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zh-CN" altLang="en-US" sz="1600" b="0" dirty="0">
                <a:solidFill>
                  <a:schemeClr val="tx1"/>
                </a:solidFill>
                <a:latin typeface="微软雅黑" pitchFamily="34" charset="-122"/>
                <a:ea typeface="微软雅黑" pitchFamily="34" charset="-122"/>
              </a:rPr>
              <a:t>（</a:t>
            </a:r>
            <a:r>
              <a:rPr lang="en-US" altLang="zh-CN" sz="1600" b="0" dirty="0">
                <a:solidFill>
                  <a:schemeClr val="tx1"/>
                </a:solidFill>
                <a:latin typeface="微软雅黑" pitchFamily="34" charset="-122"/>
                <a:ea typeface="微软雅黑" pitchFamily="34" charset="-122"/>
              </a:rPr>
              <a:t>1</a:t>
            </a:r>
            <a:r>
              <a:rPr lang="zh-CN" altLang="en-US" sz="1600" b="0" dirty="0">
                <a:solidFill>
                  <a:schemeClr val="tx1"/>
                </a:solidFill>
                <a:latin typeface="微软雅黑" pitchFamily="34" charset="-122"/>
                <a:ea typeface="微软雅黑" pitchFamily="34" charset="-122"/>
              </a:rPr>
              <a:t>）传统</a:t>
            </a:r>
            <a:r>
              <a:rPr lang="en-US" altLang="zh-CN" sz="1600" b="0" dirty="0">
                <a:solidFill>
                  <a:schemeClr val="tx1"/>
                </a:solidFill>
                <a:latin typeface="微软雅黑" pitchFamily="34" charset="-122"/>
                <a:ea typeface="微软雅黑" pitchFamily="34" charset="-122"/>
              </a:rPr>
              <a:t>FDEM</a:t>
            </a:r>
            <a:r>
              <a:rPr lang="zh-CN" altLang="en-US" sz="1600" b="0" dirty="0">
                <a:solidFill>
                  <a:schemeClr val="tx1"/>
                </a:solidFill>
                <a:latin typeface="微软雅黑" pitchFamily="34" charset="-122"/>
                <a:ea typeface="微软雅黑" pitchFamily="34" charset="-122"/>
              </a:rPr>
              <a:t>中</a:t>
            </a:r>
            <a:r>
              <a:rPr lang="zh-CN" altLang="en-US" sz="1600" b="0" dirty="0">
                <a:solidFill>
                  <a:srgbClr val="FF0000"/>
                </a:solidFill>
                <a:latin typeface="微软雅黑" pitchFamily="34" charset="-122"/>
                <a:ea typeface="微软雅黑" pitchFamily="34" charset="-122"/>
              </a:rPr>
              <a:t>接触检测</a:t>
            </a:r>
            <a:r>
              <a:rPr lang="zh-CN" altLang="en-US" sz="1600" b="0" dirty="0">
                <a:solidFill>
                  <a:schemeClr val="tx1"/>
                </a:solidFill>
                <a:latin typeface="微软雅黑" pitchFamily="34" charset="-122"/>
                <a:ea typeface="微软雅黑" pitchFamily="34" charset="-122"/>
              </a:rPr>
              <a:t>和</a:t>
            </a:r>
            <a:r>
              <a:rPr lang="zh-CN" altLang="en-US" sz="1600" b="0" dirty="0">
                <a:solidFill>
                  <a:srgbClr val="FF0000"/>
                </a:solidFill>
                <a:latin typeface="微软雅黑" pitchFamily="34" charset="-122"/>
                <a:ea typeface="微软雅黑" pitchFamily="34" charset="-122"/>
              </a:rPr>
              <a:t>接触计算</a:t>
            </a:r>
            <a:r>
              <a:rPr lang="zh-CN" altLang="en-US" sz="1600" b="0" dirty="0">
                <a:solidFill>
                  <a:schemeClr val="tx1"/>
                </a:solidFill>
                <a:latin typeface="微软雅黑" pitchFamily="34" charset="-122"/>
                <a:ea typeface="微软雅黑" pitchFamily="34" charset="-122"/>
              </a:rPr>
              <a:t>十分复杂且耗时，开发一种</a:t>
            </a:r>
            <a:r>
              <a:rPr lang="zh-CN" altLang="en-US" sz="1600" b="0" dirty="0">
                <a:solidFill>
                  <a:srgbClr val="FF0000"/>
                </a:solidFill>
                <a:latin typeface="微软雅黑" pitchFamily="34" charset="-122"/>
                <a:ea typeface="微软雅黑" pitchFamily="34" charset="-122"/>
              </a:rPr>
              <a:t>不启动接触计算</a:t>
            </a:r>
            <a:r>
              <a:rPr lang="zh-CN" altLang="en-US" sz="1600" b="0" dirty="0">
                <a:solidFill>
                  <a:schemeClr val="tx1"/>
                </a:solidFill>
                <a:latin typeface="微软雅黑" pitchFamily="34" charset="-122"/>
                <a:ea typeface="微软雅黑" pitchFamily="34" charset="-122"/>
              </a:rPr>
              <a:t>也可以模拟小规模破裂的算法十分必要。</a:t>
            </a:r>
          </a:p>
          <a:p>
            <a:pPr indent="457200" algn="just" eaLnBrk="1" hangingPunct="1">
              <a:lnSpc>
                <a:spcPct val="130000"/>
              </a:lnSpc>
              <a:spcBef>
                <a:spcPts val="0"/>
              </a:spcBef>
              <a:buClr>
                <a:srgbClr val="FF0000"/>
              </a:buClr>
              <a:buSzPct val="80000"/>
            </a:pPr>
            <a:r>
              <a:rPr lang="zh-CN" altLang="en-US" sz="1600" b="0" dirty="0">
                <a:solidFill>
                  <a:schemeClr val="tx1"/>
                </a:solidFill>
                <a:latin typeface="微软雅黑" pitchFamily="34" charset="-122"/>
                <a:ea typeface="微软雅黑" pitchFamily="34" charset="-122"/>
              </a:rPr>
              <a:t>（</a:t>
            </a:r>
            <a:r>
              <a:rPr lang="en-US" altLang="zh-CN" sz="1600" b="0" dirty="0">
                <a:solidFill>
                  <a:schemeClr val="tx1"/>
                </a:solidFill>
                <a:latin typeface="微软雅黑" pitchFamily="34" charset="-122"/>
                <a:ea typeface="微软雅黑" pitchFamily="34" charset="-122"/>
              </a:rPr>
              <a:t>2</a:t>
            </a:r>
            <a:r>
              <a:rPr lang="zh-CN" altLang="en-US" sz="1600" b="0" dirty="0">
                <a:solidFill>
                  <a:schemeClr val="tx1"/>
                </a:solidFill>
                <a:latin typeface="微软雅黑" pitchFamily="34" charset="-122"/>
                <a:ea typeface="微软雅黑" pitchFamily="34" charset="-122"/>
              </a:rPr>
              <a:t>）</a:t>
            </a:r>
            <a:r>
              <a:rPr lang="en-US" altLang="zh-CN" sz="1600" b="0" dirty="0">
                <a:solidFill>
                  <a:schemeClr val="tx1"/>
                </a:solidFill>
                <a:latin typeface="微软雅黑" pitchFamily="34" charset="-122"/>
                <a:ea typeface="微软雅黑" pitchFamily="34" charset="-122"/>
              </a:rPr>
              <a:t>FDEM</a:t>
            </a:r>
            <a:r>
              <a:rPr lang="zh-CN" altLang="en-US" sz="1600" b="0" dirty="0">
                <a:solidFill>
                  <a:schemeClr val="tx1"/>
                </a:solidFill>
                <a:latin typeface="微软雅黑" pitchFamily="34" charset="-122"/>
                <a:ea typeface="微软雅黑" pitchFamily="34" charset="-122"/>
              </a:rPr>
              <a:t>中现有的本构模型对</a:t>
            </a:r>
            <a:r>
              <a:rPr lang="zh-CN" altLang="en-US" sz="1600" b="0" dirty="0">
                <a:solidFill>
                  <a:srgbClr val="FF0000"/>
                </a:solidFill>
                <a:latin typeface="微软雅黑" pitchFamily="34" charset="-122"/>
                <a:ea typeface="微软雅黑" pitchFamily="34" charset="-122"/>
              </a:rPr>
              <a:t>准弹性</a:t>
            </a:r>
            <a:r>
              <a:rPr lang="zh-CN" altLang="en-US" sz="1600" b="0" dirty="0">
                <a:solidFill>
                  <a:schemeClr val="tx1"/>
                </a:solidFill>
                <a:latin typeface="微软雅黑" pitchFamily="34" charset="-122"/>
                <a:ea typeface="微软雅黑" pitchFamily="34" charset="-122"/>
              </a:rPr>
              <a:t>岩石的模拟效果较好，但难以准确反应岩石的</a:t>
            </a:r>
            <a:r>
              <a:rPr lang="zh-CN" altLang="en-US" sz="1600" b="0" dirty="0">
                <a:solidFill>
                  <a:srgbClr val="FF0000"/>
                </a:solidFill>
                <a:latin typeface="微软雅黑" pitchFamily="34" charset="-122"/>
                <a:ea typeface="微软雅黑" pitchFamily="34" charset="-122"/>
              </a:rPr>
              <a:t>非线性力学性质</a:t>
            </a:r>
            <a:r>
              <a:rPr lang="zh-CN" altLang="en-US" sz="1600" b="0" dirty="0">
                <a:solidFill>
                  <a:schemeClr val="tx1"/>
                </a:solidFill>
                <a:latin typeface="微软雅黑" pitchFamily="34" charset="-122"/>
                <a:ea typeface="微软雅黑" pitchFamily="34" charset="-122"/>
              </a:rPr>
              <a:t>，必须开发多样化的</a:t>
            </a:r>
            <a:r>
              <a:rPr lang="zh-CN" altLang="en-US" sz="1600" b="0" dirty="0">
                <a:solidFill>
                  <a:srgbClr val="FF0000"/>
                </a:solidFill>
                <a:latin typeface="微软雅黑" pitchFamily="34" charset="-122"/>
                <a:ea typeface="微软雅黑" pitchFamily="34" charset="-122"/>
              </a:rPr>
              <a:t>本构模型</a:t>
            </a:r>
            <a:r>
              <a:rPr lang="zh-CN" altLang="en-US" sz="1600" b="0" dirty="0">
                <a:solidFill>
                  <a:schemeClr val="tx1"/>
                </a:solidFill>
                <a:latin typeface="微软雅黑" pitchFamily="34" charset="-122"/>
                <a:ea typeface="微软雅黑" pitchFamily="34" charset="-122"/>
              </a:rPr>
              <a:t>。</a:t>
            </a:r>
          </a:p>
          <a:p>
            <a:pPr indent="457200" algn="just" eaLnBrk="1" hangingPunct="1">
              <a:lnSpc>
                <a:spcPct val="130000"/>
              </a:lnSpc>
              <a:spcBef>
                <a:spcPts val="0"/>
              </a:spcBef>
              <a:buClr>
                <a:srgbClr val="FF0000"/>
              </a:buClr>
              <a:buSzPct val="80000"/>
            </a:pPr>
            <a:r>
              <a:rPr lang="zh-CN" altLang="en-US" sz="1600" b="0" dirty="0">
                <a:solidFill>
                  <a:schemeClr val="tx1"/>
                </a:solidFill>
                <a:latin typeface="微软雅黑" pitchFamily="34" charset="-122"/>
                <a:ea typeface="微软雅黑" pitchFamily="34" charset="-122"/>
              </a:rPr>
              <a:t>（</a:t>
            </a:r>
            <a:r>
              <a:rPr lang="en-US" altLang="zh-CN" sz="1600" b="0" dirty="0">
                <a:solidFill>
                  <a:schemeClr val="tx1"/>
                </a:solidFill>
                <a:latin typeface="微软雅黑" pitchFamily="34" charset="-122"/>
                <a:ea typeface="微软雅黑" pitchFamily="34" charset="-122"/>
              </a:rPr>
              <a:t>3</a:t>
            </a:r>
            <a:r>
              <a:rPr lang="zh-CN" altLang="en-US" sz="1600" b="0" dirty="0">
                <a:solidFill>
                  <a:schemeClr val="tx1"/>
                </a:solidFill>
                <a:latin typeface="微软雅黑" pitchFamily="34" charset="-122"/>
                <a:ea typeface="微软雅黑" pitchFamily="34" charset="-122"/>
              </a:rPr>
              <a:t>）</a:t>
            </a:r>
            <a:r>
              <a:rPr lang="en-US" altLang="zh-CN" sz="1600" b="0" dirty="0">
                <a:solidFill>
                  <a:schemeClr val="tx1"/>
                </a:solidFill>
                <a:latin typeface="微软雅黑" pitchFamily="34" charset="-122"/>
                <a:ea typeface="微软雅黑" pitchFamily="34" charset="-122"/>
              </a:rPr>
              <a:t>FDEM</a:t>
            </a:r>
            <a:r>
              <a:rPr lang="zh-CN" altLang="en-US" sz="1600" b="0" dirty="0">
                <a:solidFill>
                  <a:schemeClr val="tx1"/>
                </a:solidFill>
                <a:latin typeface="微软雅黑" pitchFamily="34" charset="-122"/>
                <a:ea typeface="微软雅黑" pitchFamily="34" charset="-122"/>
              </a:rPr>
              <a:t>中现有的基于</a:t>
            </a:r>
            <a:r>
              <a:rPr lang="zh-CN" altLang="en-US" sz="1600" b="0" dirty="0">
                <a:solidFill>
                  <a:srgbClr val="FF0000"/>
                </a:solidFill>
                <a:latin typeface="微软雅黑" pitchFamily="34" charset="-122"/>
                <a:ea typeface="微软雅黑" pitchFamily="34" charset="-122"/>
              </a:rPr>
              <a:t>立方定律</a:t>
            </a:r>
            <a:r>
              <a:rPr lang="zh-CN" altLang="en-US" sz="1600" b="0" dirty="0">
                <a:solidFill>
                  <a:schemeClr val="tx1"/>
                </a:solidFill>
                <a:latin typeface="微软雅黑" pitchFamily="34" charset="-122"/>
                <a:ea typeface="微软雅黑" pitchFamily="34" charset="-122"/>
              </a:rPr>
              <a:t>的水力耦合算法要求水力裂缝不能太宽，开发一种能考虑</a:t>
            </a:r>
            <a:r>
              <a:rPr lang="zh-CN" altLang="en-US" sz="1600" b="0" dirty="0">
                <a:solidFill>
                  <a:srgbClr val="FF0000"/>
                </a:solidFill>
                <a:latin typeface="微软雅黑" pitchFamily="34" charset="-122"/>
                <a:ea typeface="微软雅黑" pitchFamily="34" charset="-122"/>
              </a:rPr>
              <a:t>流体流动</a:t>
            </a:r>
            <a:r>
              <a:rPr lang="zh-CN" altLang="en-US" sz="1600" b="0" dirty="0">
                <a:solidFill>
                  <a:schemeClr val="tx1"/>
                </a:solidFill>
                <a:latin typeface="微软雅黑" pitchFamily="34" charset="-122"/>
                <a:ea typeface="微软雅黑" pitchFamily="34" charset="-122"/>
              </a:rPr>
              <a:t>的水力耦合模型势在必得。</a:t>
            </a:r>
          </a:p>
          <a:p>
            <a:pPr indent="457200" algn="just" eaLnBrk="1" hangingPunct="1">
              <a:lnSpc>
                <a:spcPct val="130000"/>
              </a:lnSpc>
              <a:spcBef>
                <a:spcPts val="0"/>
              </a:spcBef>
              <a:buClr>
                <a:srgbClr val="FF0000"/>
              </a:buClr>
              <a:buSzPct val="80000"/>
            </a:pPr>
            <a:r>
              <a:rPr lang="zh-CN" altLang="en-US" sz="1600" b="0" dirty="0">
                <a:solidFill>
                  <a:schemeClr val="tx1"/>
                </a:solidFill>
                <a:latin typeface="微软雅黑" pitchFamily="34" charset="-122"/>
                <a:ea typeface="微软雅黑" pitchFamily="34" charset="-122"/>
              </a:rPr>
              <a:t>（</a:t>
            </a:r>
            <a:r>
              <a:rPr lang="en-US" altLang="zh-CN" sz="1600" b="0" dirty="0">
                <a:solidFill>
                  <a:schemeClr val="tx1"/>
                </a:solidFill>
                <a:latin typeface="微软雅黑" pitchFamily="34" charset="-122"/>
                <a:ea typeface="微软雅黑" pitchFamily="34" charset="-122"/>
              </a:rPr>
              <a:t>4</a:t>
            </a:r>
            <a:r>
              <a:rPr lang="zh-CN" altLang="en-US" sz="1600" b="0" dirty="0">
                <a:solidFill>
                  <a:schemeClr val="tx1"/>
                </a:solidFill>
                <a:latin typeface="微软雅黑" pitchFamily="34" charset="-122"/>
                <a:ea typeface="微软雅黑" pitchFamily="34" charset="-122"/>
              </a:rPr>
              <a:t>）</a:t>
            </a:r>
            <a:r>
              <a:rPr lang="en-US" altLang="zh-CN" sz="1600" b="0" dirty="0">
                <a:solidFill>
                  <a:schemeClr val="tx1"/>
                </a:solidFill>
                <a:latin typeface="微软雅黑" pitchFamily="34" charset="-122"/>
                <a:ea typeface="微软雅黑" pitchFamily="34" charset="-122"/>
              </a:rPr>
              <a:t>SPH</a:t>
            </a:r>
            <a:r>
              <a:rPr lang="zh-CN" altLang="en-US" sz="1600" b="0" dirty="0">
                <a:solidFill>
                  <a:schemeClr val="tx1"/>
                </a:solidFill>
                <a:latin typeface="微软雅黑" pitchFamily="34" charset="-122"/>
                <a:ea typeface="微软雅黑" pitchFamily="34" charset="-122"/>
              </a:rPr>
              <a:t>在处理</a:t>
            </a:r>
            <a:r>
              <a:rPr lang="zh-CN" altLang="en-US" sz="1600" b="0" dirty="0">
                <a:solidFill>
                  <a:srgbClr val="FF0000"/>
                </a:solidFill>
                <a:latin typeface="微软雅黑" pitchFamily="34" charset="-122"/>
                <a:ea typeface="微软雅黑" pitchFamily="34" charset="-122"/>
              </a:rPr>
              <a:t>流体与固体相互作用</a:t>
            </a:r>
            <a:r>
              <a:rPr lang="zh-CN" altLang="en-US" sz="1600" b="0" dirty="0">
                <a:solidFill>
                  <a:schemeClr val="tx1"/>
                </a:solidFill>
                <a:latin typeface="微软雅黑" pitchFamily="34" charset="-122"/>
                <a:ea typeface="微软雅黑" pitchFamily="34" charset="-122"/>
              </a:rPr>
              <a:t>的问题中仍存在很多局限，开发</a:t>
            </a:r>
            <a:r>
              <a:rPr lang="en-US" altLang="zh-CN" sz="1600" b="0" dirty="0">
                <a:solidFill>
                  <a:srgbClr val="FF0000"/>
                </a:solidFill>
                <a:latin typeface="微软雅黑" pitchFamily="34" charset="-122"/>
                <a:ea typeface="微软雅黑" pitchFamily="34" charset="-122"/>
              </a:rPr>
              <a:t>FDEM-SPH</a:t>
            </a:r>
            <a:r>
              <a:rPr lang="zh-CN" altLang="en-US" sz="1600" b="0" dirty="0">
                <a:solidFill>
                  <a:srgbClr val="FF0000"/>
                </a:solidFill>
                <a:latin typeface="微软雅黑" pitchFamily="34" charset="-122"/>
                <a:ea typeface="微软雅黑" pitchFamily="34" charset="-122"/>
              </a:rPr>
              <a:t>流固耦合模型</a:t>
            </a:r>
            <a:r>
              <a:rPr lang="zh-CN" altLang="en-US" sz="1600" b="0" dirty="0">
                <a:solidFill>
                  <a:schemeClr val="tx1"/>
                </a:solidFill>
                <a:latin typeface="微软雅黑" pitchFamily="34" charset="-122"/>
                <a:ea typeface="微软雅黑" pitchFamily="34" charset="-122"/>
              </a:rPr>
              <a:t>具有长远的意义。</a:t>
            </a:r>
            <a:endParaRPr lang="en-US" altLang="zh-CN" sz="1600" b="0" dirty="0">
              <a:solidFill>
                <a:schemeClr val="tx1"/>
              </a:solidFill>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F576FECC-1579-FE5A-2AD8-F83AFD075D2B}"/>
              </a:ext>
            </a:extLst>
          </p:cNvPr>
          <p:cNvSpPr>
            <a:spLocks noGrp="1"/>
          </p:cNvSpPr>
          <p:nvPr>
            <p:ph type="sldNum" sz="quarter" idx="12"/>
          </p:nvPr>
        </p:nvSpPr>
        <p:spPr/>
        <p:txBody>
          <a:bodyPr/>
          <a:lstStyle/>
          <a:p>
            <a:pPr>
              <a:defRPr/>
            </a:pPr>
            <a:fld id="{8E7F6652-62A1-454F-81FD-501A0D85DAEF}" type="slidenum">
              <a:rPr lang="en-US" altLang="zh-CN" smtClean="0"/>
              <a:pPr>
                <a:defRPr/>
              </a:pPr>
              <a:t>11</a:t>
            </a:fld>
            <a:endParaRPr lang="en-US" altLang="zh-CN"/>
          </a:p>
        </p:txBody>
      </p:sp>
    </p:spTree>
    <p:extLst>
      <p:ext uri="{BB962C8B-B14F-4D97-AF65-F5344CB8AC3E}">
        <p14:creationId xmlns:p14="http://schemas.microsoft.com/office/powerpoint/2010/main" val="35055806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971601" y="1486642"/>
            <a:ext cx="7200799" cy="3337837"/>
          </a:xfrm>
          <a:prstGeom prst="rect">
            <a:avLst/>
          </a:prstGeom>
          <a:solidFill>
            <a:schemeClr val="bg1"/>
          </a:solidFill>
          <a:ln w="28575" algn="ctr">
            <a:solidFill>
              <a:srgbClr val="FF3300"/>
            </a:solidFill>
            <a:miter lim="800000"/>
            <a:headEnd/>
            <a:tailEnd/>
          </a:ln>
          <a:effectLst>
            <a:outerShdw dist="161645" dir="2700000" algn="ctr" rotWithShape="0">
              <a:schemeClr val="tx2">
                <a:alpha val="50000"/>
              </a:schemeClr>
            </a:outerShdw>
          </a:effec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0"/>
              </a:spcBef>
              <a:buFontTx/>
              <a:buNone/>
            </a:pPr>
            <a:r>
              <a:rPr lang="zh-CN" altLang="en-US" dirty="0">
                <a:solidFill>
                  <a:srgbClr val="FF0000"/>
                </a:solidFill>
                <a:latin typeface="黑体" panose="02010609060101010101" pitchFamily="49" charset="-122"/>
                <a:ea typeface="黑体" panose="02010609060101010101" pitchFamily="49" charset="-122"/>
              </a:rPr>
              <a:t>一、立题依据</a:t>
            </a:r>
            <a:endParaRPr lang="en-US" altLang="zh-CN" dirty="0">
              <a:solidFill>
                <a:srgbClr val="FF0000"/>
              </a:solidFill>
              <a:latin typeface="黑体" panose="02010609060101010101" pitchFamily="49" charset="-122"/>
              <a:ea typeface="黑体" panose="02010609060101010101" pitchFamily="49" charset="-122"/>
            </a:endParaRPr>
          </a:p>
          <a:p>
            <a:pPr eaLnBrk="1" hangingPunct="1">
              <a:lnSpc>
                <a:spcPct val="180000"/>
              </a:lnSpc>
              <a:spcBef>
                <a:spcPts val="0"/>
              </a:spcBef>
              <a:buFont typeface="Monotype Sorts"/>
              <a:buNone/>
            </a:pPr>
            <a:r>
              <a:rPr lang="zh-CN" altLang="en-US" dirty="0">
                <a:solidFill>
                  <a:srgbClr val="FF0000"/>
                </a:solidFill>
                <a:highlight>
                  <a:srgbClr val="FFFF00"/>
                </a:highlight>
                <a:latin typeface="黑体" panose="02010609060101010101" pitchFamily="49" charset="-122"/>
                <a:ea typeface="黑体" panose="02010609060101010101" pitchFamily="49" charset="-122"/>
              </a:rPr>
              <a:t>二、研究内容和目标</a:t>
            </a:r>
          </a:p>
          <a:p>
            <a:pPr eaLnBrk="1" hangingPunct="1">
              <a:lnSpc>
                <a:spcPct val="180000"/>
              </a:lnSpc>
              <a:spcBef>
                <a:spcPts val="0"/>
              </a:spcBef>
              <a:buFont typeface="Monotype Sorts"/>
              <a:buNone/>
            </a:pPr>
            <a:r>
              <a:rPr lang="zh-CN" altLang="en-US" dirty="0">
                <a:solidFill>
                  <a:srgbClr val="FF0000"/>
                </a:solidFill>
                <a:latin typeface="黑体" panose="02010609060101010101" pitchFamily="49" charset="-122"/>
                <a:ea typeface="黑体" panose="02010609060101010101" pitchFamily="49" charset="-122"/>
              </a:rPr>
              <a:t>三、研究方案设计及可行性分析</a:t>
            </a:r>
            <a:endParaRPr lang="en-US" altLang="zh-CN" dirty="0">
              <a:solidFill>
                <a:srgbClr val="FF0000"/>
              </a:solidFill>
              <a:latin typeface="黑体" panose="02010609060101010101" pitchFamily="49" charset="-122"/>
              <a:ea typeface="黑体" panose="02010609060101010101" pitchFamily="49" charset="-122"/>
            </a:endParaRPr>
          </a:p>
          <a:p>
            <a:pPr eaLnBrk="1" hangingPunct="1">
              <a:lnSpc>
                <a:spcPct val="180000"/>
              </a:lnSpc>
              <a:spcBef>
                <a:spcPts val="0"/>
              </a:spcBef>
              <a:buFont typeface="Monotype Sorts"/>
              <a:buNone/>
            </a:pPr>
            <a:r>
              <a:rPr lang="zh-CN" altLang="en-US" dirty="0">
                <a:solidFill>
                  <a:srgbClr val="FF0000"/>
                </a:solidFill>
                <a:latin typeface="黑体" panose="02010609060101010101" pitchFamily="49" charset="-122"/>
                <a:ea typeface="黑体" panose="02010609060101010101" pitchFamily="49" charset="-122"/>
              </a:rPr>
              <a:t>四、研究基础与工作条件</a:t>
            </a:r>
          </a:p>
        </p:txBody>
      </p:sp>
      <p:sp>
        <p:nvSpPr>
          <p:cNvPr id="6147" name="Text Box 3"/>
          <p:cNvSpPr txBox="1">
            <a:spLocks noChangeArrowheads="1"/>
          </p:cNvSpPr>
          <p:nvPr/>
        </p:nvSpPr>
        <p:spPr bwMode="auto">
          <a:xfrm>
            <a:off x="2608263" y="692150"/>
            <a:ext cx="144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2573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Monotype Sorts"/>
              <a:buChar char="•"/>
            </a:pPr>
            <a:endParaRPr lang="zh-CN" altLang="zh-CN" sz="2400">
              <a:solidFill>
                <a:schemeClr val="bg1"/>
              </a:solidFill>
            </a:endParaRPr>
          </a:p>
        </p:txBody>
      </p:sp>
      <p:sp>
        <p:nvSpPr>
          <p:cNvPr id="6148" name="Rectangle 4"/>
          <p:cNvSpPr>
            <a:spLocks noChangeArrowheads="1"/>
          </p:cNvSpPr>
          <p:nvPr/>
        </p:nvSpPr>
        <p:spPr bwMode="auto">
          <a:xfrm>
            <a:off x="2700338" y="-23854"/>
            <a:ext cx="398145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0"/>
              </a:spcBef>
              <a:buFont typeface="Monotype Sorts"/>
              <a:buNone/>
            </a:pPr>
            <a:r>
              <a:rPr lang="zh-CN" altLang="en-US" sz="4800" dirty="0">
                <a:latin typeface="黑体" panose="02010609060101010101" pitchFamily="49" charset="-122"/>
                <a:ea typeface="黑体" panose="02010609060101010101" pitchFamily="49" charset="-122"/>
              </a:rPr>
              <a:t>汇 报 提 纲</a:t>
            </a:r>
          </a:p>
        </p:txBody>
      </p:sp>
      <p:pic>
        <p:nvPicPr>
          <p:cNvPr id="6149" name="Picture 1030" descr="图片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49729"/>
            <a:ext cx="91440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33454D3F-1DDA-6328-ADDA-BA4F91C31059}"/>
              </a:ext>
            </a:extLst>
          </p:cNvPr>
          <p:cNvSpPr>
            <a:spLocks noGrp="1"/>
          </p:cNvSpPr>
          <p:nvPr>
            <p:ph type="sldNum" sz="quarter" idx="12"/>
          </p:nvPr>
        </p:nvSpPr>
        <p:spPr/>
        <p:txBody>
          <a:bodyPr/>
          <a:lstStyle/>
          <a:p>
            <a:pPr>
              <a:defRPr/>
            </a:pPr>
            <a:fld id="{C61B835A-E540-400A-ADC8-0E2403FDC7FB}" type="slidenum">
              <a:rPr lang="en-US" altLang="zh-CN" smtClean="0"/>
              <a:pPr>
                <a:defRPr/>
              </a:pPr>
              <a:t>12</a:t>
            </a:fld>
            <a:endParaRPr lang="en-US" altLang="zh-CN"/>
          </a:p>
        </p:txBody>
      </p:sp>
    </p:spTree>
    <p:extLst>
      <p:ext uri="{BB962C8B-B14F-4D97-AF65-F5344CB8AC3E}">
        <p14:creationId xmlns:p14="http://schemas.microsoft.com/office/powerpoint/2010/main" val="2214485016"/>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二、研究内容和目标</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1.1. </a:t>
            </a:r>
            <a:r>
              <a:rPr lang="zh-CN" altLang="en-US" b="0" dirty="0">
                <a:latin typeface="微软雅黑" pitchFamily="34" charset="-122"/>
                <a:ea typeface="微软雅黑" pitchFamily="34" charset="-122"/>
              </a:rPr>
              <a:t>研究目标</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39"/>
            <a:ext cx="7889498" cy="3600401"/>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buFont typeface="Monotype Sorts" pitchFamily="2" charset="2"/>
              <a:buNone/>
              <a:defRPr/>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1</a:t>
            </a:r>
            <a:r>
              <a:rPr lang="zh-CN" altLang="en-US" sz="2000" b="0" dirty="0">
                <a:solidFill>
                  <a:schemeClr val="tx1"/>
                </a:solidFill>
                <a:latin typeface="微软雅黑" pitchFamily="34" charset="-122"/>
                <a:ea typeface="微软雅黑" pitchFamily="34" charset="-122"/>
              </a:rPr>
              <a:t>）在现</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力学模块的基础上，对已有节理单元本构模型进行修正，实现</a:t>
            </a:r>
            <a:r>
              <a:rPr lang="zh-CN" altLang="en-US" sz="2000" b="0" dirty="0">
                <a:solidFill>
                  <a:srgbClr val="FF0000"/>
                </a:solidFill>
                <a:latin typeface="微软雅黑" pitchFamily="34" charset="-122"/>
                <a:ea typeface="微软雅黑" pitchFamily="34" charset="-122"/>
              </a:rPr>
              <a:t>新的本构模型</a:t>
            </a:r>
            <a:r>
              <a:rPr lang="zh-CN" altLang="en-US" sz="2000" b="0" dirty="0">
                <a:solidFill>
                  <a:schemeClr val="tx1"/>
                </a:solidFill>
                <a:latin typeface="微软雅黑" pitchFamily="34" charset="-122"/>
                <a:ea typeface="微软雅黑" pitchFamily="34" charset="-122"/>
              </a:rPr>
              <a:t>，更全面地模拟岩石的</a:t>
            </a:r>
            <a:r>
              <a:rPr lang="zh-CN" altLang="en-US" sz="2000" b="0" dirty="0">
                <a:solidFill>
                  <a:srgbClr val="FF0000"/>
                </a:solidFill>
                <a:latin typeface="微软雅黑" pitchFamily="34" charset="-122"/>
                <a:ea typeface="微软雅黑" pitchFamily="34" charset="-122"/>
              </a:rPr>
              <a:t>弹模演化</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压缩强度</a:t>
            </a:r>
            <a:r>
              <a:rPr lang="zh-CN" altLang="en-US" sz="2000" b="0" dirty="0">
                <a:solidFill>
                  <a:schemeClr val="tx1"/>
                </a:solidFill>
                <a:latin typeface="微软雅黑" pitchFamily="34" charset="-122"/>
                <a:ea typeface="微软雅黑" pitchFamily="34" charset="-122"/>
              </a:rPr>
              <a:t>等力学性质。</a:t>
            </a:r>
          </a:p>
          <a:p>
            <a:pPr indent="457200" algn="just" eaLnBrk="1" hangingPunct="1">
              <a:lnSpc>
                <a:spcPct val="130000"/>
              </a:lnSpc>
              <a:spcBef>
                <a:spcPts val="0"/>
              </a:spcBef>
              <a:buClr>
                <a:srgbClr val="FF0000"/>
              </a:buClr>
              <a:buSzPct val="80000"/>
              <a:buFont typeface="Monotype Sorts" pitchFamily="2" charset="2"/>
              <a:buNone/>
              <a:defRPr/>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2</a:t>
            </a:r>
            <a:r>
              <a:rPr lang="zh-CN" altLang="en-US" sz="2000" b="0" dirty="0">
                <a:solidFill>
                  <a:schemeClr val="tx1"/>
                </a:solidFill>
                <a:latin typeface="微软雅黑" pitchFamily="34" charset="-122"/>
                <a:ea typeface="微软雅黑" pitchFamily="34" charset="-122"/>
              </a:rPr>
              <a:t>）基于光滑粒子流体动力学理论，实现模拟流体运动的</a:t>
            </a:r>
            <a:r>
              <a:rPr lang="en-US" altLang="zh-CN" sz="2000" b="0" dirty="0">
                <a:solidFill>
                  <a:srgbClr val="FF0000"/>
                </a:solidFill>
                <a:latin typeface="微软雅黑" pitchFamily="34" charset="-122"/>
                <a:ea typeface="微软雅黑" pitchFamily="34" charset="-122"/>
              </a:rPr>
              <a:t>SPH</a:t>
            </a:r>
            <a:r>
              <a:rPr lang="zh-CN" altLang="en-US" sz="2000" b="0" dirty="0">
                <a:solidFill>
                  <a:srgbClr val="FF0000"/>
                </a:solidFill>
                <a:latin typeface="微软雅黑" pitchFamily="34" charset="-122"/>
                <a:ea typeface="微软雅黑" pitchFamily="34" charset="-122"/>
              </a:rPr>
              <a:t>算法</a:t>
            </a:r>
            <a:r>
              <a:rPr lang="zh-CN" altLang="en-US" sz="2000" b="0" dirty="0">
                <a:solidFill>
                  <a:schemeClr val="tx1"/>
                </a:solidFill>
                <a:latin typeface="微软雅黑" pitchFamily="34" charset="-122"/>
                <a:ea typeface="微软雅黑" pitchFamily="34" charset="-122"/>
              </a:rPr>
              <a:t>，开发可用于模拟计算的程序</a:t>
            </a:r>
            <a:r>
              <a:rPr lang="zh-CN" altLang="en-US" sz="2000" b="0" dirty="0">
                <a:solidFill>
                  <a:srgbClr val="FF0000"/>
                </a:solidFill>
                <a:latin typeface="微软雅黑" pitchFamily="34" charset="-122"/>
                <a:ea typeface="微软雅黑" pitchFamily="34" charset="-122"/>
              </a:rPr>
              <a:t>代码</a:t>
            </a:r>
            <a:r>
              <a:rPr lang="zh-CN" altLang="en-US" sz="2000" b="0" dirty="0">
                <a:solidFill>
                  <a:schemeClr val="tx1"/>
                </a:solidFill>
                <a:latin typeface="微软雅黑" pitchFamily="34" charset="-122"/>
                <a:ea typeface="微软雅黑" pitchFamily="34" charset="-122"/>
              </a:rPr>
              <a:t>，实现对</a:t>
            </a:r>
            <a:r>
              <a:rPr lang="zh-CN" altLang="en-US" sz="2000" b="0" dirty="0">
                <a:solidFill>
                  <a:srgbClr val="FF0000"/>
                </a:solidFill>
                <a:latin typeface="微软雅黑" pitchFamily="34" charset="-122"/>
                <a:ea typeface="微软雅黑" pitchFamily="34" charset="-122"/>
              </a:rPr>
              <a:t>流体流动</a:t>
            </a:r>
            <a:r>
              <a:rPr lang="zh-CN" altLang="en-US" sz="2000" b="0" dirty="0">
                <a:solidFill>
                  <a:schemeClr val="tx1"/>
                </a:solidFill>
                <a:latin typeface="微软雅黑" pitchFamily="34" charset="-122"/>
                <a:ea typeface="微软雅黑" pitchFamily="34" charset="-122"/>
              </a:rPr>
              <a:t>的数值仿真。</a:t>
            </a:r>
          </a:p>
          <a:p>
            <a:pPr indent="457200" algn="just" eaLnBrk="1" hangingPunct="1">
              <a:lnSpc>
                <a:spcPct val="130000"/>
              </a:lnSpc>
              <a:spcBef>
                <a:spcPts val="0"/>
              </a:spcBef>
              <a:buClr>
                <a:srgbClr val="FF0000"/>
              </a:buClr>
              <a:buSzPct val="80000"/>
              <a:buFont typeface="Monotype Sorts" pitchFamily="2" charset="2"/>
              <a:buNone/>
              <a:defRPr/>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3</a:t>
            </a:r>
            <a:r>
              <a:rPr lang="zh-CN" altLang="en-US" sz="2000" b="0" dirty="0">
                <a:solidFill>
                  <a:schemeClr val="tx1"/>
                </a:solidFill>
                <a:latin typeface="微软雅黑" pitchFamily="34" charset="-122"/>
                <a:ea typeface="微软雅黑" pitchFamily="34" charset="-122"/>
              </a:rPr>
              <a:t>）将</a:t>
            </a: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算法与现有</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力学模块结合，提出</a:t>
            </a:r>
            <a:r>
              <a:rPr lang="en-US" altLang="zh-CN" sz="2000" b="0" dirty="0">
                <a:solidFill>
                  <a:srgbClr val="FF0000"/>
                </a:solidFill>
                <a:latin typeface="微软雅黑" pitchFamily="34" charset="-122"/>
                <a:ea typeface="微软雅黑" pitchFamily="34" charset="-122"/>
              </a:rPr>
              <a:t>FDEM-SPH</a:t>
            </a:r>
            <a:r>
              <a:rPr lang="zh-CN" altLang="en-US" sz="2000" b="0" dirty="0">
                <a:solidFill>
                  <a:srgbClr val="FF0000"/>
                </a:solidFill>
                <a:latin typeface="微软雅黑" pitchFamily="34" charset="-122"/>
                <a:ea typeface="微软雅黑" pitchFamily="34" charset="-122"/>
              </a:rPr>
              <a:t>流固耦合算法</a:t>
            </a:r>
            <a:r>
              <a:rPr lang="zh-CN" altLang="en-US" sz="2000" b="0" dirty="0">
                <a:solidFill>
                  <a:schemeClr val="tx1"/>
                </a:solidFill>
                <a:latin typeface="微软雅黑" pitchFamily="34" charset="-122"/>
                <a:ea typeface="微软雅黑" pitchFamily="34" charset="-122"/>
              </a:rPr>
              <a:t>，研究</a:t>
            </a:r>
            <a:r>
              <a:rPr lang="zh-CN" altLang="en-US" sz="2000" b="0" dirty="0">
                <a:solidFill>
                  <a:srgbClr val="FF0000"/>
                </a:solidFill>
                <a:latin typeface="微软雅黑" pitchFamily="34" charset="-122"/>
                <a:ea typeface="微软雅黑" pitchFamily="34" charset="-122"/>
              </a:rPr>
              <a:t>涌浪</a:t>
            </a:r>
            <a:r>
              <a:rPr lang="zh-CN" altLang="en-US" sz="2000" b="0" dirty="0">
                <a:solidFill>
                  <a:schemeClr val="tx1"/>
                </a:solidFill>
                <a:latin typeface="微软雅黑" pitchFamily="34" charset="-122"/>
                <a:ea typeface="微软雅黑" pitchFamily="34" charset="-122"/>
              </a:rPr>
              <a:t>对岸边</a:t>
            </a:r>
            <a:r>
              <a:rPr lang="zh-CN" altLang="en-US" sz="2000" b="0" dirty="0">
                <a:solidFill>
                  <a:srgbClr val="FF0000"/>
                </a:solidFill>
                <a:latin typeface="微软雅黑" pitchFamily="34" charset="-122"/>
                <a:ea typeface="微软雅黑" pitchFamily="34" charset="-122"/>
              </a:rPr>
              <a:t>建</a:t>
            </a:r>
            <a:r>
              <a:rPr lang="en-US" altLang="zh-CN" sz="2000" b="0" dirty="0">
                <a:solidFill>
                  <a:srgbClr val="FF0000"/>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构筑物</a:t>
            </a:r>
            <a:r>
              <a:rPr lang="zh-CN" altLang="en-US" sz="2000" b="0" dirty="0">
                <a:solidFill>
                  <a:schemeClr val="tx1"/>
                </a:solidFill>
                <a:latin typeface="微软雅黑" pitchFamily="34" charset="-122"/>
                <a:ea typeface="微软雅黑" pitchFamily="34" charset="-122"/>
              </a:rPr>
              <a:t>影响的模拟。</a:t>
            </a:r>
          </a:p>
        </p:txBody>
      </p:sp>
      <p:sp>
        <p:nvSpPr>
          <p:cNvPr id="2" name="灯片编号占位符 1">
            <a:extLst>
              <a:ext uri="{FF2B5EF4-FFF2-40B4-BE49-F238E27FC236}">
                <a16:creationId xmlns:a16="http://schemas.microsoft.com/office/drawing/2014/main" id="{8F06DBD8-28A9-3116-DCDC-BF1EF0870C78}"/>
              </a:ext>
            </a:extLst>
          </p:cNvPr>
          <p:cNvSpPr>
            <a:spLocks noGrp="1"/>
          </p:cNvSpPr>
          <p:nvPr>
            <p:ph type="sldNum" sz="quarter" idx="12"/>
          </p:nvPr>
        </p:nvSpPr>
        <p:spPr/>
        <p:txBody>
          <a:bodyPr/>
          <a:lstStyle/>
          <a:p>
            <a:pPr>
              <a:defRPr/>
            </a:pPr>
            <a:fld id="{8E7F6652-62A1-454F-81FD-501A0D85DAEF}" type="slidenum">
              <a:rPr lang="en-US" altLang="zh-CN" smtClean="0"/>
              <a:pPr>
                <a:defRPr/>
              </a:pPr>
              <a:t>13</a:t>
            </a:fld>
            <a:endParaRPr lang="en-US" altLang="zh-CN"/>
          </a:p>
        </p:txBody>
      </p:sp>
    </p:spTree>
    <p:extLst>
      <p:ext uri="{BB962C8B-B14F-4D97-AF65-F5344CB8AC3E}">
        <p14:creationId xmlns:p14="http://schemas.microsoft.com/office/powerpoint/2010/main" val="33220371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2.2. </a:t>
            </a:r>
            <a:r>
              <a:rPr lang="zh-CN" altLang="en-US" b="0" dirty="0">
                <a:latin typeface="微软雅黑" pitchFamily="34" charset="-122"/>
                <a:ea typeface="微软雅黑" pitchFamily="34" charset="-122"/>
              </a:rPr>
              <a:t>研究内容</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270016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1</a:t>
            </a:r>
            <a:r>
              <a:rPr lang="zh-CN" altLang="en-US" sz="2000" dirty="0">
                <a:solidFill>
                  <a:schemeClr val="tx1"/>
                </a:solidFill>
                <a:latin typeface="微软雅黑" pitchFamily="34" charset="-122"/>
                <a:ea typeface="微软雅黑" pitchFamily="34" charset="-122"/>
              </a:rPr>
              <a:t>）有限</a:t>
            </a:r>
            <a:r>
              <a:rPr lang="en-US" altLang="zh-CN" sz="2000" dirty="0">
                <a:solidFill>
                  <a:schemeClr val="tx1"/>
                </a:solidFill>
                <a:latin typeface="微软雅黑" pitchFamily="34" charset="-122"/>
                <a:ea typeface="微软雅黑" pitchFamily="34" charset="-122"/>
              </a:rPr>
              <a:t>-</a:t>
            </a:r>
            <a:r>
              <a:rPr lang="zh-CN" altLang="en-US" sz="2000" dirty="0">
                <a:solidFill>
                  <a:schemeClr val="tx1"/>
                </a:solidFill>
                <a:latin typeface="微软雅黑" pitchFamily="34" charset="-122"/>
                <a:ea typeface="微软雅黑" pitchFamily="34" charset="-122"/>
              </a:rPr>
              <a:t>离散元法中新的节理单元本构模型</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1</a:t>
            </a:r>
            <a:r>
              <a:rPr lang="zh-CN" altLang="en-US" sz="1600" b="0" dirty="0">
                <a:solidFill>
                  <a:schemeClr val="tx1"/>
                </a:solidFill>
                <a:latin typeface="微软雅黑" pitchFamily="34" charset="-122"/>
                <a:ea typeface="微软雅黑" pitchFamily="34" charset="-122"/>
              </a:rPr>
              <a:t>、提出基于三角形单元和节理单元拓扑连接关系的，不启用接触判断和接触力计算的</a:t>
            </a:r>
            <a:r>
              <a:rPr lang="zh-CN" altLang="en-US" sz="1600" b="0" dirty="0">
                <a:solidFill>
                  <a:srgbClr val="FF0000"/>
                </a:solidFill>
                <a:latin typeface="微软雅黑" pitchFamily="34" charset="-122"/>
                <a:ea typeface="微软雅黑" pitchFamily="34" charset="-122"/>
              </a:rPr>
              <a:t>裂缝处的法向压力和切向摩擦力</a:t>
            </a:r>
            <a:r>
              <a:rPr lang="zh-CN" altLang="en-US" sz="1600" b="0" dirty="0">
                <a:solidFill>
                  <a:schemeClr val="tx1"/>
                </a:solidFill>
                <a:latin typeface="微软雅黑" pitchFamily="34" charset="-122"/>
                <a:ea typeface="微软雅黑" pitchFamily="34" charset="-122"/>
              </a:rPr>
              <a:t>算法。</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2</a:t>
            </a:r>
            <a:r>
              <a:rPr lang="zh-CN" altLang="en-US" sz="1600" b="0" dirty="0">
                <a:solidFill>
                  <a:schemeClr val="tx1"/>
                </a:solidFill>
                <a:latin typeface="微软雅黑" pitchFamily="34" charset="-122"/>
                <a:ea typeface="微软雅黑" pitchFamily="34" charset="-122"/>
              </a:rPr>
              <a:t>、研究能记录节理单元损伤程度的</a:t>
            </a:r>
            <a:r>
              <a:rPr lang="zh-CN" altLang="en-US" sz="1600" b="0" dirty="0">
                <a:solidFill>
                  <a:srgbClr val="FF0000"/>
                </a:solidFill>
                <a:latin typeface="微软雅黑" pitchFamily="34" charset="-122"/>
                <a:ea typeface="微软雅黑" pitchFamily="34" charset="-122"/>
              </a:rPr>
              <a:t>加载</a:t>
            </a:r>
            <a:r>
              <a:rPr lang="en-US" altLang="zh-CN" sz="1600" b="0" dirty="0">
                <a:solidFill>
                  <a:srgbClr val="FF0000"/>
                </a:solidFill>
                <a:latin typeface="微软雅黑" pitchFamily="34" charset="-122"/>
                <a:ea typeface="微软雅黑" pitchFamily="34" charset="-122"/>
              </a:rPr>
              <a:t>-</a:t>
            </a:r>
            <a:r>
              <a:rPr lang="zh-CN" altLang="en-US" sz="1600" b="0" dirty="0">
                <a:solidFill>
                  <a:srgbClr val="FF0000"/>
                </a:solidFill>
                <a:latin typeface="微软雅黑" pitchFamily="34" charset="-122"/>
                <a:ea typeface="微软雅黑" pitchFamily="34" charset="-122"/>
              </a:rPr>
              <a:t>卸载</a:t>
            </a:r>
            <a:r>
              <a:rPr lang="en-US" altLang="zh-CN" sz="1600" b="0" dirty="0">
                <a:solidFill>
                  <a:srgbClr val="FF0000"/>
                </a:solidFill>
                <a:latin typeface="微软雅黑" pitchFamily="34" charset="-122"/>
                <a:ea typeface="微软雅黑" pitchFamily="34" charset="-122"/>
              </a:rPr>
              <a:t>-</a:t>
            </a:r>
            <a:r>
              <a:rPr lang="zh-CN" altLang="en-US" sz="1600" b="0" dirty="0">
                <a:solidFill>
                  <a:srgbClr val="FF0000"/>
                </a:solidFill>
                <a:latin typeface="微软雅黑" pitchFamily="34" charset="-122"/>
                <a:ea typeface="微软雅黑" pitchFamily="34" charset="-122"/>
              </a:rPr>
              <a:t>二次加载本构</a:t>
            </a:r>
            <a:r>
              <a:rPr lang="zh-CN" altLang="en-US" sz="1600" b="0" dirty="0">
                <a:solidFill>
                  <a:schemeClr val="tx1"/>
                </a:solidFill>
                <a:latin typeface="微软雅黑" pitchFamily="34" charset="-122"/>
                <a:ea typeface="微软雅黑" pitchFamily="34" charset="-122"/>
              </a:rPr>
              <a:t>，反应节理单元损伤的</a:t>
            </a:r>
            <a:r>
              <a:rPr lang="zh-CN" altLang="en-US" sz="1600" b="0" dirty="0">
                <a:solidFill>
                  <a:srgbClr val="FF0000"/>
                </a:solidFill>
                <a:latin typeface="微软雅黑" pitchFamily="34" charset="-122"/>
                <a:ea typeface="微软雅黑" pitchFamily="34" charset="-122"/>
              </a:rPr>
              <a:t>不可逆性</a:t>
            </a:r>
            <a:r>
              <a:rPr lang="zh-CN" altLang="en-US" sz="1600" b="0" dirty="0">
                <a:solidFill>
                  <a:schemeClr val="tx1"/>
                </a:solidFill>
                <a:latin typeface="微软雅黑" pitchFamily="34" charset="-122"/>
                <a:ea typeface="微软雅黑" pitchFamily="34" charset="-122"/>
              </a:rPr>
              <a:t>。</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3</a:t>
            </a:r>
            <a:r>
              <a:rPr lang="zh-CN" altLang="en-US" sz="1600" b="0" dirty="0">
                <a:solidFill>
                  <a:schemeClr val="tx1"/>
                </a:solidFill>
                <a:latin typeface="微软雅黑" pitchFamily="34" charset="-122"/>
                <a:ea typeface="微软雅黑" pitchFamily="34" charset="-122"/>
              </a:rPr>
              <a:t>、实现新的</a:t>
            </a:r>
            <a:r>
              <a:rPr lang="zh-CN" altLang="en-US" sz="1600" b="0" dirty="0">
                <a:solidFill>
                  <a:srgbClr val="FF0000"/>
                </a:solidFill>
                <a:latin typeface="微软雅黑" pitchFamily="34" charset="-122"/>
                <a:ea typeface="微软雅黑" pitchFamily="34" charset="-122"/>
              </a:rPr>
              <a:t>节理单元断裂准则</a:t>
            </a:r>
            <a:r>
              <a:rPr lang="zh-CN" altLang="en-US" sz="1600" b="0" dirty="0">
                <a:solidFill>
                  <a:schemeClr val="tx1"/>
                </a:solidFill>
                <a:latin typeface="微软雅黑" pitchFamily="34" charset="-122"/>
                <a:ea typeface="微软雅黑" pitchFamily="34" charset="-122"/>
              </a:rPr>
              <a:t>，实现对岩石</a:t>
            </a:r>
            <a:r>
              <a:rPr lang="zh-CN" altLang="en-US" sz="1600" b="0" dirty="0">
                <a:solidFill>
                  <a:srgbClr val="FF0000"/>
                </a:solidFill>
                <a:latin typeface="微软雅黑" pitchFamily="34" charset="-122"/>
                <a:ea typeface="微软雅黑" pitchFamily="34" charset="-122"/>
              </a:rPr>
              <a:t>弹性模量演化</a:t>
            </a:r>
            <a:r>
              <a:rPr lang="zh-CN" altLang="en-US" sz="1600" b="0" dirty="0">
                <a:solidFill>
                  <a:schemeClr val="tx1"/>
                </a:solidFill>
                <a:latin typeface="微软雅黑" pitchFamily="34" charset="-122"/>
                <a:ea typeface="微软雅黑" pitchFamily="34" charset="-122"/>
              </a:rPr>
              <a:t>、</a:t>
            </a:r>
            <a:r>
              <a:rPr lang="zh-CN" altLang="en-US" sz="1600" b="0" dirty="0">
                <a:solidFill>
                  <a:srgbClr val="FF0000"/>
                </a:solidFill>
                <a:latin typeface="微软雅黑" pitchFamily="34" charset="-122"/>
                <a:ea typeface="微软雅黑" pitchFamily="34" charset="-122"/>
              </a:rPr>
              <a:t>单轴</a:t>
            </a:r>
            <a:r>
              <a:rPr lang="en-US" altLang="zh-CN" sz="1600" b="0" dirty="0">
                <a:solidFill>
                  <a:srgbClr val="FF0000"/>
                </a:solidFill>
                <a:latin typeface="微软雅黑" pitchFamily="34" charset="-122"/>
                <a:ea typeface="微软雅黑" pitchFamily="34" charset="-122"/>
              </a:rPr>
              <a:t>/</a:t>
            </a:r>
            <a:r>
              <a:rPr lang="zh-CN" altLang="en-US" sz="1600" b="0" dirty="0">
                <a:solidFill>
                  <a:srgbClr val="FF0000"/>
                </a:solidFill>
                <a:latin typeface="微软雅黑" pitchFamily="34" charset="-122"/>
                <a:ea typeface="微软雅黑" pitchFamily="34" charset="-122"/>
              </a:rPr>
              <a:t>三轴压缩强度</a:t>
            </a:r>
            <a:r>
              <a:rPr lang="zh-CN" altLang="en-US" sz="1600" b="0" dirty="0">
                <a:solidFill>
                  <a:schemeClr val="tx1"/>
                </a:solidFill>
                <a:latin typeface="微软雅黑" pitchFamily="34" charset="-122"/>
                <a:ea typeface="微软雅黑" pitchFamily="34" charset="-122"/>
              </a:rPr>
              <a:t>等力学性质更全面的模拟。</a:t>
            </a:r>
          </a:p>
        </p:txBody>
      </p:sp>
      <p:sp>
        <p:nvSpPr>
          <p:cNvPr id="2" name="Text Box 21">
            <a:extLst>
              <a:ext uri="{FF2B5EF4-FFF2-40B4-BE49-F238E27FC236}">
                <a16:creationId xmlns:a16="http://schemas.microsoft.com/office/drawing/2014/main" id="{3B04779D-677A-942F-D4D9-4B6F993CAE6B}"/>
              </a:ext>
            </a:extLst>
          </p:cNvPr>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二、研究内容和目标</a:t>
            </a:r>
          </a:p>
        </p:txBody>
      </p:sp>
      <p:sp>
        <p:nvSpPr>
          <p:cNvPr id="3" name="灯片编号占位符 2">
            <a:extLst>
              <a:ext uri="{FF2B5EF4-FFF2-40B4-BE49-F238E27FC236}">
                <a16:creationId xmlns:a16="http://schemas.microsoft.com/office/drawing/2014/main" id="{1FB598AD-6473-468C-B002-03632E8CD697}"/>
              </a:ext>
            </a:extLst>
          </p:cNvPr>
          <p:cNvSpPr>
            <a:spLocks noGrp="1"/>
          </p:cNvSpPr>
          <p:nvPr>
            <p:ph type="sldNum" sz="quarter" idx="12"/>
          </p:nvPr>
        </p:nvSpPr>
        <p:spPr/>
        <p:txBody>
          <a:bodyPr/>
          <a:lstStyle/>
          <a:p>
            <a:pPr>
              <a:defRPr/>
            </a:pPr>
            <a:fld id="{8E7F6652-62A1-454F-81FD-501A0D85DAEF}" type="slidenum">
              <a:rPr lang="en-US" altLang="zh-CN" smtClean="0"/>
              <a:pPr>
                <a:defRPr/>
              </a:pPr>
              <a:t>14</a:t>
            </a:fld>
            <a:endParaRPr lang="en-US" altLang="zh-CN"/>
          </a:p>
        </p:txBody>
      </p:sp>
    </p:spTree>
    <p:extLst>
      <p:ext uri="{BB962C8B-B14F-4D97-AF65-F5344CB8AC3E}">
        <p14:creationId xmlns:p14="http://schemas.microsoft.com/office/powerpoint/2010/main" val="22924341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2.2. </a:t>
            </a:r>
            <a:r>
              <a:rPr lang="zh-CN" altLang="en-US" b="0" dirty="0">
                <a:latin typeface="微软雅黑" pitchFamily="34" charset="-122"/>
                <a:ea typeface="微软雅黑" pitchFamily="34" charset="-122"/>
              </a:rPr>
              <a:t>研究内容</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360040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2</a:t>
            </a:r>
            <a:r>
              <a:rPr lang="zh-CN" altLang="en-US" sz="2000" dirty="0">
                <a:solidFill>
                  <a:schemeClr val="tx1"/>
                </a:solidFill>
                <a:latin typeface="微软雅黑" pitchFamily="34" charset="-122"/>
                <a:ea typeface="微软雅黑" pitchFamily="34" charset="-122"/>
              </a:rPr>
              <a:t>）光滑粒子流体动力学算法</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1</a:t>
            </a:r>
            <a:r>
              <a:rPr lang="zh-CN" altLang="en-US" sz="1600" b="0" dirty="0">
                <a:solidFill>
                  <a:schemeClr val="tx1"/>
                </a:solidFill>
                <a:latin typeface="微软雅黑" pitchFamily="34" charset="-122"/>
                <a:ea typeface="微软雅黑" pitchFamily="34" charset="-122"/>
              </a:rPr>
              <a:t>、通过有限控制体和无穷小流体单元推导拉格朗日型的</a:t>
            </a:r>
            <a:r>
              <a:rPr lang="en-US" altLang="zh-CN" sz="1600" b="0" dirty="0">
                <a:solidFill>
                  <a:srgbClr val="FF0000"/>
                </a:solidFill>
                <a:latin typeface="微软雅黑" pitchFamily="34" charset="-122"/>
                <a:ea typeface="微软雅黑" pitchFamily="34" charset="-122"/>
              </a:rPr>
              <a:t>Navier-Stokes</a:t>
            </a:r>
            <a:r>
              <a:rPr lang="zh-CN" altLang="en-US" sz="1600" b="0" dirty="0">
                <a:solidFill>
                  <a:srgbClr val="FF0000"/>
                </a:solidFill>
                <a:latin typeface="微软雅黑" pitchFamily="34" charset="-122"/>
                <a:ea typeface="微软雅黑" pitchFamily="34" charset="-122"/>
              </a:rPr>
              <a:t>方程组</a:t>
            </a:r>
            <a:r>
              <a:rPr lang="zh-CN" altLang="en-US" sz="1600" b="0" dirty="0">
                <a:solidFill>
                  <a:schemeClr val="tx1"/>
                </a:solidFill>
                <a:latin typeface="微软雅黑" pitchFamily="34" charset="-122"/>
                <a:ea typeface="微软雅黑" pitchFamily="34" charset="-122"/>
              </a:rPr>
              <a:t>。</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2</a:t>
            </a:r>
            <a:r>
              <a:rPr lang="zh-CN" altLang="en-US" sz="1600" b="0" dirty="0">
                <a:solidFill>
                  <a:schemeClr val="tx1"/>
                </a:solidFill>
                <a:latin typeface="微软雅黑" pitchFamily="34" charset="-122"/>
                <a:ea typeface="微软雅黑" pitchFamily="34" charset="-122"/>
              </a:rPr>
              <a:t>、研究基于狄拉克函数的性质，选取合适的光滑核函数取代函数，实现函数积分表示的</a:t>
            </a:r>
            <a:r>
              <a:rPr lang="zh-CN" altLang="en-US" sz="1600" b="0" dirty="0">
                <a:solidFill>
                  <a:srgbClr val="FF0000"/>
                </a:solidFill>
                <a:latin typeface="微软雅黑" pitchFamily="34" charset="-122"/>
                <a:ea typeface="微软雅黑" pitchFamily="34" charset="-122"/>
              </a:rPr>
              <a:t>核近似法</a:t>
            </a:r>
            <a:r>
              <a:rPr lang="zh-CN" altLang="en-US" sz="1600" b="0" dirty="0">
                <a:solidFill>
                  <a:schemeClr val="tx1"/>
                </a:solidFill>
                <a:latin typeface="微软雅黑" pitchFamily="34" charset="-122"/>
                <a:ea typeface="微软雅黑" pitchFamily="34" charset="-122"/>
              </a:rPr>
              <a:t>。</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3</a:t>
            </a:r>
            <a:r>
              <a:rPr lang="zh-CN" altLang="en-US" sz="1600" b="0" dirty="0">
                <a:solidFill>
                  <a:schemeClr val="tx1"/>
                </a:solidFill>
                <a:latin typeface="微软雅黑" pitchFamily="34" charset="-122"/>
                <a:ea typeface="微软雅黑" pitchFamily="34" charset="-122"/>
              </a:rPr>
              <a:t>、研究将连续积分表示式转化为支持域内所有粒子叠加求和的离散化形式的</a:t>
            </a:r>
            <a:r>
              <a:rPr lang="en-US" altLang="zh-CN" sz="1600" b="0" dirty="0">
                <a:solidFill>
                  <a:srgbClr val="FF0000"/>
                </a:solidFill>
                <a:latin typeface="微软雅黑" pitchFamily="34" charset="-122"/>
                <a:ea typeface="微软雅黑" pitchFamily="34" charset="-122"/>
              </a:rPr>
              <a:t>SPH</a:t>
            </a:r>
            <a:r>
              <a:rPr lang="zh-CN" altLang="en-US" sz="1600" b="0" dirty="0">
                <a:solidFill>
                  <a:srgbClr val="FF0000"/>
                </a:solidFill>
                <a:latin typeface="微软雅黑" pitchFamily="34" charset="-122"/>
                <a:ea typeface="微软雅黑" pitchFamily="34" charset="-122"/>
              </a:rPr>
              <a:t>粒子近似算法</a:t>
            </a:r>
            <a:r>
              <a:rPr lang="zh-CN" altLang="en-US" sz="1600" b="0" dirty="0">
                <a:solidFill>
                  <a:schemeClr val="tx1"/>
                </a:solidFill>
                <a:latin typeface="微软雅黑" pitchFamily="34" charset="-122"/>
                <a:ea typeface="微软雅黑" pitchFamily="34" charset="-122"/>
              </a:rPr>
              <a:t>。</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4</a:t>
            </a:r>
            <a:r>
              <a:rPr lang="zh-CN" altLang="en-US" sz="1600" b="0" dirty="0">
                <a:solidFill>
                  <a:schemeClr val="tx1"/>
                </a:solidFill>
                <a:latin typeface="微软雅黑" pitchFamily="34" charset="-122"/>
                <a:ea typeface="微软雅黑" pitchFamily="34" charset="-122"/>
              </a:rPr>
              <a:t>、研究通过</a:t>
            </a:r>
            <a:r>
              <a:rPr lang="zh-CN" altLang="en-US" sz="1600" b="0" dirty="0">
                <a:solidFill>
                  <a:srgbClr val="FF0000"/>
                </a:solidFill>
                <a:latin typeface="微软雅黑" pitchFamily="34" charset="-122"/>
                <a:ea typeface="微软雅黑" pitchFamily="34" charset="-122"/>
              </a:rPr>
              <a:t>人工粘度</a:t>
            </a:r>
            <a:r>
              <a:rPr lang="zh-CN" altLang="en-US" sz="1600" b="0" dirty="0">
                <a:solidFill>
                  <a:schemeClr val="tx1"/>
                </a:solidFill>
                <a:latin typeface="微软雅黑" pitchFamily="34" charset="-122"/>
                <a:ea typeface="微软雅黑" pitchFamily="34" charset="-122"/>
              </a:rPr>
              <a:t>减小求解域内非物理震荡的方法，引入</a:t>
            </a:r>
            <a:r>
              <a:rPr lang="zh-CN" altLang="en-US" sz="1600" b="0" dirty="0">
                <a:solidFill>
                  <a:srgbClr val="FF0000"/>
                </a:solidFill>
                <a:latin typeface="微软雅黑" pitchFamily="34" charset="-122"/>
                <a:ea typeface="微软雅黑" pitchFamily="34" charset="-122"/>
              </a:rPr>
              <a:t>人工压缩率</a:t>
            </a:r>
            <a:r>
              <a:rPr lang="zh-CN" altLang="en-US" sz="1600" b="0" dirty="0">
                <a:solidFill>
                  <a:schemeClr val="tx1"/>
                </a:solidFill>
                <a:latin typeface="微软雅黑" pitchFamily="34" charset="-122"/>
                <a:ea typeface="微软雅黑" pitchFamily="34" charset="-122"/>
              </a:rPr>
              <a:t>求解压力对时间的导数。</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5</a:t>
            </a:r>
            <a:r>
              <a:rPr lang="zh-CN" altLang="en-US" sz="1600" b="0" dirty="0">
                <a:solidFill>
                  <a:schemeClr val="tx1"/>
                </a:solidFill>
                <a:latin typeface="微软雅黑" pitchFamily="34" charset="-122"/>
                <a:ea typeface="微软雅黑" pitchFamily="34" charset="-122"/>
              </a:rPr>
              <a:t>、研究如何对离散换的</a:t>
            </a:r>
            <a:r>
              <a:rPr lang="en-US" altLang="zh-CN" sz="1600" b="0" dirty="0">
                <a:solidFill>
                  <a:schemeClr val="tx1"/>
                </a:solidFill>
                <a:latin typeface="微软雅黑" pitchFamily="34" charset="-122"/>
                <a:ea typeface="微软雅黑" pitchFamily="34" charset="-122"/>
              </a:rPr>
              <a:t>SPH</a:t>
            </a:r>
            <a:r>
              <a:rPr lang="zh-CN" altLang="en-US" sz="1600" b="0" dirty="0">
                <a:solidFill>
                  <a:schemeClr val="tx1"/>
                </a:solidFill>
                <a:latin typeface="微软雅黑" pitchFamily="34" charset="-122"/>
                <a:ea typeface="微软雅黑" pitchFamily="34" charset="-122"/>
              </a:rPr>
              <a:t>方程进行积分，</a:t>
            </a:r>
            <a:r>
              <a:rPr lang="zh-CN" altLang="en-US" sz="1600" b="0" dirty="0">
                <a:solidFill>
                  <a:srgbClr val="FF0000"/>
                </a:solidFill>
                <a:latin typeface="微软雅黑" pitchFamily="34" charset="-122"/>
                <a:ea typeface="微软雅黑" pitchFamily="34" charset="-122"/>
              </a:rPr>
              <a:t>临界时间步长</a:t>
            </a:r>
            <a:r>
              <a:rPr lang="zh-CN" altLang="en-US" sz="1600" b="0" dirty="0">
                <a:solidFill>
                  <a:schemeClr val="tx1"/>
                </a:solidFill>
                <a:latin typeface="微软雅黑" pitchFamily="34" charset="-122"/>
                <a:ea typeface="微软雅黑" pitchFamily="34" charset="-122"/>
              </a:rPr>
              <a:t>的选取。</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6</a:t>
            </a:r>
            <a:r>
              <a:rPr lang="zh-CN" altLang="en-US" sz="1600" b="0" dirty="0">
                <a:solidFill>
                  <a:schemeClr val="tx1"/>
                </a:solidFill>
                <a:latin typeface="微软雅黑" pitchFamily="34" charset="-122"/>
                <a:ea typeface="微软雅黑" pitchFamily="34" charset="-122"/>
              </a:rPr>
              <a:t>、研究计算相关粒子在支持域中包含的有限粒子</a:t>
            </a:r>
            <a:r>
              <a:rPr lang="zh-CN" altLang="en-US" sz="1600" b="0" dirty="0">
                <a:solidFill>
                  <a:srgbClr val="FF0000"/>
                </a:solidFill>
                <a:latin typeface="微软雅黑" pitchFamily="34" charset="-122"/>
                <a:ea typeface="微软雅黑" pitchFamily="34" charset="-122"/>
              </a:rPr>
              <a:t>最近相邻粒子搜索算法</a:t>
            </a:r>
            <a:r>
              <a:rPr lang="zh-CN" altLang="en-US" sz="1600" b="0" dirty="0">
                <a:solidFill>
                  <a:schemeClr val="tx1"/>
                </a:solidFill>
                <a:latin typeface="微软雅黑" pitchFamily="34" charset="-122"/>
                <a:ea typeface="微软雅黑" pitchFamily="34" charset="-122"/>
              </a:rPr>
              <a:t>。</a:t>
            </a:r>
          </a:p>
        </p:txBody>
      </p:sp>
      <p:sp>
        <p:nvSpPr>
          <p:cNvPr id="2" name="Text Box 21">
            <a:extLst>
              <a:ext uri="{FF2B5EF4-FFF2-40B4-BE49-F238E27FC236}">
                <a16:creationId xmlns:a16="http://schemas.microsoft.com/office/drawing/2014/main" id="{946C8909-46EF-401B-AABA-041E26E98214}"/>
              </a:ext>
            </a:extLst>
          </p:cNvPr>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二、研究内容和目标</a:t>
            </a:r>
          </a:p>
        </p:txBody>
      </p:sp>
      <p:sp>
        <p:nvSpPr>
          <p:cNvPr id="3" name="灯片编号占位符 2">
            <a:extLst>
              <a:ext uri="{FF2B5EF4-FFF2-40B4-BE49-F238E27FC236}">
                <a16:creationId xmlns:a16="http://schemas.microsoft.com/office/drawing/2014/main" id="{66A75DE3-A0FF-5886-1424-1A7591881940}"/>
              </a:ext>
            </a:extLst>
          </p:cNvPr>
          <p:cNvSpPr>
            <a:spLocks noGrp="1"/>
          </p:cNvSpPr>
          <p:nvPr>
            <p:ph type="sldNum" sz="quarter" idx="12"/>
          </p:nvPr>
        </p:nvSpPr>
        <p:spPr/>
        <p:txBody>
          <a:bodyPr/>
          <a:lstStyle/>
          <a:p>
            <a:pPr>
              <a:defRPr/>
            </a:pPr>
            <a:fld id="{8E7F6652-62A1-454F-81FD-501A0D85DAEF}" type="slidenum">
              <a:rPr lang="en-US" altLang="zh-CN" smtClean="0"/>
              <a:pPr>
                <a:defRPr/>
              </a:pPr>
              <a:t>15</a:t>
            </a:fld>
            <a:endParaRPr lang="en-US" altLang="zh-CN"/>
          </a:p>
        </p:txBody>
      </p:sp>
    </p:spTree>
    <p:extLst>
      <p:ext uri="{BB962C8B-B14F-4D97-AF65-F5344CB8AC3E}">
        <p14:creationId xmlns:p14="http://schemas.microsoft.com/office/powerpoint/2010/main" val="16747307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2.2. </a:t>
            </a:r>
            <a:r>
              <a:rPr lang="zh-CN" altLang="en-US" b="0" dirty="0">
                <a:latin typeface="微软雅黑" pitchFamily="34" charset="-122"/>
                <a:ea typeface="微软雅黑" pitchFamily="34" charset="-122"/>
              </a:rPr>
              <a:t>研究内容</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202516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3</a:t>
            </a: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FDEM-SPH</a:t>
            </a:r>
            <a:r>
              <a:rPr lang="zh-CN" altLang="en-US" sz="2000" dirty="0">
                <a:solidFill>
                  <a:schemeClr val="tx1"/>
                </a:solidFill>
                <a:latin typeface="微软雅黑" pitchFamily="34" charset="-122"/>
                <a:ea typeface="微软雅黑" pitchFamily="34" charset="-122"/>
              </a:rPr>
              <a:t>耦合算法</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1</a:t>
            </a:r>
            <a:r>
              <a:rPr lang="zh-CN" altLang="en-US" sz="1600" b="0" dirty="0">
                <a:solidFill>
                  <a:schemeClr val="tx1"/>
                </a:solidFill>
                <a:latin typeface="微软雅黑" pitchFamily="34" charset="-122"/>
                <a:ea typeface="微软雅黑" pitchFamily="34" charset="-122"/>
              </a:rPr>
              <a:t>、研究</a:t>
            </a:r>
            <a:r>
              <a:rPr lang="zh-CN" altLang="en-US" sz="1600" b="0" dirty="0">
                <a:solidFill>
                  <a:srgbClr val="FF0000"/>
                </a:solidFill>
                <a:latin typeface="微软雅黑" pitchFamily="34" charset="-122"/>
                <a:ea typeface="微软雅黑" pitchFamily="34" charset="-122"/>
              </a:rPr>
              <a:t>补偿边界</a:t>
            </a:r>
            <a:r>
              <a:rPr lang="zh-CN" altLang="en-US" sz="1600" b="0" dirty="0">
                <a:solidFill>
                  <a:schemeClr val="tx1"/>
                </a:solidFill>
                <a:latin typeface="微软雅黑" pitchFamily="34" charset="-122"/>
                <a:ea typeface="微软雅黑" pitchFamily="34" charset="-122"/>
              </a:rPr>
              <a:t>粒子缺陷问题的方案。</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2</a:t>
            </a:r>
            <a:r>
              <a:rPr lang="zh-CN" altLang="en-US" sz="1600" b="0" dirty="0">
                <a:solidFill>
                  <a:schemeClr val="tx1"/>
                </a:solidFill>
                <a:latin typeface="微软雅黑" pitchFamily="34" charset="-122"/>
                <a:ea typeface="微软雅黑" pitchFamily="34" charset="-122"/>
              </a:rPr>
              <a:t>、研究对边界</a:t>
            </a:r>
            <a:r>
              <a:rPr lang="zh-CN" altLang="en-US" sz="1600" b="0" dirty="0">
                <a:solidFill>
                  <a:srgbClr val="FF0000"/>
                </a:solidFill>
                <a:latin typeface="微软雅黑" pitchFamily="34" charset="-122"/>
                <a:ea typeface="微软雅黑" pitchFamily="34" charset="-122"/>
              </a:rPr>
              <a:t>虚粒子</a:t>
            </a:r>
            <a:r>
              <a:rPr lang="zh-CN" altLang="en-US" sz="1600" b="0" dirty="0">
                <a:solidFill>
                  <a:schemeClr val="tx1"/>
                </a:solidFill>
                <a:latin typeface="微软雅黑" pitchFamily="34" charset="-122"/>
                <a:ea typeface="微软雅黑" pitchFamily="34" charset="-122"/>
              </a:rPr>
              <a:t>添加</a:t>
            </a:r>
            <a:r>
              <a:rPr lang="zh-CN" altLang="en-US" sz="1600" b="0" dirty="0">
                <a:solidFill>
                  <a:srgbClr val="FF0000"/>
                </a:solidFill>
                <a:latin typeface="微软雅黑" pitchFamily="34" charset="-122"/>
                <a:ea typeface="微软雅黑" pitchFamily="34" charset="-122"/>
              </a:rPr>
              <a:t>排斥力</a:t>
            </a:r>
            <a:r>
              <a:rPr lang="zh-CN" altLang="en-US" sz="1600" b="0" dirty="0">
                <a:solidFill>
                  <a:schemeClr val="tx1"/>
                </a:solidFill>
                <a:latin typeface="微软雅黑" pitchFamily="34" charset="-122"/>
                <a:ea typeface="微软雅黑" pitchFamily="34" charset="-122"/>
              </a:rPr>
              <a:t>的算法，防止内部粒子穿透并补偿边界缺陷。</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3</a:t>
            </a:r>
            <a:r>
              <a:rPr lang="zh-CN" altLang="en-US" sz="1600" b="0" dirty="0">
                <a:solidFill>
                  <a:schemeClr val="tx1"/>
                </a:solidFill>
                <a:latin typeface="微软雅黑" pitchFamily="34" charset="-122"/>
                <a:ea typeface="微软雅黑" pitchFamily="34" charset="-122"/>
              </a:rPr>
              <a:t>、研究</a:t>
            </a:r>
            <a:r>
              <a:rPr lang="zh-CN" altLang="en-US" sz="1600" b="0" dirty="0">
                <a:solidFill>
                  <a:srgbClr val="FF0000"/>
                </a:solidFill>
                <a:latin typeface="微软雅黑" pitchFamily="34" charset="-122"/>
                <a:ea typeface="微软雅黑" pitchFamily="34" charset="-122"/>
              </a:rPr>
              <a:t>动态边界条件</a:t>
            </a:r>
            <a:r>
              <a:rPr lang="zh-CN" altLang="en-US" sz="1600" b="0" dirty="0">
                <a:solidFill>
                  <a:schemeClr val="tx1"/>
                </a:solidFill>
                <a:latin typeface="微软雅黑" pitchFamily="34" charset="-122"/>
                <a:ea typeface="微软雅黑" pitchFamily="34" charset="-122"/>
              </a:rPr>
              <a:t>及其实现方式，提高边界附近粒子的计算精度。</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4</a:t>
            </a:r>
            <a:r>
              <a:rPr lang="zh-CN" altLang="en-US" sz="1600" b="0" dirty="0">
                <a:solidFill>
                  <a:schemeClr val="tx1"/>
                </a:solidFill>
                <a:latin typeface="微软雅黑" pitchFamily="34" charset="-122"/>
                <a:ea typeface="微软雅黑" pitchFamily="34" charset="-122"/>
              </a:rPr>
              <a:t>、研究流作用面的检测算法，将</a:t>
            </a:r>
            <a:r>
              <a:rPr lang="en-US" altLang="zh-CN" sz="1600" b="0" dirty="0">
                <a:solidFill>
                  <a:schemeClr val="tx1"/>
                </a:solidFill>
                <a:latin typeface="微软雅黑" pitchFamily="34" charset="-122"/>
                <a:ea typeface="微软雅黑" pitchFamily="34" charset="-122"/>
              </a:rPr>
              <a:t>SPH</a:t>
            </a:r>
            <a:r>
              <a:rPr lang="zh-CN" altLang="en-US" sz="1600" b="0" dirty="0">
                <a:solidFill>
                  <a:srgbClr val="FF0000"/>
                </a:solidFill>
                <a:latin typeface="微软雅黑" pitchFamily="34" charset="-122"/>
                <a:ea typeface="微软雅黑" pitchFamily="34" charset="-122"/>
              </a:rPr>
              <a:t>流体粒子压力</a:t>
            </a:r>
            <a:r>
              <a:rPr lang="zh-CN" altLang="en-US" sz="1600" b="0" dirty="0">
                <a:solidFill>
                  <a:schemeClr val="tx1"/>
                </a:solidFill>
                <a:latin typeface="微软雅黑" pitchFamily="34" charset="-122"/>
                <a:ea typeface="微软雅黑" pitchFamily="34" charset="-122"/>
              </a:rPr>
              <a:t>添加到</a:t>
            </a:r>
            <a:r>
              <a:rPr lang="en-US" altLang="zh-CN" sz="1600" b="0" dirty="0">
                <a:solidFill>
                  <a:schemeClr val="tx1"/>
                </a:solidFill>
                <a:latin typeface="微软雅黑" pitchFamily="34" charset="-122"/>
                <a:ea typeface="微软雅黑" pitchFamily="34" charset="-122"/>
              </a:rPr>
              <a:t>FDEM</a:t>
            </a:r>
            <a:r>
              <a:rPr lang="zh-CN" altLang="en-US" sz="1600" b="0" dirty="0">
                <a:solidFill>
                  <a:schemeClr val="tx1"/>
                </a:solidFill>
                <a:latin typeface="微软雅黑" pitchFamily="34" charset="-122"/>
                <a:ea typeface="微软雅黑" pitchFamily="34" charset="-122"/>
              </a:rPr>
              <a:t>控制方程中。</a:t>
            </a:r>
          </a:p>
        </p:txBody>
      </p:sp>
      <p:sp>
        <p:nvSpPr>
          <p:cNvPr id="3" name="Text Box 21">
            <a:extLst>
              <a:ext uri="{FF2B5EF4-FFF2-40B4-BE49-F238E27FC236}">
                <a16:creationId xmlns:a16="http://schemas.microsoft.com/office/drawing/2014/main" id="{16CDA4CB-7198-680E-50D0-6C3044498B53}"/>
              </a:ext>
            </a:extLst>
          </p:cNvPr>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二、研究内容和目标</a:t>
            </a:r>
          </a:p>
        </p:txBody>
      </p:sp>
      <p:sp>
        <p:nvSpPr>
          <p:cNvPr id="2" name="同侧圆角矩形 4">
            <a:extLst>
              <a:ext uri="{FF2B5EF4-FFF2-40B4-BE49-F238E27FC236}">
                <a16:creationId xmlns:a16="http://schemas.microsoft.com/office/drawing/2014/main" id="{588D4D36-2511-0500-0CCA-4A5D62EDB506}"/>
              </a:ext>
            </a:extLst>
          </p:cNvPr>
          <p:cNvSpPr/>
          <p:nvPr/>
        </p:nvSpPr>
        <p:spPr>
          <a:xfrm>
            <a:off x="642942" y="4230024"/>
            <a:ext cx="7889498" cy="201520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4</a:t>
            </a:r>
            <a:r>
              <a:rPr lang="zh-CN" altLang="en-US" sz="2000" dirty="0">
                <a:solidFill>
                  <a:schemeClr val="tx1"/>
                </a:solidFill>
                <a:latin typeface="微软雅黑" pitchFamily="34" charset="-122"/>
                <a:ea typeface="微软雅黑" pitchFamily="34" charset="-122"/>
              </a:rPr>
              <a:t>）验证及工程应用</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1</a:t>
            </a:r>
            <a:r>
              <a:rPr lang="zh-CN" altLang="en-US" sz="1600" b="0" dirty="0">
                <a:solidFill>
                  <a:schemeClr val="tx1"/>
                </a:solidFill>
                <a:latin typeface="微软雅黑" pitchFamily="34" charset="-122"/>
                <a:ea typeface="微软雅黑" pitchFamily="34" charset="-122"/>
              </a:rPr>
              <a:t>、设计</a:t>
            </a:r>
            <a:r>
              <a:rPr lang="zh-CN" altLang="en-US" sz="1600" b="0" dirty="0">
                <a:solidFill>
                  <a:srgbClr val="FF0000"/>
                </a:solidFill>
                <a:latin typeface="微软雅黑" pitchFamily="34" charset="-122"/>
                <a:ea typeface="微软雅黑" pitchFamily="34" charset="-122"/>
              </a:rPr>
              <a:t>验证算例</a:t>
            </a:r>
            <a:r>
              <a:rPr lang="zh-CN" altLang="en-US" sz="1600" b="0" dirty="0">
                <a:solidFill>
                  <a:schemeClr val="tx1"/>
                </a:solidFill>
                <a:latin typeface="微软雅黑" pitchFamily="34" charset="-122"/>
                <a:ea typeface="微软雅黑" pitchFamily="34" charset="-122"/>
              </a:rPr>
              <a:t>，将模拟结果和理论解、其它软件模拟结果、室内试验等对比，验证提出的算法的可靠性。</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2</a:t>
            </a:r>
            <a:r>
              <a:rPr lang="zh-CN" altLang="en-US" sz="1600" b="0" dirty="0">
                <a:solidFill>
                  <a:schemeClr val="tx1"/>
                </a:solidFill>
                <a:latin typeface="微软雅黑" pitchFamily="34" charset="-122"/>
                <a:ea typeface="微软雅黑" pitchFamily="34" charset="-122"/>
              </a:rPr>
              <a:t>、研究基于新节理单元本构的岩石微观物理力学</a:t>
            </a:r>
            <a:r>
              <a:rPr lang="zh-CN" altLang="en-US" sz="1600" b="0" dirty="0">
                <a:solidFill>
                  <a:srgbClr val="FF0000"/>
                </a:solidFill>
                <a:latin typeface="微软雅黑" pitchFamily="34" charset="-122"/>
                <a:ea typeface="微软雅黑" pitchFamily="34" charset="-122"/>
              </a:rPr>
              <a:t>参数标定</a:t>
            </a:r>
            <a:r>
              <a:rPr lang="zh-CN" altLang="en-US" sz="1600" b="0" dirty="0">
                <a:solidFill>
                  <a:schemeClr val="tx1"/>
                </a:solidFill>
                <a:latin typeface="微软雅黑" pitchFamily="34" charset="-122"/>
                <a:ea typeface="微软雅黑" pitchFamily="34" charset="-122"/>
              </a:rPr>
              <a:t>方法。</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3</a:t>
            </a:r>
            <a:r>
              <a:rPr lang="zh-CN" altLang="en-US" sz="1600" b="0" dirty="0">
                <a:solidFill>
                  <a:schemeClr val="tx1"/>
                </a:solidFill>
                <a:latin typeface="微软雅黑" pitchFamily="34" charset="-122"/>
                <a:ea typeface="微软雅黑" pitchFamily="34" charset="-122"/>
              </a:rPr>
              <a:t>、模拟</a:t>
            </a:r>
            <a:r>
              <a:rPr lang="zh-CN" altLang="en-US" sz="1600" b="0" dirty="0">
                <a:solidFill>
                  <a:srgbClr val="FF0000"/>
                </a:solidFill>
                <a:latin typeface="微软雅黑" pitchFamily="34" charset="-122"/>
                <a:ea typeface="微软雅黑" pitchFamily="34" charset="-122"/>
              </a:rPr>
              <a:t>涌浪</a:t>
            </a:r>
            <a:r>
              <a:rPr lang="zh-CN" altLang="en-US" sz="1600" b="0" dirty="0">
                <a:solidFill>
                  <a:schemeClr val="tx1"/>
                </a:solidFill>
                <a:latin typeface="微软雅黑" pitchFamily="34" charset="-122"/>
                <a:ea typeface="微软雅黑" pitchFamily="34" charset="-122"/>
              </a:rPr>
              <a:t>对岸边建</a:t>
            </a:r>
            <a:r>
              <a:rPr lang="en-US" altLang="zh-CN" sz="1600" b="0" dirty="0">
                <a:solidFill>
                  <a:schemeClr val="tx1"/>
                </a:solidFill>
                <a:latin typeface="微软雅黑" pitchFamily="34" charset="-122"/>
                <a:ea typeface="微软雅黑" pitchFamily="34" charset="-122"/>
              </a:rPr>
              <a:t>/</a:t>
            </a:r>
            <a:r>
              <a:rPr lang="zh-CN" altLang="en-US" sz="1600" b="0" dirty="0">
                <a:solidFill>
                  <a:schemeClr val="tx1"/>
                </a:solidFill>
                <a:latin typeface="微软雅黑" pitchFamily="34" charset="-122"/>
                <a:ea typeface="微软雅黑" pitchFamily="34" charset="-122"/>
              </a:rPr>
              <a:t>构筑物的影响，验证程序在实际工程应用中的可靠性。</a:t>
            </a:r>
          </a:p>
        </p:txBody>
      </p:sp>
      <p:sp>
        <p:nvSpPr>
          <p:cNvPr id="4" name="灯片编号占位符 3">
            <a:extLst>
              <a:ext uri="{FF2B5EF4-FFF2-40B4-BE49-F238E27FC236}">
                <a16:creationId xmlns:a16="http://schemas.microsoft.com/office/drawing/2014/main" id="{C1ACDC1C-1BCB-7008-2BF2-35E029B34CBC}"/>
              </a:ext>
            </a:extLst>
          </p:cNvPr>
          <p:cNvSpPr>
            <a:spLocks noGrp="1"/>
          </p:cNvSpPr>
          <p:nvPr>
            <p:ph type="sldNum" sz="quarter" idx="12"/>
          </p:nvPr>
        </p:nvSpPr>
        <p:spPr/>
        <p:txBody>
          <a:bodyPr/>
          <a:lstStyle/>
          <a:p>
            <a:pPr>
              <a:defRPr/>
            </a:pPr>
            <a:fld id="{8E7F6652-62A1-454F-81FD-501A0D85DAEF}" type="slidenum">
              <a:rPr lang="en-US" altLang="zh-CN" smtClean="0"/>
              <a:pPr>
                <a:defRPr/>
              </a:pPr>
              <a:t>16</a:t>
            </a:fld>
            <a:endParaRPr lang="en-US" altLang="zh-CN"/>
          </a:p>
        </p:txBody>
      </p:sp>
    </p:spTree>
    <p:extLst>
      <p:ext uri="{BB962C8B-B14F-4D97-AF65-F5344CB8AC3E}">
        <p14:creationId xmlns:p14="http://schemas.microsoft.com/office/powerpoint/2010/main" val="39046294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2.3. </a:t>
            </a:r>
            <a:r>
              <a:rPr lang="zh-CN" altLang="en-US" b="0" dirty="0">
                <a:latin typeface="微软雅黑" pitchFamily="34" charset="-122"/>
                <a:ea typeface="微软雅黑" pitchFamily="34" charset="-122"/>
              </a:rPr>
              <a:t>拟解决的关键科学问题</a:t>
            </a:r>
          </a:p>
        </p:txBody>
      </p:sp>
      <p:sp>
        <p:nvSpPr>
          <p:cNvPr id="6" name="同侧圆角矩形 4"/>
          <p:cNvSpPr/>
          <p:nvPr/>
        </p:nvSpPr>
        <p:spPr>
          <a:xfrm>
            <a:off x="642942" y="1988840"/>
            <a:ext cx="7889498" cy="360040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本课题以</a:t>
            </a:r>
            <a:r>
              <a:rPr lang="zh-CN" altLang="en-US" sz="2000" b="0" dirty="0">
                <a:solidFill>
                  <a:srgbClr val="FF0000"/>
                </a:solidFill>
                <a:latin typeface="微软雅黑" pitchFamily="34" charset="-122"/>
                <a:ea typeface="微软雅黑" pitchFamily="34" charset="-122"/>
              </a:rPr>
              <a:t>有限</a:t>
            </a:r>
            <a:r>
              <a:rPr lang="en-US" altLang="zh-CN" sz="2000" b="0" dirty="0">
                <a:solidFill>
                  <a:srgbClr val="FF0000"/>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离散元法</a:t>
            </a:r>
            <a:r>
              <a:rPr lang="zh-CN" altLang="en-US" sz="2000" b="0" dirty="0">
                <a:solidFill>
                  <a:schemeClr val="tx1"/>
                </a:solidFill>
                <a:latin typeface="微软雅黑" pitchFamily="34" charset="-122"/>
                <a:ea typeface="微软雅黑" pitchFamily="34" charset="-122"/>
              </a:rPr>
              <a:t>为基础，修正力学模块的节理单元本构模型，开发</a:t>
            </a:r>
            <a:r>
              <a:rPr lang="zh-CN" altLang="en-US" sz="2000" b="0" dirty="0">
                <a:solidFill>
                  <a:srgbClr val="FF0000"/>
                </a:solidFill>
                <a:latin typeface="微软雅黑" pitchFamily="34" charset="-122"/>
                <a:ea typeface="微软雅黑" pitchFamily="34" charset="-122"/>
              </a:rPr>
              <a:t>光滑粒子流体动力学</a:t>
            </a:r>
            <a:r>
              <a:rPr lang="zh-CN" altLang="en-US" sz="2000" b="0" dirty="0">
                <a:solidFill>
                  <a:schemeClr val="tx1"/>
                </a:solidFill>
                <a:latin typeface="微软雅黑" pitchFamily="34" charset="-122"/>
                <a:ea typeface="微软雅黑" pitchFamily="34" charset="-122"/>
              </a:rPr>
              <a:t>模块，并将</a:t>
            </a: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与</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进行耦合，采用</a:t>
            </a:r>
            <a:r>
              <a:rPr lang="zh-CN" altLang="en-US" sz="2000" b="0" dirty="0">
                <a:solidFill>
                  <a:srgbClr val="FF0000"/>
                </a:solidFill>
                <a:latin typeface="微软雅黑" pitchFamily="34" charset="-122"/>
                <a:ea typeface="微软雅黑" pitchFamily="34" charset="-122"/>
              </a:rPr>
              <a:t>理论分析</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算法设计</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程序开发</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算例验证</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工程模拟应用</a:t>
            </a:r>
            <a:r>
              <a:rPr lang="zh-CN" altLang="en-US" sz="2000" b="0" dirty="0">
                <a:solidFill>
                  <a:schemeClr val="tx1"/>
                </a:solidFill>
                <a:latin typeface="微软雅黑" pitchFamily="34" charset="-122"/>
                <a:ea typeface="微软雅黑" pitchFamily="34" charset="-122"/>
              </a:rPr>
              <a:t>等相结合的方法，主要解决以下关键科学问题：</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1</a:t>
            </a:r>
            <a:r>
              <a:rPr lang="zh-CN" altLang="en-US" sz="2000" b="0" dirty="0">
                <a:solidFill>
                  <a:schemeClr val="tx1"/>
                </a:solidFill>
                <a:latin typeface="微软雅黑" pitchFamily="34" charset="-122"/>
                <a:ea typeface="微软雅黑" pitchFamily="34" charset="-122"/>
              </a:rPr>
              <a:t>）未断裂节理单元</a:t>
            </a:r>
            <a:r>
              <a:rPr lang="zh-CN" altLang="en-US" sz="2000" b="0" dirty="0">
                <a:solidFill>
                  <a:srgbClr val="FF0000"/>
                </a:solidFill>
                <a:latin typeface="微软雅黑" pitchFamily="34" charset="-122"/>
                <a:ea typeface="微软雅黑" pitchFamily="34" charset="-122"/>
              </a:rPr>
              <a:t>断裂模型</a:t>
            </a:r>
            <a:r>
              <a:rPr lang="zh-CN" altLang="en-US" sz="2000" b="0" dirty="0">
                <a:solidFill>
                  <a:schemeClr val="tx1"/>
                </a:solidFill>
                <a:latin typeface="微软雅黑" pitchFamily="34" charset="-122"/>
                <a:ea typeface="微软雅黑" pitchFamily="34" charset="-122"/>
              </a:rPr>
              <a:t>及已断裂节理单元</a:t>
            </a:r>
            <a:r>
              <a:rPr lang="zh-CN" altLang="en-US" sz="2000" b="0" dirty="0">
                <a:solidFill>
                  <a:srgbClr val="FF0000"/>
                </a:solidFill>
                <a:latin typeface="微软雅黑" pitchFamily="34" charset="-122"/>
                <a:ea typeface="微软雅黑" pitchFamily="34" charset="-122"/>
              </a:rPr>
              <a:t>作用力</a:t>
            </a:r>
            <a:r>
              <a:rPr lang="zh-CN" altLang="en-US" sz="2000" b="0" dirty="0">
                <a:solidFill>
                  <a:schemeClr val="tx1"/>
                </a:solidFill>
                <a:latin typeface="微软雅黑" pitchFamily="34" charset="-122"/>
                <a:ea typeface="微软雅黑" pitchFamily="34" charset="-122"/>
              </a:rPr>
              <a:t>算法。</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2</a:t>
            </a:r>
            <a:r>
              <a:rPr lang="zh-CN" altLang="en-US" sz="2000" b="0" dirty="0">
                <a:solidFill>
                  <a:schemeClr val="tx1"/>
                </a:solidFill>
                <a:latin typeface="微软雅黑" pitchFamily="34" charset="-122"/>
                <a:ea typeface="微软雅黑" pitchFamily="34" charset="-122"/>
              </a:rPr>
              <a:t>）新本构下岩石试样微观力学</a:t>
            </a:r>
            <a:r>
              <a:rPr lang="zh-CN" altLang="en-US" sz="2000" b="0" dirty="0">
                <a:solidFill>
                  <a:srgbClr val="FF0000"/>
                </a:solidFill>
                <a:latin typeface="微软雅黑" pitchFamily="34" charset="-122"/>
                <a:ea typeface="微软雅黑" pitchFamily="34" charset="-122"/>
              </a:rPr>
              <a:t>参数标定</a:t>
            </a:r>
            <a:r>
              <a:rPr lang="zh-CN" altLang="en-US" sz="2000" b="0" dirty="0">
                <a:solidFill>
                  <a:schemeClr val="tx1"/>
                </a:solidFill>
                <a:latin typeface="微软雅黑" pitchFamily="34" charset="-122"/>
                <a:ea typeface="微软雅黑" pitchFamily="34" charset="-122"/>
              </a:rPr>
              <a:t>。</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3</a:t>
            </a:r>
            <a:r>
              <a:rPr lang="zh-CN" altLang="en-US" sz="2000" b="0" dirty="0">
                <a:solidFill>
                  <a:schemeClr val="tx1"/>
                </a:solidFill>
                <a:latin typeface="微软雅黑" pitchFamily="34" charset="-122"/>
                <a:ea typeface="微软雅黑" pitchFamily="34" charset="-122"/>
              </a:rPr>
              <a:t>）光滑粒子流体动力学基础算法和</a:t>
            </a:r>
            <a:r>
              <a:rPr lang="en-US" altLang="zh-CN" sz="2000" b="0" dirty="0">
                <a:solidFill>
                  <a:srgbClr val="FF0000"/>
                </a:solidFill>
                <a:latin typeface="微软雅黑" pitchFamily="34" charset="-122"/>
                <a:ea typeface="微软雅黑" pitchFamily="34" charset="-122"/>
              </a:rPr>
              <a:t>FDEM-SPH</a:t>
            </a:r>
            <a:r>
              <a:rPr lang="zh-CN" altLang="en-US" sz="2000" b="0" dirty="0">
                <a:solidFill>
                  <a:schemeClr val="tx1"/>
                </a:solidFill>
                <a:latin typeface="微软雅黑" pitchFamily="34" charset="-122"/>
                <a:ea typeface="微软雅黑" pitchFamily="34" charset="-122"/>
              </a:rPr>
              <a:t>耦合算法。</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4</a:t>
            </a:r>
            <a:r>
              <a:rPr lang="zh-CN" altLang="en-US" sz="2000" b="0" dirty="0">
                <a:solidFill>
                  <a:schemeClr val="tx1"/>
                </a:solidFill>
                <a:latin typeface="微软雅黑" pitchFamily="34" charset="-122"/>
                <a:ea typeface="微软雅黑" pitchFamily="34" charset="-122"/>
              </a:rPr>
              <a:t>）</a:t>
            </a:r>
            <a:r>
              <a:rPr lang="zh-CN" altLang="en-US" sz="2000" b="0" dirty="0">
                <a:solidFill>
                  <a:srgbClr val="FF0000"/>
                </a:solidFill>
                <a:latin typeface="微软雅黑" pitchFamily="34" charset="-122"/>
                <a:ea typeface="微软雅黑" pitchFamily="34" charset="-122"/>
              </a:rPr>
              <a:t>涌浪</a:t>
            </a:r>
            <a:r>
              <a:rPr lang="zh-CN" altLang="en-US" sz="2000" b="0" dirty="0">
                <a:solidFill>
                  <a:schemeClr val="tx1"/>
                </a:solidFill>
                <a:latin typeface="微软雅黑" pitchFamily="34" charset="-122"/>
                <a:ea typeface="微软雅黑" pitchFamily="34" charset="-122"/>
              </a:rPr>
              <a:t>冲击岸边建</a:t>
            </a:r>
            <a:r>
              <a:rPr lang="en-US" altLang="zh-CN" sz="2000" b="0" dirty="0">
                <a:solidFill>
                  <a:schemeClr val="tx1"/>
                </a:solidFill>
                <a:latin typeface="微软雅黑" pitchFamily="34" charset="-122"/>
                <a:ea typeface="微软雅黑" pitchFamily="34" charset="-122"/>
              </a:rPr>
              <a:t>/</a:t>
            </a:r>
            <a:r>
              <a:rPr lang="zh-CN" altLang="en-US" sz="2000" b="0" dirty="0">
                <a:solidFill>
                  <a:schemeClr val="tx1"/>
                </a:solidFill>
                <a:latin typeface="微软雅黑" pitchFamily="34" charset="-122"/>
                <a:ea typeface="微软雅黑" pitchFamily="34" charset="-122"/>
              </a:rPr>
              <a:t>构筑物的数值仿真模型。</a:t>
            </a:r>
          </a:p>
        </p:txBody>
      </p:sp>
      <p:sp>
        <p:nvSpPr>
          <p:cNvPr id="2" name="Text Box 21">
            <a:extLst>
              <a:ext uri="{FF2B5EF4-FFF2-40B4-BE49-F238E27FC236}">
                <a16:creationId xmlns:a16="http://schemas.microsoft.com/office/drawing/2014/main" id="{955A2830-0C73-8579-119D-F3E00DFE93CA}"/>
              </a:ext>
            </a:extLst>
          </p:cNvPr>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二、研究内容和目标</a:t>
            </a:r>
          </a:p>
        </p:txBody>
      </p:sp>
      <p:sp>
        <p:nvSpPr>
          <p:cNvPr id="3" name="灯片编号占位符 2">
            <a:extLst>
              <a:ext uri="{FF2B5EF4-FFF2-40B4-BE49-F238E27FC236}">
                <a16:creationId xmlns:a16="http://schemas.microsoft.com/office/drawing/2014/main" id="{4B7D9988-A569-547E-AF0E-915F4E2A568A}"/>
              </a:ext>
            </a:extLst>
          </p:cNvPr>
          <p:cNvSpPr>
            <a:spLocks noGrp="1"/>
          </p:cNvSpPr>
          <p:nvPr>
            <p:ph type="sldNum" sz="quarter" idx="12"/>
          </p:nvPr>
        </p:nvSpPr>
        <p:spPr/>
        <p:txBody>
          <a:bodyPr/>
          <a:lstStyle/>
          <a:p>
            <a:pPr>
              <a:defRPr/>
            </a:pPr>
            <a:fld id="{8E7F6652-62A1-454F-81FD-501A0D85DAEF}" type="slidenum">
              <a:rPr lang="en-US" altLang="zh-CN" smtClean="0"/>
              <a:pPr>
                <a:defRPr/>
              </a:pPr>
              <a:t>17</a:t>
            </a:fld>
            <a:endParaRPr lang="en-US" altLang="zh-CN"/>
          </a:p>
        </p:txBody>
      </p:sp>
    </p:spTree>
    <p:extLst>
      <p:ext uri="{BB962C8B-B14F-4D97-AF65-F5344CB8AC3E}">
        <p14:creationId xmlns:p14="http://schemas.microsoft.com/office/powerpoint/2010/main" val="25199686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971601" y="1486642"/>
            <a:ext cx="7200799" cy="3337837"/>
          </a:xfrm>
          <a:prstGeom prst="rect">
            <a:avLst/>
          </a:prstGeom>
          <a:solidFill>
            <a:schemeClr val="bg1"/>
          </a:solidFill>
          <a:ln w="28575" algn="ctr">
            <a:solidFill>
              <a:srgbClr val="FF3300"/>
            </a:solidFill>
            <a:miter lim="800000"/>
            <a:headEnd/>
            <a:tailEnd/>
          </a:ln>
          <a:effectLst>
            <a:outerShdw dist="161645" dir="2700000" algn="ctr" rotWithShape="0">
              <a:schemeClr val="tx2">
                <a:alpha val="50000"/>
              </a:schemeClr>
            </a:outerShdw>
          </a:effec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0"/>
              </a:spcBef>
              <a:buFontTx/>
              <a:buNone/>
            </a:pPr>
            <a:r>
              <a:rPr lang="zh-CN" altLang="en-US" dirty="0">
                <a:solidFill>
                  <a:srgbClr val="FF0000"/>
                </a:solidFill>
                <a:latin typeface="黑体" panose="02010609060101010101" pitchFamily="49" charset="-122"/>
                <a:ea typeface="黑体" panose="02010609060101010101" pitchFamily="49" charset="-122"/>
              </a:rPr>
              <a:t>一、立题依据</a:t>
            </a:r>
            <a:endParaRPr lang="en-US" altLang="zh-CN" dirty="0">
              <a:solidFill>
                <a:srgbClr val="FF0000"/>
              </a:solidFill>
              <a:latin typeface="黑体" panose="02010609060101010101" pitchFamily="49" charset="-122"/>
              <a:ea typeface="黑体" panose="02010609060101010101" pitchFamily="49" charset="-122"/>
            </a:endParaRPr>
          </a:p>
          <a:p>
            <a:pPr eaLnBrk="1" hangingPunct="1">
              <a:lnSpc>
                <a:spcPct val="180000"/>
              </a:lnSpc>
              <a:spcBef>
                <a:spcPts val="0"/>
              </a:spcBef>
              <a:buFont typeface="Monotype Sorts"/>
              <a:buNone/>
            </a:pPr>
            <a:r>
              <a:rPr lang="zh-CN" altLang="en-US" dirty="0">
                <a:solidFill>
                  <a:srgbClr val="FF0000"/>
                </a:solidFill>
                <a:latin typeface="黑体" panose="02010609060101010101" pitchFamily="49" charset="-122"/>
                <a:ea typeface="黑体" panose="02010609060101010101" pitchFamily="49" charset="-122"/>
              </a:rPr>
              <a:t>二、研究内容和目标</a:t>
            </a:r>
          </a:p>
          <a:p>
            <a:pPr eaLnBrk="1" hangingPunct="1">
              <a:lnSpc>
                <a:spcPct val="180000"/>
              </a:lnSpc>
              <a:spcBef>
                <a:spcPts val="0"/>
              </a:spcBef>
              <a:buFont typeface="Monotype Sorts"/>
              <a:buNone/>
            </a:pPr>
            <a:r>
              <a:rPr lang="zh-CN" altLang="en-US" dirty="0">
                <a:solidFill>
                  <a:srgbClr val="FF0000"/>
                </a:solidFill>
                <a:highlight>
                  <a:srgbClr val="FFFF00"/>
                </a:highlight>
                <a:latin typeface="黑体" panose="02010609060101010101" pitchFamily="49" charset="-122"/>
                <a:ea typeface="黑体" panose="02010609060101010101" pitchFamily="49" charset="-122"/>
              </a:rPr>
              <a:t>三、研究方案设计及可行性分析</a:t>
            </a:r>
            <a:endParaRPr lang="en-US" altLang="zh-CN" dirty="0">
              <a:solidFill>
                <a:srgbClr val="FF0000"/>
              </a:solidFill>
              <a:highlight>
                <a:srgbClr val="FFFF00"/>
              </a:highlight>
              <a:latin typeface="黑体" panose="02010609060101010101" pitchFamily="49" charset="-122"/>
              <a:ea typeface="黑体" panose="02010609060101010101" pitchFamily="49" charset="-122"/>
            </a:endParaRPr>
          </a:p>
          <a:p>
            <a:pPr eaLnBrk="1" hangingPunct="1">
              <a:lnSpc>
                <a:spcPct val="180000"/>
              </a:lnSpc>
              <a:spcBef>
                <a:spcPts val="0"/>
              </a:spcBef>
              <a:buFont typeface="Monotype Sorts"/>
              <a:buNone/>
            </a:pPr>
            <a:r>
              <a:rPr lang="zh-CN" altLang="en-US" dirty="0">
                <a:solidFill>
                  <a:srgbClr val="FF0000"/>
                </a:solidFill>
                <a:latin typeface="黑体" panose="02010609060101010101" pitchFamily="49" charset="-122"/>
                <a:ea typeface="黑体" panose="02010609060101010101" pitchFamily="49" charset="-122"/>
              </a:rPr>
              <a:t>四、研究基础与工作条件</a:t>
            </a:r>
          </a:p>
        </p:txBody>
      </p:sp>
      <p:sp>
        <p:nvSpPr>
          <p:cNvPr id="6147" name="Text Box 3"/>
          <p:cNvSpPr txBox="1">
            <a:spLocks noChangeArrowheads="1"/>
          </p:cNvSpPr>
          <p:nvPr/>
        </p:nvSpPr>
        <p:spPr bwMode="auto">
          <a:xfrm>
            <a:off x="2608263" y="692150"/>
            <a:ext cx="144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2573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Monotype Sorts"/>
              <a:buChar char="•"/>
            </a:pPr>
            <a:endParaRPr lang="zh-CN" altLang="zh-CN" sz="2400">
              <a:solidFill>
                <a:schemeClr val="bg1"/>
              </a:solidFill>
            </a:endParaRPr>
          </a:p>
        </p:txBody>
      </p:sp>
      <p:sp>
        <p:nvSpPr>
          <p:cNvPr id="6148" name="Rectangle 4"/>
          <p:cNvSpPr>
            <a:spLocks noChangeArrowheads="1"/>
          </p:cNvSpPr>
          <p:nvPr/>
        </p:nvSpPr>
        <p:spPr bwMode="auto">
          <a:xfrm>
            <a:off x="2700338" y="-23854"/>
            <a:ext cx="398145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0"/>
              </a:spcBef>
              <a:buFont typeface="Monotype Sorts"/>
              <a:buNone/>
            </a:pPr>
            <a:r>
              <a:rPr lang="zh-CN" altLang="en-US" sz="4800" dirty="0">
                <a:latin typeface="黑体" panose="02010609060101010101" pitchFamily="49" charset="-122"/>
                <a:ea typeface="黑体" panose="02010609060101010101" pitchFamily="49" charset="-122"/>
              </a:rPr>
              <a:t>汇 报 提 纲</a:t>
            </a:r>
          </a:p>
        </p:txBody>
      </p:sp>
      <p:pic>
        <p:nvPicPr>
          <p:cNvPr id="6149" name="Picture 1030" descr="图片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49729"/>
            <a:ext cx="91440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33454D3F-1DDA-6328-ADDA-BA4F91C31059}"/>
              </a:ext>
            </a:extLst>
          </p:cNvPr>
          <p:cNvSpPr>
            <a:spLocks noGrp="1"/>
          </p:cNvSpPr>
          <p:nvPr>
            <p:ph type="sldNum" sz="quarter" idx="12"/>
          </p:nvPr>
        </p:nvSpPr>
        <p:spPr/>
        <p:txBody>
          <a:bodyPr/>
          <a:lstStyle/>
          <a:p>
            <a:pPr>
              <a:defRPr/>
            </a:pPr>
            <a:fld id="{C61B835A-E540-400A-ADC8-0E2403FDC7FB}" type="slidenum">
              <a:rPr lang="en-US" altLang="zh-CN" smtClean="0"/>
              <a:pPr>
                <a:defRPr/>
              </a:pPr>
              <a:t>18</a:t>
            </a:fld>
            <a:endParaRPr lang="en-US" altLang="zh-CN"/>
          </a:p>
        </p:txBody>
      </p:sp>
    </p:spTree>
    <p:extLst>
      <p:ext uri="{BB962C8B-B14F-4D97-AF65-F5344CB8AC3E}">
        <p14:creationId xmlns:p14="http://schemas.microsoft.com/office/powerpoint/2010/main" val="3018392821"/>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三、研究方案设计及可行性分析</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3.1. </a:t>
            </a:r>
            <a:r>
              <a:rPr lang="zh-CN" altLang="en-US" b="0" dirty="0">
                <a:latin typeface="微软雅黑" pitchFamily="34" charset="-122"/>
                <a:ea typeface="微软雅黑" pitchFamily="34" charset="-122"/>
              </a:rPr>
              <a:t>研究方法</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256516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1</a:t>
            </a:r>
            <a:r>
              <a:rPr lang="zh-CN" altLang="en-US" sz="2000" dirty="0">
                <a:solidFill>
                  <a:schemeClr val="tx1"/>
                </a:solidFill>
                <a:latin typeface="微软雅黑" pitchFamily="34" charset="-122"/>
                <a:ea typeface="微软雅黑" pitchFamily="34" charset="-122"/>
              </a:rPr>
              <a:t>）文献阅读、理论分析</a:t>
            </a:r>
          </a:p>
          <a:p>
            <a:pPr indent="457200" algn="just" eaLnBrk="1" hangingPunct="1">
              <a:lnSpc>
                <a:spcPct val="130000"/>
              </a:lnSpc>
              <a:spcBef>
                <a:spcPts val="0"/>
              </a:spcBef>
              <a:buClr>
                <a:srgbClr val="FF0000"/>
              </a:buClr>
              <a:buSzPct val="80000"/>
            </a:pPr>
            <a:r>
              <a:rPr lang="zh-CN" altLang="en-US" sz="1600" b="0" dirty="0">
                <a:solidFill>
                  <a:schemeClr val="tx1"/>
                </a:solidFill>
                <a:latin typeface="微软雅黑" pitchFamily="34" charset="-122"/>
                <a:ea typeface="微软雅黑" pitchFamily="34" charset="-122"/>
              </a:rPr>
              <a:t>大量收集和阅读国内外</a:t>
            </a:r>
            <a:r>
              <a:rPr lang="en-US" altLang="zh-CN" sz="1600" b="0" dirty="0">
                <a:solidFill>
                  <a:schemeClr val="tx1"/>
                </a:solidFill>
                <a:latin typeface="微软雅黑" pitchFamily="34" charset="-122"/>
                <a:ea typeface="微软雅黑" pitchFamily="34" charset="-122"/>
              </a:rPr>
              <a:t>FDEM</a:t>
            </a:r>
            <a:r>
              <a:rPr lang="zh-CN" altLang="en-US" sz="1600" b="0" dirty="0">
                <a:solidFill>
                  <a:schemeClr val="tx1"/>
                </a:solidFill>
                <a:latin typeface="微软雅黑" pitchFamily="34" charset="-122"/>
                <a:ea typeface="微软雅黑" pitchFamily="34" charset="-122"/>
              </a:rPr>
              <a:t>和</a:t>
            </a:r>
            <a:r>
              <a:rPr lang="en-US" altLang="zh-CN" sz="1600" b="0" dirty="0">
                <a:solidFill>
                  <a:schemeClr val="tx1"/>
                </a:solidFill>
                <a:latin typeface="微软雅黑" pitchFamily="34" charset="-122"/>
                <a:ea typeface="微软雅黑" pitchFamily="34" charset="-122"/>
              </a:rPr>
              <a:t>SPH</a:t>
            </a:r>
            <a:r>
              <a:rPr lang="zh-CN" altLang="en-US" sz="1600" b="0" dirty="0">
                <a:solidFill>
                  <a:schemeClr val="tx1"/>
                </a:solidFill>
                <a:latin typeface="微软雅黑" pitchFamily="34" charset="-122"/>
                <a:ea typeface="微软雅黑" pitchFamily="34" charset="-122"/>
              </a:rPr>
              <a:t>方面的文献和专著资料。</a:t>
            </a:r>
            <a:endParaRPr lang="en-US" altLang="zh-CN" sz="16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1</a:t>
            </a:r>
            <a:r>
              <a:rPr lang="zh-CN" altLang="en-US" sz="1600" b="0" dirty="0">
                <a:solidFill>
                  <a:schemeClr val="tx1"/>
                </a:solidFill>
                <a:latin typeface="微软雅黑" pitchFamily="34" charset="-122"/>
                <a:ea typeface="微软雅黑" pitchFamily="34" charset="-122"/>
              </a:rPr>
              <a:t>、了解</a:t>
            </a:r>
            <a:r>
              <a:rPr lang="en-US" altLang="zh-CN" sz="1600" b="0" dirty="0">
                <a:solidFill>
                  <a:schemeClr val="tx1"/>
                </a:solidFill>
                <a:latin typeface="微软雅黑" pitchFamily="34" charset="-122"/>
                <a:ea typeface="微软雅黑" pitchFamily="34" charset="-122"/>
              </a:rPr>
              <a:t>FDEM</a:t>
            </a:r>
            <a:r>
              <a:rPr lang="zh-CN" altLang="en-US" sz="1600" b="0" dirty="0">
                <a:solidFill>
                  <a:schemeClr val="tx1"/>
                </a:solidFill>
                <a:latin typeface="微软雅黑" pitchFamily="34" charset="-122"/>
                <a:ea typeface="微软雅黑" pitchFamily="34" charset="-122"/>
              </a:rPr>
              <a:t>和</a:t>
            </a:r>
            <a:r>
              <a:rPr lang="en-US" altLang="zh-CN" sz="1600" b="0" dirty="0">
                <a:solidFill>
                  <a:schemeClr val="tx1"/>
                </a:solidFill>
                <a:latin typeface="微软雅黑" pitchFamily="34" charset="-122"/>
                <a:ea typeface="微软雅黑" pitchFamily="34" charset="-122"/>
              </a:rPr>
              <a:t>SPH</a:t>
            </a:r>
            <a:r>
              <a:rPr lang="zh-CN" altLang="en-US" sz="1600" b="0" dirty="0">
                <a:solidFill>
                  <a:schemeClr val="tx1"/>
                </a:solidFill>
                <a:latin typeface="微软雅黑" pitchFamily="34" charset="-122"/>
                <a:ea typeface="微软雅黑" pitchFamily="34" charset="-122"/>
              </a:rPr>
              <a:t>的</a:t>
            </a:r>
            <a:r>
              <a:rPr lang="zh-CN" altLang="en-US" sz="1600" b="0" dirty="0">
                <a:solidFill>
                  <a:srgbClr val="FF0000"/>
                </a:solidFill>
                <a:latin typeface="微软雅黑" pitchFamily="34" charset="-122"/>
                <a:ea typeface="微软雅黑" pitchFamily="34" charset="-122"/>
              </a:rPr>
              <a:t>研究现状</a:t>
            </a:r>
            <a:r>
              <a:rPr lang="zh-CN" altLang="en-US" sz="1600" b="0" dirty="0">
                <a:solidFill>
                  <a:schemeClr val="tx1"/>
                </a:solidFill>
                <a:latin typeface="微软雅黑" pitchFamily="34" charset="-122"/>
                <a:ea typeface="微软雅黑" pitchFamily="34" charset="-122"/>
              </a:rPr>
              <a:t>及</a:t>
            </a:r>
            <a:r>
              <a:rPr lang="zh-CN" altLang="en-US" sz="1600" b="0" dirty="0">
                <a:solidFill>
                  <a:srgbClr val="FF0000"/>
                </a:solidFill>
                <a:latin typeface="微软雅黑" pitchFamily="34" charset="-122"/>
                <a:ea typeface="微软雅黑" pitchFamily="34" charset="-122"/>
              </a:rPr>
              <a:t>发展趋势</a:t>
            </a:r>
            <a:r>
              <a:rPr lang="zh-CN" altLang="en-US" sz="1600" b="0" dirty="0">
                <a:solidFill>
                  <a:schemeClr val="tx1"/>
                </a:solidFill>
                <a:latin typeface="微软雅黑" pitchFamily="34" charset="-122"/>
                <a:ea typeface="微软雅黑" pitchFamily="34" charset="-122"/>
              </a:rPr>
              <a:t>。</a:t>
            </a:r>
            <a:endParaRPr lang="en-US" altLang="zh-CN" sz="16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2</a:t>
            </a:r>
            <a:r>
              <a:rPr lang="zh-CN" altLang="en-US" sz="1600" b="0" dirty="0">
                <a:solidFill>
                  <a:schemeClr val="tx1"/>
                </a:solidFill>
                <a:latin typeface="微软雅黑" pitchFamily="34" charset="-122"/>
                <a:ea typeface="微软雅黑" pitchFamily="34" charset="-122"/>
              </a:rPr>
              <a:t>、学习</a:t>
            </a:r>
            <a:r>
              <a:rPr lang="en-US" altLang="zh-CN" sz="1600" b="0" dirty="0">
                <a:solidFill>
                  <a:schemeClr val="tx1"/>
                </a:solidFill>
                <a:latin typeface="微软雅黑" pitchFamily="34" charset="-122"/>
                <a:ea typeface="微软雅黑" pitchFamily="34" charset="-122"/>
              </a:rPr>
              <a:t>FDEM</a:t>
            </a:r>
            <a:r>
              <a:rPr lang="zh-CN" altLang="en-US" sz="1600" b="0" dirty="0">
                <a:solidFill>
                  <a:schemeClr val="tx1"/>
                </a:solidFill>
                <a:latin typeface="微软雅黑" pitchFamily="34" charset="-122"/>
                <a:ea typeface="微软雅黑" pitchFamily="34" charset="-122"/>
              </a:rPr>
              <a:t>方法的基本</a:t>
            </a:r>
            <a:r>
              <a:rPr lang="zh-CN" altLang="en-US" sz="1600" b="0" dirty="0">
                <a:solidFill>
                  <a:srgbClr val="FF0000"/>
                </a:solidFill>
                <a:latin typeface="微软雅黑" pitchFamily="34" charset="-122"/>
                <a:ea typeface="微软雅黑" pitchFamily="34" charset="-122"/>
              </a:rPr>
              <a:t>控制方程</a:t>
            </a:r>
            <a:r>
              <a:rPr lang="zh-CN" altLang="en-US" sz="1600" b="0" dirty="0">
                <a:solidFill>
                  <a:schemeClr val="tx1"/>
                </a:solidFill>
                <a:latin typeface="微软雅黑" pitchFamily="34" charset="-122"/>
                <a:ea typeface="微软雅黑" pitchFamily="34" charset="-122"/>
              </a:rPr>
              <a:t>，了解</a:t>
            </a:r>
            <a:r>
              <a:rPr lang="en-US" altLang="zh-CN" sz="1600" b="0" dirty="0">
                <a:solidFill>
                  <a:schemeClr val="tx1"/>
                </a:solidFill>
                <a:latin typeface="微软雅黑" pitchFamily="34" charset="-122"/>
                <a:ea typeface="微软雅黑" pitchFamily="34" charset="-122"/>
              </a:rPr>
              <a:t>FDEM</a:t>
            </a:r>
            <a:r>
              <a:rPr lang="zh-CN" altLang="en-US" sz="1600" b="0" dirty="0">
                <a:solidFill>
                  <a:schemeClr val="tx1"/>
                </a:solidFill>
                <a:latin typeface="微软雅黑" pitchFamily="34" charset="-122"/>
                <a:ea typeface="微软雅黑" pitchFamily="34" charset="-122"/>
              </a:rPr>
              <a:t>中现有的节理单元法向连接力和切向力连接力的计算方法。</a:t>
            </a:r>
            <a:endParaRPr lang="en-US" altLang="zh-CN" sz="16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3</a:t>
            </a:r>
            <a:r>
              <a:rPr lang="zh-CN" altLang="en-US" sz="1600" b="0" dirty="0">
                <a:solidFill>
                  <a:schemeClr val="tx1"/>
                </a:solidFill>
                <a:latin typeface="微软雅黑" pitchFamily="34" charset="-122"/>
                <a:ea typeface="微软雅黑" pitchFamily="34" charset="-122"/>
              </a:rPr>
              <a:t>、学习拉格朗日型的</a:t>
            </a:r>
            <a:r>
              <a:rPr lang="en-US" altLang="zh-CN" sz="1600" b="0" dirty="0">
                <a:solidFill>
                  <a:srgbClr val="FF0000"/>
                </a:solidFill>
                <a:latin typeface="微软雅黑" pitchFamily="34" charset="-122"/>
                <a:ea typeface="微软雅黑" pitchFamily="34" charset="-122"/>
              </a:rPr>
              <a:t>Navier-Stokes</a:t>
            </a:r>
            <a:r>
              <a:rPr lang="zh-CN" altLang="en-US" sz="1600" b="0" dirty="0">
                <a:solidFill>
                  <a:srgbClr val="FF0000"/>
                </a:solidFill>
                <a:latin typeface="微软雅黑" pitchFamily="34" charset="-122"/>
                <a:ea typeface="微软雅黑" pitchFamily="34" charset="-122"/>
              </a:rPr>
              <a:t>方程组</a:t>
            </a:r>
            <a:r>
              <a:rPr lang="zh-CN" altLang="en-US" sz="1600" b="0" dirty="0">
                <a:solidFill>
                  <a:schemeClr val="tx1"/>
                </a:solidFill>
                <a:latin typeface="微软雅黑" pitchFamily="34" charset="-122"/>
                <a:ea typeface="微软雅黑" pitchFamily="34" charset="-122"/>
              </a:rPr>
              <a:t>，明确用</a:t>
            </a:r>
            <a:r>
              <a:rPr lang="en-US" altLang="zh-CN" sz="1600" b="0" dirty="0">
                <a:solidFill>
                  <a:schemeClr val="tx1"/>
                </a:solidFill>
                <a:latin typeface="微软雅黑" pitchFamily="34" charset="-122"/>
                <a:ea typeface="微软雅黑" pitchFamily="34" charset="-122"/>
              </a:rPr>
              <a:t>SPH</a:t>
            </a:r>
            <a:r>
              <a:rPr lang="zh-CN" altLang="en-US" sz="1600" b="0" dirty="0">
                <a:solidFill>
                  <a:srgbClr val="FF0000"/>
                </a:solidFill>
                <a:latin typeface="微软雅黑" pitchFamily="34" charset="-122"/>
                <a:ea typeface="微软雅黑" pitchFamily="34" charset="-122"/>
              </a:rPr>
              <a:t>粒子近似法</a:t>
            </a:r>
            <a:r>
              <a:rPr lang="zh-CN" altLang="en-US" sz="1600" b="0" dirty="0">
                <a:solidFill>
                  <a:schemeClr val="tx1"/>
                </a:solidFill>
                <a:latin typeface="微软雅黑" pitchFamily="34" charset="-122"/>
                <a:ea typeface="微软雅黑" pitchFamily="34" charset="-122"/>
              </a:rPr>
              <a:t>求解</a:t>
            </a:r>
            <a:r>
              <a:rPr lang="en-US" altLang="zh-CN" sz="1600" b="0" dirty="0">
                <a:solidFill>
                  <a:schemeClr val="tx1"/>
                </a:solidFill>
                <a:latin typeface="微软雅黑" pitchFamily="34" charset="-122"/>
                <a:ea typeface="微软雅黑" pitchFamily="34" charset="-122"/>
              </a:rPr>
              <a:t>Navier-Stokes</a:t>
            </a:r>
            <a:r>
              <a:rPr lang="zh-CN" altLang="en-US" sz="1600" b="0" dirty="0">
                <a:solidFill>
                  <a:schemeClr val="tx1"/>
                </a:solidFill>
                <a:latin typeface="微软雅黑" pitchFamily="34" charset="-122"/>
                <a:ea typeface="微软雅黑" pitchFamily="34" charset="-122"/>
              </a:rPr>
              <a:t>方程组的理论。</a:t>
            </a:r>
          </a:p>
        </p:txBody>
      </p:sp>
      <p:graphicFrame>
        <p:nvGraphicFramePr>
          <p:cNvPr id="8" name="对象 7">
            <a:extLst>
              <a:ext uri="{FF2B5EF4-FFF2-40B4-BE49-F238E27FC236}">
                <a16:creationId xmlns:a16="http://schemas.microsoft.com/office/drawing/2014/main" id="{D05E344E-BEB6-3BC5-6BB4-C1C889871A3C}"/>
              </a:ext>
            </a:extLst>
          </p:cNvPr>
          <p:cNvGraphicFramePr>
            <a:graphicFrameLocks noChangeAspect="1"/>
          </p:cNvGraphicFramePr>
          <p:nvPr>
            <p:extLst>
              <p:ext uri="{D42A27DB-BD31-4B8C-83A1-F6EECF244321}">
                <p14:modId xmlns:p14="http://schemas.microsoft.com/office/powerpoint/2010/main" val="4245965290"/>
              </p:ext>
            </p:extLst>
          </p:nvPr>
        </p:nvGraphicFramePr>
        <p:xfrm>
          <a:off x="3263900" y="5684838"/>
          <a:ext cx="4989513" cy="720725"/>
        </p:xfrm>
        <a:graphic>
          <a:graphicData uri="http://schemas.openxmlformats.org/presentationml/2006/ole">
            <mc:AlternateContent xmlns:mc="http://schemas.openxmlformats.org/markup-compatibility/2006">
              <mc:Choice xmlns:v="urn:schemas-microsoft-com:vml" Requires="v">
                <p:oleObj spid="_x0000_s1036" name="Equation" r:id="rId4" imgW="3111480" imgH="444240" progId="Equation.DSMT4">
                  <p:embed/>
                </p:oleObj>
              </mc:Choice>
              <mc:Fallback>
                <p:oleObj name="Equation" r:id="rId4" imgW="3111480" imgH="444240" progId="Equation.DSMT4">
                  <p:embed/>
                  <p:pic>
                    <p:nvPicPr>
                      <p:cNvPr id="0" name="Object 5"/>
                      <p:cNvPicPr>
                        <a:picLocks noChangeAspect="1" noChangeArrowheads="1"/>
                      </p:cNvPicPr>
                      <p:nvPr/>
                    </p:nvPicPr>
                    <p:blipFill>
                      <a:blip r:embed="rId5"/>
                      <a:srcRect/>
                      <a:stretch>
                        <a:fillRect/>
                      </a:stretch>
                    </p:blipFill>
                    <p:spPr bwMode="auto">
                      <a:xfrm>
                        <a:off x="3263900" y="5684838"/>
                        <a:ext cx="4989513"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ADB6105B-AA35-6F3E-946B-57665B2FDFB2}"/>
              </a:ext>
            </a:extLst>
          </p:cNvPr>
          <p:cNvGraphicFramePr>
            <a:graphicFrameLocks noChangeAspect="1"/>
          </p:cNvGraphicFramePr>
          <p:nvPr>
            <p:extLst>
              <p:ext uri="{D42A27DB-BD31-4B8C-83A1-F6EECF244321}">
                <p14:modId xmlns:p14="http://schemas.microsoft.com/office/powerpoint/2010/main" val="1176504886"/>
              </p:ext>
            </p:extLst>
          </p:nvPr>
        </p:nvGraphicFramePr>
        <p:xfrm>
          <a:off x="2471738" y="4757738"/>
          <a:ext cx="1990725" cy="719137"/>
        </p:xfrm>
        <a:graphic>
          <a:graphicData uri="http://schemas.openxmlformats.org/presentationml/2006/ole">
            <mc:AlternateContent xmlns:mc="http://schemas.openxmlformats.org/markup-compatibility/2006">
              <mc:Choice xmlns:v="urn:schemas-microsoft-com:vml" Requires="v">
                <p:oleObj spid="_x0000_s1037" name="Equation" r:id="rId6" imgW="1155600" imgH="419040" progId="Equation.DSMT4">
                  <p:embed/>
                </p:oleObj>
              </mc:Choice>
              <mc:Fallback>
                <p:oleObj name="Equation" r:id="rId6" imgW="1155600" imgH="419040" progId="Equation.DSMT4">
                  <p:embed/>
                  <p:pic>
                    <p:nvPicPr>
                      <p:cNvPr id="0" name="Object 7"/>
                      <p:cNvPicPr>
                        <a:picLocks noChangeAspect="1" noChangeArrowheads="1"/>
                      </p:cNvPicPr>
                      <p:nvPr/>
                    </p:nvPicPr>
                    <p:blipFill>
                      <a:blip r:embed="rId7"/>
                      <a:srcRect/>
                      <a:stretch>
                        <a:fillRect/>
                      </a:stretch>
                    </p:blipFill>
                    <p:spPr bwMode="auto">
                      <a:xfrm>
                        <a:off x="2471738" y="4757738"/>
                        <a:ext cx="1990725"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2">
            <a:extLst>
              <a:ext uri="{FF2B5EF4-FFF2-40B4-BE49-F238E27FC236}">
                <a16:creationId xmlns:a16="http://schemas.microsoft.com/office/drawing/2014/main" id="{DA717F8C-3134-A224-AF5C-8F70C26BFCEF}"/>
              </a:ext>
            </a:extLst>
          </p:cNvPr>
          <p:cNvSpPr>
            <a:spLocks noChangeArrowheads="1"/>
          </p:cNvSpPr>
          <p:nvPr/>
        </p:nvSpPr>
        <p:spPr bwMode="auto">
          <a:xfrm>
            <a:off x="642938" y="4955082"/>
            <a:ext cx="1719971"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buClr>
                <a:schemeClr val="tx2"/>
              </a:buClr>
              <a:buSzPct val="75000"/>
              <a:buFont typeface="Monotype Sorts"/>
              <a:buNone/>
            </a:pPr>
            <a:r>
              <a:rPr lang="zh-CN" altLang="en-US" sz="1800" b="0" dirty="0">
                <a:latin typeface="微软雅黑" panose="020B0503020204020204" pitchFamily="34" charset="-122"/>
                <a:ea typeface="微软雅黑" panose="020B0503020204020204" pitchFamily="34" charset="-122"/>
              </a:rPr>
              <a:t>牛顿第二定律：</a:t>
            </a:r>
            <a:endParaRPr lang="zh-CN" altLang="zh-CN" sz="1800" b="0" dirty="0">
              <a:latin typeface="微软雅黑" panose="020B0503020204020204" pitchFamily="34" charset="-122"/>
              <a:ea typeface="微软雅黑" panose="020B0503020204020204" pitchFamily="34" charset="-122"/>
            </a:endParaRPr>
          </a:p>
        </p:txBody>
      </p:sp>
      <p:sp>
        <p:nvSpPr>
          <p:cNvPr id="12" name="矩形 2">
            <a:extLst>
              <a:ext uri="{FF2B5EF4-FFF2-40B4-BE49-F238E27FC236}">
                <a16:creationId xmlns:a16="http://schemas.microsoft.com/office/drawing/2014/main" id="{4674C896-3DE5-F312-EEE6-910076B61A46}"/>
              </a:ext>
            </a:extLst>
          </p:cNvPr>
          <p:cNvSpPr>
            <a:spLocks noChangeArrowheads="1"/>
          </p:cNvSpPr>
          <p:nvPr/>
        </p:nvSpPr>
        <p:spPr bwMode="auto">
          <a:xfrm>
            <a:off x="642938" y="5852492"/>
            <a:ext cx="2489062"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Navier-Stokes</a:t>
            </a:r>
            <a:r>
              <a:rPr lang="zh-CN" altLang="en-US" sz="1800" b="0" dirty="0">
                <a:latin typeface="微软雅黑" panose="020B0503020204020204" pitchFamily="34" charset="-122"/>
                <a:ea typeface="微软雅黑" panose="020B0503020204020204" pitchFamily="34" charset="-122"/>
              </a:rPr>
              <a:t>方程组：</a:t>
            </a:r>
            <a:endParaRPr lang="zh-CN" altLang="zh-CN" sz="1800" b="0" dirty="0">
              <a:latin typeface="微软雅黑" panose="020B0503020204020204" pitchFamily="34" charset="-122"/>
              <a:ea typeface="微软雅黑" panose="020B0503020204020204" pitchFamily="34" charset="-122"/>
            </a:endParaRPr>
          </a:p>
        </p:txBody>
      </p:sp>
      <p:sp>
        <p:nvSpPr>
          <p:cNvPr id="13" name="灯片编号占位符 12">
            <a:extLst>
              <a:ext uri="{FF2B5EF4-FFF2-40B4-BE49-F238E27FC236}">
                <a16:creationId xmlns:a16="http://schemas.microsoft.com/office/drawing/2014/main" id="{4FC458B7-79D8-B532-438C-6918FC5D350E}"/>
              </a:ext>
            </a:extLst>
          </p:cNvPr>
          <p:cNvSpPr>
            <a:spLocks noGrp="1"/>
          </p:cNvSpPr>
          <p:nvPr>
            <p:ph type="sldNum" sz="quarter" idx="12"/>
          </p:nvPr>
        </p:nvSpPr>
        <p:spPr/>
        <p:txBody>
          <a:bodyPr/>
          <a:lstStyle/>
          <a:p>
            <a:pPr>
              <a:defRPr/>
            </a:pPr>
            <a:fld id="{8E7F6652-62A1-454F-81FD-501A0D85DAEF}" type="slidenum">
              <a:rPr lang="en-US" altLang="zh-CN" smtClean="0"/>
              <a:pPr>
                <a:defRPr/>
              </a:pPr>
              <a:t>19</a:t>
            </a:fld>
            <a:endParaRPr lang="en-US" altLang="zh-CN"/>
          </a:p>
        </p:txBody>
      </p:sp>
    </p:spTree>
    <p:extLst>
      <p:ext uri="{BB962C8B-B14F-4D97-AF65-F5344CB8AC3E}">
        <p14:creationId xmlns:p14="http://schemas.microsoft.com/office/powerpoint/2010/main" val="33690768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三、研究方案设计及可行性分析</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3.1. </a:t>
            </a:r>
            <a:r>
              <a:rPr lang="zh-CN" altLang="en-US" b="0" dirty="0">
                <a:latin typeface="微软雅黑" pitchFamily="34" charset="-122"/>
                <a:ea typeface="微软雅黑" pitchFamily="34" charset="-122"/>
              </a:rPr>
              <a:t>研究方法</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39"/>
            <a:ext cx="7889498" cy="2295161"/>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2</a:t>
            </a:r>
            <a:r>
              <a:rPr lang="zh-CN" altLang="en-US" sz="2000" dirty="0">
                <a:solidFill>
                  <a:schemeClr val="tx1"/>
                </a:solidFill>
                <a:latin typeface="微软雅黑" pitchFamily="34" charset="-122"/>
                <a:ea typeface="微软雅黑" pitchFamily="34" charset="-122"/>
              </a:rPr>
              <a:t>）算法设计、程序开发</a:t>
            </a:r>
          </a:p>
          <a:p>
            <a:pPr indent="457200" algn="just" eaLnBrk="1" hangingPunct="1">
              <a:lnSpc>
                <a:spcPct val="130000"/>
              </a:lnSpc>
              <a:spcBef>
                <a:spcPts val="0"/>
              </a:spcBef>
              <a:buClr>
                <a:srgbClr val="FF0000"/>
              </a:buClr>
              <a:buSzPct val="80000"/>
            </a:pPr>
            <a:r>
              <a:rPr lang="zh-CN" altLang="en-US" sz="1600" b="0" dirty="0">
                <a:solidFill>
                  <a:schemeClr val="tx1"/>
                </a:solidFill>
                <a:latin typeface="微软雅黑" pitchFamily="34" charset="-122"/>
                <a:ea typeface="微软雅黑" pitchFamily="34" charset="-122"/>
              </a:rPr>
              <a:t>基于</a:t>
            </a:r>
            <a:r>
              <a:rPr lang="en-US" altLang="zh-CN" sz="1600" b="0" dirty="0">
                <a:solidFill>
                  <a:schemeClr val="tx1"/>
                </a:solidFill>
                <a:latin typeface="微软雅黑" pitchFamily="34" charset="-122"/>
                <a:ea typeface="微软雅黑" pitchFamily="34" charset="-122"/>
              </a:rPr>
              <a:t>Microsoft </a:t>
            </a:r>
            <a:r>
              <a:rPr lang="en-US" altLang="zh-CN" sz="1600" b="0" dirty="0">
                <a:solidFill>
                  <a:srgbClr val="FF0000"/>
                </a:solidFill>
                <a:latin typeface="微软雅黑" pitchFamily="34" charset="-122"/>
                <a:ea typeface="微软雅黑" pitchFamily="34" charset="-122"/>
              </a:rPr>
              <a:t>Visual Studio</a:t>
            </a:r>
            <a:r>
              <a:rPr lang="zh-CN" altLang="en-US" sz="1600" b="0" dirty="0">
                <a:solidFill>
                  <a:schemeClr val="tx1"/>
                </a:solidFill>
                <a:latin typeface="微软雅黑" pitchFamily="34" charset="-122"/>
                <a:ea typeface="微软雅黑" pitchFamily="34" charset="-122"/>
              </a:rPr>
              <a:t>平台，采用</a:t>
            </a:r>
            <a:r>
              <a:rPr lang="en-US" altLang="zh-CN" sz="1600" b="0" dirty="0">
                <a:solidFill>
                  <a:srgbClr val="FF0000"/>
                </a:solidFill>
                <a:latin typeface="微软雅黑" pitchFamily="34" charset="-122"/>
                <a:ea typeface="微软雅黑" pitchFamily="34" charset="-122"/>
              </a:rPr>
              <a:t>C</a:t>
            </a:r>
            <a:r>
              <a:rPr lang="zh-CN" altLang="en-US" sz="1600" b="0" dirty="0">
                <a:solidFill>
                  <a:srgbClr val="FF0000"/>
                </a:solidFill>
                <a:latin typeface="微软雅黑" pitchFamily="34" charset="-122"/>
                <a:ea typeface="微软雅黑" pitchFamily="34" charset="-122"/>
              </a:rPr>
              <a:t>语言</a:t>
            </a:r>
            <a:r>
              <a:rPr lang="zh-CN" altLang="en-US" sz="1600" b="0" dirty="0">
                <a:solidFill>
                  <a:schemeClr val="tx1"/>
                </a:solidFill>
                <a:latin typeface="微软雅黑" pitchFamily="34" charset="-122"/>
                <a:ea typeface="微软雅黑" pitchFamily="34" charset="-122"/>
              </a:rPr>
              <a:t>生成动态链接库，在</a:t>
            </a:r>
            <a:r>
              <a:rPr lang="en-US" altLang="zh-CN" sz="1600" b="0" dirty="0">
                <a:solidFill>
                  <a:srgbClr val="FF0000"/>
                </a:solidFill>
                <a:latin typeface="微软雅黑" pitchFamily="34" charset="-122"/>
                <a:ea typeface="微软雅黑" pitchFamily="34" charset="-122"/>
              </a:rPr>
              <a:t>MultiFracS</a:t>
            </a:r>
            <a:r>
              <a:rPr lang="zh-CN" altLang="en-US" sz="1600" b="0" dirty="0">
                <a:solidFill>
                  <a:schemeClr val="tx1"/>
                </a:solidFill>
                <a:latin typeface="微软雅黑" pitchFamily="34" charset="-122"/>
                <a:ea typeface="微软雅黑" pitchFamily="34" charset="-122"/>
              </a:rPr>
              <a:t>软件中添加新的用户自定义节理单元本构和光滑粒子流体动力学模块。</a:t>
            </a:r>
            <a:endParaRPr lang="en-US" altLang="zh-CN" sz="1600" b="0" dirty="0">
              <a:solidFill>
                <a:schemeClr val="tx1"/>
              </a:solidFill>
              <a:latin typeface="微软雅黑" pitchFamily="34" charset="-122"/>
              <a:ea typeface="微软雅黑" pitchFamily="34" charset="-122"/>
            </a:endParaRPr>
          </a:p>
          <a:p>
            <a:pPr marL="0" marR="0" lvl="0" indent="457200" algn="just" defTabSz="914400" rtl="0" eaLnBrk="1" fontAlgn="base" latinLnBrk="0" hangingPunct="1">
              <a:lnSpc>
                <a:spcPct val="130000"/>
              </a:lnSpc>
              <a:spcBef>
                <a:spcPts val="0"/>
              </a:spcBef>
              <a:spcAft>
                <a:spcPct val="0"/>
              </a:spcAft>
              <a:buClr>
                <a:srgbClr val="FF0000"/>
              </a:buClr>
              <a:buSzPct val="80000"/>
              <a:buFontTx/>
              <a:buNone/>
              <a:tabLst/>
              <a:defRPr/>
            </a:pPr>
            <a:r>
              <a:rPr kumimoji="0" lang="en-US" altLang="zh-CN"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1</a:t>
            </a:r>
            <a:r>
              <a:rPr kumimoji="0" lang="zh-CN" altLang="en-US"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、不启动接触计算，而是利用断裂节理单元的</a:t>
            </a:r>
            <a:r>
              <a:rPr kumimoji="0" lang="zh-CN" altLang="en-US"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rPr>
              <a:t>张开度</a:t>
            </a:r>
            <a:r>
              <a:rPr kumimoji="0" lang="zh-CN" altLang="en-US"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计算压力和摩擦力。</a:t>
            </a:r>
          </a:p>
          <a:p>
            <a:pPr marL="0" marR="0" lvl="0" indent="457200" algn="just" defTabSz="914400" rtl="0" eaLnBrk="1" fontAlgn="base" latinLnBrk="0" hangingPunct="1">
              <a:lnSpc>
                <a:spcPct val="130000"/>
              </a:lnSpc>
              <a:spcBef>
                <a:spcPts val="0"/>
              </a:spcBef>
              <a:spcAft>
                <a:spcPct val="0"/>
              </a:spcAft>
              <a:buClr>
                <a:srgbClr val="FF0000"/>
              </a:buClr>
              <a:buSzPct val="80000"/>
              <a:buFontTx/>
              <a:buNone/>
              <a:tabLst/>
              <a:defRPr/>
            </a:pPr>
            <a:r>
              <a:rPr kumimoji="0" lang="en-US" altLang="zh-CN"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2</a:t>
            </a:r>
            <a:r>
              <a:rPr kumimoji="0" lang="zh-CN" altLang="en-US"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、给节理单元添加一个</a:t>
            </a:r>
            <a:r>
              <a:rPr kumimoji="0" lang="zh-CN" altLang="en-US"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rPr>
              <a:t>虚拟的厚度</a:t>
            </a:r>
            <a:r>
              <a:rPr kumimoji="0" lang="zh-CN" altLang="en-US"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，从而实现微裂缝对整体力学性质的影响。</a:t>
            </a:r>
          </a:p>
          <a:p>
            <a:pPr marL="0" marR="0" lvl="0" indent="457200" algn="just" defTabSz="914400" rtl="0" eaLnBrk="1" fontAlgn="base" latinLnBrk="0" hangingPunct="1">
              <a:lnSpc>
                <a:spcPct val="130000"/>
              </a:lnSpc>
              <a:spcBef>
                <a:spcPts val="0"/>
              </a:spcBef>
              <a:spcAft>
                <a:spcPct val="0"/>
              </a:spcAft>
              <a:buClr>
                <a:srgbClr val="FF0000"/>
              </a:buClr>
              <a:buSzPct val="80000"/>
              <a:buFontTx/>
              <a:buNone/>
              <a:tabLst/>
              <a:defRPr/>
            </a:pPr>
            <a:r>
              <a:rPr kumimoji="0" lang="en-US" altLang="zh-CN"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3</a:t>
            </a:r>
            <a:r>
              <a:rPr kumimoji="0" lang="zh-CN" altLang="en-US"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、使用新的</a:t>
            </a:r>
            <a:r>
              <a:rPr kumimoji="0" lang="zh-CN" altLang="en-US"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rPr>
              <a:t>强度准则</a:t>
            </a:r>
            <a:r>
              <a:rPr kumimoji="0" lang="zh-CN" altLang="en-US"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替代现有的库伦准则计算节理单元的</a:t>
            </a:r>
            <a:r>
              <a:rPr kumimoji="0" lang="zh-CN" altLang="en-US" sz="1600" b="0"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rPr>
              <a:t>抗剪强度</a:t>
            </a:r>
            <a:r>
              <a:rPr kumimoji="0" lang="zh-CN" altLang="en-US" sz="16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a:t>
            </a:r>
          </a:p>
        </p:txBody>
      </p:sp>
      <p:pic>
        <p:nvPicPr>
          <p:cNvPr id="3" name="图片 2">
            <a:extLst>
              <a:ext uri="{FF2B5EF4-FFF2-40B4-BE49-F238E27FC236}">
                <a16:creationId xmlns:a16="http://schemas.microsoft.com/office/drawing/2014/main" id="{F1C3B4D3-EE1C-CF3D-90E2-FB013F29DD71}"/>
              </a:ext>
            </a:extLst>
          </p:cNvPr>
          <p:cNvPicPr>
            <a:picLocks noChangeAspect="1"/>
          </p:cNvPicPr>
          <p:nvPr/>
        </p:nvPicPr>
        <p:blipFill>
          <a:blip r:embed="rId3"/>
          <a:stretch>
            <a:fillRect/>
          </a:stretch>
        </p:blipFill>
        <p:spPr>
          <a:xfrm>
            <a:off x="1028391" y="4509734"/>
            <a:ext cx="2160000" cy="1735491"/>
          </a:xfrm>
          <a:prstGeom prst="rect">
            <a:avLst/>
          </a:prstGeom>
        </p:spPr>
      </p:pic>
      <p:grpSp>
        <p:nvGrpSpPr>
          <p:cNvPr id="16" name="组合 15">
            <a:extLst>
              <a:ext uri="{FF2B5EF4-FFF2-40B4-BE49-F238E27FC236}">
                <a16:creationId xmlns:a16="http://schemas.microsoft.com/office/drawing/2014/main" id="{22CA3889-C2DC-167D-FCD0-38C9931D2546}"/>
              </a:ext>
            </a:extLst>
          </p:cNvPr>
          <p:cNvGrpSpPr>
            <a:grpSpLocks noChangeAspect="1"/>
          </p:cNvGrpSpPr>
          <p:nvPr/>
        </p:nvGrpSpPr>
        <p:grpSpPr>
          <a:xfrm>
            <a:off x="3567242" y="4500023"/>
            <a:ext cx="2009516" cy="1735491"/>
            <a:chOff x="4347000" y="3424726"/>
            <a:chExt cx="3960001" cy="3420000"/>
          </a:xfrm>
        </p:grpSpPr>
        <p:cxnSp>
          <p:nvCxnSpPr>
            <p:cNvPr id="5" name="直接箭头连接符 4">
              <a:extLst>
                <a:ext uri="{FF2B5EF4-FFF2-40B4-BE49-F238E27FC236}">
                  <a16:creationId xmlns:a16="http://schemas.microsoft.com/office/drawing/2014/main" id="{2F979923-687D-120B-199D-C610C7FCB3E5}"/>
                </a:ext>
              </a:extLst>
            </p:cNvPr>
            <p:cNvCxnSpPr>
              <a:cxnSpLocks noChangeAspect="1"/>
            </p:cNvCxnSpPr>
            <p:nvPr/>
          </p:nvCxnSpPr>
          <p:spPr>
            <a:xfrm>
              <a:off x="4347000" y="5415589"/>
              <a:ext cx="3960000" cy="0"/>
            </a:xfrm>
            <a:prstGeom prst="straightConnector1">
              <a:avLst/>
            </a:prstGeom>
            <a:ln w="19050">
              <a:solidFill>
                <a:schemeClr val="tx1"/>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241C2450-36C9-587F-8F44-B790150F7723}"/>
                </a:ext>
              </a:extLst>
            </p:cNvPr>
            <p:cNvCxnSpPr>
              <a:cxnSpLocks noChangeAspect="1"/>
            </p:cNvCxnSpPr>
            <p:nvPr/>
          </p:nvCxnSpPr>
          <p:spPr>
            <a:xfrm flipV="1">
              <a:off x="5447472" y="3424726"/>
              <a:ext cx="0" cy="3420000"/>
            </a:xfrm>
            <a:prstGeom prst="straightConnector1">
              <a:avLst/>
            </a:prstGeom>
            <a:ln w="19050">
              <a:solidFill>
                <a:schemeClr val="tx1"/>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88F73390-91D2-0D94-ECA1-BFD98E4D4343}"/>
                </a:ext>
              </a:extLst>
            </p:cNvPr>
            <p:cNvSpPr txBox="1"/>
            <p:nvPr/>
          </p:nvSpPr>
          <p:spPr>
            <a:xfrm>
              <a:off x="8054288" y="5409999"/>
              <a:ext cx="252713" cy="667163"/>
            </a:xfrm>
            <a:prstGeom prst="rect">
              <a:avLst/>
            </a:prstGeom>
            <a:noFill/>
          </p:spPr>
          <p:txBody>
            <a:bodyPr wrap="square" rtlCol="0">
              <a:spAutoFit/>
            </a:bodyPr>
            <a:lstStyle/>
            <a:p>
              <a:pPr algn="ctr"/>
              <a:r>
                <a:rPr lang="en-US" altLang="zh-CN" sz="1600" b="0" i="1" dirty="0">
                  <a:latin typeface="Times New Roman" panose="02020603050405020304" pitchFamily="18" charset="0"/>
                  <a:cs typeface="Times New Roman" panose="02020603050405020304" pitchFamily="18" charset="0"/>
                </a:rPr>
                <a:t>o</a:t>
              </a:r>
              <a:endParaRPr lang="zh-CN" altLang="en-US" sz="1600" b="0"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D2BB64FD-1712-C63F-3630-2D47D1CF1FEC}"/>
                </a:ext>
              </a:extLst>
            </p:cNvPr>
            <p:cNvSpPr txBox="1"/>
            <p:nvPr/>
          </p:nvSpPr>
          <p:spPr>
            <a:xfrm>
              <a:off x="4931024" y="3431322"/>
              <a:ext cx="518022" cy="667163"/>
            </a:xfrm>
            <a:prstGeom prst="rect">
              <a:avLst/>
            </a:prstGeom>
            <a:noFill/>
          </p:spPr>
          <p:txBody>
            <a:bodyPr vert="horz" wrap="square" rtlCol="0">
              <a:spAutoFit/>
            </a:bodyPr>
            <a:lstStyle/>
            <a:p>
              <a:pPr algn="ctr"/>
              <a:r>
                <a:rPr lang="el-GR" altLang="zh-CN" sz="1600" b="0" i="1" dirty="0">
                  <a:latin typeface="Times New Roman" panose="02020603050405020304" pitchFamily="18" charset="0"/>
                  <a:cs typeface="Times New Roman" panose="02020603050405020304" pitchFamily="18" charset="0"/>
                </a:rPr>
                <a:t>σ</a:t>
              </a:r>
              <a:r>
                <a:rPr lang="en-US" altLang="zh-CN" sz="1600" b="0" dirty="0">
                  <a:latin typeface="Times New Roman" panose="02020603050405020304" pitchFamily="18" charset="0"/>
                  <a:cs typeface="Times New Roman" panose="02020603050405020304" pitchFamily="18" charset="0"/>
                </a:rPr>
                <a:t> </a:t>
              </a:r>
              <a:endParaRPr lang="zh-CN" altLang="en-US" sz="1600" b="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59D49295-7401-9839-333C-6F4DA1673741}"/>
                </a:ext>
              </a:extLst>
            </p:cNvPr>
            <p:cNvSpPr txBox="1"/>
            <p:nvPr/>
          </p:nvSpPr>
          <p:spPr>
            <a:xfrm>
              <a:off x="7267451" y="5421181"/>
              <a:ext cx="758956" cy="667163"/>
            </a:xfrm>
            <a:prstGeom prst="rect">
              <a:avLst/>
            </a:prstGeom>
            <a:noFill/>
          </p:spPr>
          <p:txBody>
            <a:bodyPr wrap="square" rtlCol="0">
              <a:spAutoFit/>
            </a:bodyPr>
            <a:lstStyle/>
            <a:p>
              <a:pPr algn="ctr"/>
              <a:r>
                <a:rPr lang="en-US" altLang="zh-CN" sz="1600" b="0" i="1" dirty="0">
                  <a:latin typeface="Times New Roman" panose="02020603050405020304" pitchFamily="18" charset="0"/>
                  <a:cs typeface="Times New Roman" panose="02020603050405020304" pitchFamily="18" charset="0"/>
                </a:rPr>
                <a:t>o</a:t>
              </a:r>
              <a:r>
                <a:rPr lang="en-US" altLang="zh-CN" sz="1600" b="0" i="1" baseline="-25000" dirty="0">
                  <a:latin typeface="Times New Roman" panose="02020603050405020304" pitchFamily="18" charset="0"/>
                  <a:cs typeface="Times New Roman" panose="02020603050405020304" pitchFamily="18" charset="0"/>
                </a:rPr>
                <a:t>r</a:t>
              </a:r>
              <a:endParaRPr lang="zh-CN" altLang="en-US" sz="1600" b="0" i="1" baseline="-25000" dirty="0">
                <a:latin typeface="Times New Roman" panose="02020603050405020304" pitchFamily="18" charset="0"/>
                <a:cs typeface="Times New Roman" panose="02020603050405020304" pitchFamily="18" charset="0"/>
              </a:endParaRPr>
            </a:p>
          </p:txBody>
        </p:sp>
        <p:cxnSp>
          <p:nvCxnSpPr>
            <p:cNvPr id="11" name="直接连接符 10">
              <a:extLst>
                <a:ext uri="{FF2B5EF4-FFF2-40B4-BE49-F238E27FC236}">
                  <a16:creationId xmlns:a16="http://schemas.microsoft.com/office/drawing/2014/main" id="{958066AE-A087-0BF7-0D3F-18F040BC750A}"/>
                </a:ext>
              </a:extLst>
            </p:cNvPr>
            <p:cNvCxnSpPr>
              <a:cxnSpLocks/>
              <a:endCxn id="14" idx="0"/>
            </p:cNvCxnSpPr>
            <p:nvPr/>
          </p:nvCxnSpPr>
          <p:spPr>
            <a:xfrm flipH="1">
              <a:off x="5918441" y="3765825"/>
              <a:ext cx="592139" cy="1644174"/>
            </a:xfrm>
            <a:prstGeom prst="lin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695445E5-7994-B281-D472-449B0A15A1BA}"/>
                </a:ext>
              </a:extLst>
            </p:cNvPr>
            <p:cNvCxnSpPr>
              <a:cxnSpLocks/>
            </p:cNvCxnSpPr>
            <p:nvPr/>
          </p:nvCxnSpPr>
          <p:spPr>
            <a:xfrm flipH="1">
              <a:off x="4931022" y="5416606"/>
              <a:ext cx="506737" cy="1357232"/>
            </a:xfrm>
            <a:prstGeom prst="lin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直接连接符 12">
              <a:extLst>
                <a:ext uri="{FF2B5EF4-FFF2-40B4-BE49-F238E27FC236}">
                  <a16:creationId xmlns:a16="http://schemas.microsoft.com/office/drawing/2014/main" id="{5CE7C430-12CF-5387-AB19-5B6A4AA40A44}"/>
                </a:ext>
              </a:extLst>
            </p:cNvPr>
            <p:cNvCxnSpPr>
              <a:cxnSpLocks/>
              <a:endCxn id="10" idx="0"/>
            </p:cNvCxnSpPr>
            <p:nvPr/>
          </p:nvCxnSpPr>
          <p:spPr>
            <a:xfrm>
              <a:off x="6518843" y="3767528"/>
              <a:ext cx="1128088" cy="1653653"/>
            </a:xfrm>
            <a:prstGeom prst="lin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14" name="文本框 13">
              <a:extLst>
                <a:ext uri="{FF2B5EF4-FFF2-40B4-BE49-F238E27FC236}">
                  <a16:creationId xmlns:a16="http://schemas.microsoft.com/office/drawing/2014/main" id="{6255F716-537B-AE58-B082-648AD1E8FC36}"/>
                </a:ext>
              </a:extLst>
            </p:cNvPr>
            <p:cNvSpPr txBox="1"/>
            <p:nvPr/>
          </p:nvSpPr>
          <p:spPr>
            <a:xfrm>
              <a:off x="5538962" y="5409999"/>
              <a:ext cx="758956" cy="667163"/>
            </a:xfrm>
            <a:prstGeom prst="rect">
              <a:avLst/>
            </a:prstGeom>
            <a:noFill/>
          </p:spPr>
          <p:txBody>
            <a:bodyPr wrap="square" rtlCol="0">
              <a:spAutoFit/>
            </a:bodyPr>
            <a:lstStyle/>
            <a:p>
              <a:pPr algn="ctr"/>
              <a:r>
                <a:rPr lang="en-US" altLang="zh-CN" sz="1600" b="0" i="1" dirty="0">
                  <a:latin typeface="Times New Roman" panose="02020603050405020304" pitchFamily="18" charset="0"/>
                  <a:cs typeface="Times New Roman" panose="02020603050405020304" pitchFamily="18" charset="0"/>
                </a:rPr>
                <a:t>o</a:t>
              </a:r>
              <a:r>
                <a:rPr lang="en-US" altLang="zh-CN" sz="1600" b="0" i="1" baseline="-25000" dirty="0">
                  <a:latin typeface="Times New Roman" panose="02020603050405020304" pitchFamily="18" charset="0"/>
                  <a:cs typeface="Times New Roman" panose="02020603050405020304" pitchFamily="18" charset="0"/>
                </a:rPr>
                <a:t>0</a:t>
              </a:r>
              <a:endParaRPr lang="zh-CN" altLang="en-US" sz="1600" b="0" i="1" baseline="-25000" dirty="0">
                <a:latin typeface="Times New Roman" panose="02020603050405020304" pitchFamily="18" charset="0"/>
                <a:cs typeface="Times New Roman" panose="02020603050405020304" pitchFamily="18" charset="0"/>
              </a:endParaRPr>
            </a:p>
          </p:txBody>
        </p:sp>
      </p:grpSp>
      <p:sp>
        <p:nvSpPr>
          <p:cNvPr id="22" name="矩形 2">
            <a:extLst>
              <a:ext uri="{FF2B5EF4-FFF2-40B4-BE49-F238E27FC236}">
                <a16:creationId xmlns:a16="http://schemas.microsoft.com/office/drawing/2014/main" id="{FE6B062D-1A15-11CA-E4A1-8C0E5E09BA9D}"/>
              </a:ext>
            </a:extLst>
          </p:cNvPr>
          <p:cNvSpPr>
            <a:spLocks noChangeArrowheads="1"/>
          </p:cNvSpPr>
          <p:nvPr/>
        </p:nvSpPr>
        <p:spPr bwMode="auto">
          <a:xfrm>
            <a:off x="1028391" y="6276795"/>
            <a:ext cx="2160000"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(a) </a:t>
            </a:r>
            <a:r>
              <a:rPr lang="zh-CN" altLang="en-US" sz="1800" b="0" dirty="0">
                <a:latin typeface="微软雅黑" panose="020B0503020204020204" pitchFamily="34" charset="-122"/>
                <a:ea typeface="微软雅黑" panose="020B0503020204020204" pitchFamily="34" charset="-122"/>
              </a:rPr>
              <a:t>节理单元张开度</a:t>
            </a:r>
            <a:endParaRPr lang="zh-CN" altLang="zh-CN" sz="1800" b="0" dirty="0">
              <a:latin typeface="微软雅黑" panose="020B0503020204020204" pitchFamily="34" charset="-122"/>
              <a:ea typeface="微软雅黑" panose="020B0503020204020204" pitchFamily="34" charset="-122"/>
            </a:endParaRPr>
          </a:p>
        </p:txBody>
      </p:sp>
      <p:sp>
        <p:nvSpPr>
          <p:cNvPr id="23" name="矩形 2">
            <a:extLst>
              <a:ext uri="{FF2B5EF4-FFF2-40B4-BE49-F238E27FC236}">
                <a16:creationId xmlns:a16="http://schemas.microsoft.com/office/drawing/2014/main" id="{3697A90B-8EB5-73F0-2DA4-1EF71E3B9DE0}"/>
              </a:ext>
            </a:extLst>
          </p:cNvPr>
          <p:cNvSpPr>
            <a:spLocks noChangeArrowheads="1"/>
          </p:cNvSpPr>
          <p:nvPr/>
        </p:nvSpPr>
        <p:spPr bwMode="auto">
          <a:xfrm>
            <a:off x="3567242" y="6267442"/>
            <a:ext cx="2009515"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(b) </a:t>
            </a:r>
            <a:r>
              <a:rPr lang="zh-CN" altLang="en-US" sz="1800" b="0" dirty="0">
                <a:latin typeface="微软雅黑" panose="020B0503020204020204" pitchFamily="34" charset="-122"/>
                <a:ea typeface="微软雅黑" panose="020B0503020204020204" pitchFamily="34" charset="-122"/>
              </a:rPr>
              <a:t>节理单元本构</a:t>
            </a:r>
            <a:endParaRPr lang="zh-CN" altLang="zh-CN" sz="1800" b="0" dirty="0">
              <a:latin typeface="微软雅黑" panose="020B0503020204020204" pitchFamily="34" charset="-122"/>
              <a:ea typeface="微软雅黑" panose="020B0503020204020204" pitchFamily="34" charset="-122"/>
            </a:endParaRPr>
          </a:p>
        </p:txBody>
      </p:sp>
      <p:sp>
        <p:nvSpPr>
          <p:cNvPr id="24" name="灯片编号占位符 23">
            <a:extLst>
              <a:ext uri="{FF2B5EF4-FFF2-40B4-BE49-F238E27FC236}">
                <a16:creationId xmlns:a16="http://schemas.microsoft.com/office/drawing/2014/main" id="{A61D39AC-9480-CAF1-5574-BB3BB5DB4158}"/>
              </a:ext>
            </a:extLst>
          </p:cNvPr>
          <p:cNvSpPr>
            <a:spLocks noGrp="1"/>
          </p:cNvSpPr>
          <p:nvPr>
            <p:ph type="sldNum" sz="quarter" idx="12"/>
          </p:nvPr>
        </p:nvSpPr>
        <p:spPr/>
        <p:txBody>
          <a:bodyPr/>
          <a:lstStyle/>
          <a:p>
            <a:pPr>
              <a:defRPr/>
            </a:pPr>
            <a:fld id="{8E7F6652-62A1-454F-81FD-501A0D85DAEF}" type="slidenum">
              <a:rPr lang="en-US" altLang="zh-CN" smtClean="0"/>
              <a:pPr>
                <a:defRPr/>
              </a:pPr>
              <a:t>20</a:t>
            </a:fld>
            <a:endParaRPr lang="en-US" altLang="zh-CN"/>
          </a:p>
        </p:txBody>
      </p:sp>
      <p:pic>
        <p:nvPicPr>
          <p:cNvPr id="26" name="图片 25" descr="图片包含 折线图&#10;&#10;描述已自动生成">
            <a:extLst>
              <a:ext uri="{FF2B5EF4-FFF2-40B4-BE49-F238E27FC236}">
                <a16:creationId xmlns:a16="http://schemas.microsoft.com/office/drawing/2014/main" id="{76835A30-A537-B70A-EA2A-5240F91A7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8750" y="4547989"/>
            <a:ext cx="2088087" cy="1735200"/>
          </a:xfrm>
          <a:prstGeom prst="rect">
            <a:avLst/>
          </a:prstGeom>
        </p:spPr>
      </p:pic>
      <p:sp>
        <p:nvSpPr>
          <p:cNvPr id="27" name="矩形 2">
            <a:extLst>
              <a:ext uri="{FF2B5EF4-FFF2-40B4-BE49-F238E27FC236}">
                <a16:creationId xmlns:a16="http://schemas.microsoft.com/office/drawing/2014/main" id="{105ABBD4-04FA-EFF5-8F6A-D646AF319089}"/>
              </a:ext>
            </a:extLst>
          </p:cNvPr>
          <p:cNvSpPr>
            <a:spLocks noChangeArrowheads="1"/>
          </p:cNvSpPr>
          <p:nvPr/>
        </p:nvSpPr>
        <p:spPr bwMode="auto">
          <a:xfrm>
            <a:off x="6108035" y="6276795"/>
            <a:ext cx="2009515"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(c) </a:t>
            </a:r>
            <a:r>
              <a:rPr lang="zh-CN" altLang="en-US" sz="1800" b="0" dirty="0">
                <a:latin typeface="微软雅黑" panose="020B0503020204020204" pitchFamily="34" charset="-122"/>
                <a:ea typeface="微软雅黑" panose="020B0503020204020204" pitchFamily="34" charset="-122"/>
              </a:rPr>
              <a:t>强度包络线</a:t>
            </a:r>
            <a:endParaRPr lang="zh-CN" altLang="zh-CN" sz="18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954514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三、研究方案设计及可行性分析</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3.1. </a:t>
            </a:r>
            <a:r>
              <a:rPr lang="zh-CN" altLang="en-US" b="0" dirty="0">
                <a:latin typeface="微软雅黑" pitchFamily="34" charset="-122"/>
                <a:ea typeface="微软雅黑" pitchFamily="34" charset="-122"/>
              </a:rPr>
              <a:t>研究方法</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193516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4</a:t>
            </a:r>
            <a:r>
              <a:rPr lang="zh-CN" altLang="en-US" sz="1600" b="0" dirty="0">
                <a:solidFill>
                  <a:schemeClr val="tx1"/>
                </a:solidFill>
                <a:latin typeface="微软雅黑" pitchFamily="34" charset="-122"/>
                <a:ea typeface="微软雅黑" pitchFamily="34" charset="-122"/>
              </a:rPr>
              <a:t>、使用</a:t>
            </a:r>
            <a:r>
              <a:rPr lang="zh-CN" altLang="en-US" sz="1600" b="0" dirty="0">
                <a:solidFill>
                  <a:srgbClr val="FF0000"/>
                </a:solidFill>
                <a:latin typeface="微软雅黑" pitchFamily="34" charset="-122"/>
                <a:ea typeface="微软雅黑" pitchFamily="34" charset="-122"/>
              </a:rPr>
              <a:t>全配对搜索算法</a:t>
            </a:r>
            <a:r>
              <a:rPr lang="zh-CN" altLang="en-US" sz="1600" b="0" dirty="0">
                <a:solidFill>
                  <a:schemeClr val="tx1"/>
                </a:solidFill>
                <a:latin typeface="微软雅黑" pitchFamily="34" charset="-122"/>
                <a:ea typeface="微软雅黑" pitchFamily="34" charset="-122"/>
              </a:rPr>
              <a:t>遍历</a:t>
            </a:r>
            <a:r>
              <a:rPr lang="en-US" altLang="zh-CN" sz="1600" b="0" dirty="0">
                <a:solidFill>
                  <a:schemeClr val="tx1"/>
                </a:solidFill>
                <a:latin typeface="微软雅黑" pitchFamily="34" charset="-122"/>
                <a:ea typeface="微软雅黑" pitchFamily="34" charset="-122"/>
              </a:rPr>
              <a:t>SPH</a:t>
            </a:r>
            <a:r>
              <a:rPr lang="zh-CN" altLang="en-US" sz="1600" b="0" dirty="0">
                <a:solidFill>
                  <a:schemeClr val="tx1"/>
                </a:solidFill>
                <a:latin typeface="微软雅黑" pitchFamily="34" charset="-122"/>
                <a:ea typeface="微软雅黑" pitchFamily="34" charset="-122"/>
              </a:rPr>
              <a:t>粒子，获得相关粒子在支持域中的粒子列表。</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5</a:t>
            </a:r>
            <a:r>
              <a:rPr lang="zh-CN" altLang="en-US" sz="1600" b="0" dirty="0">
                <a:solidFill>
                  <a:schemeClr val="tx1"/>
                </a:solidFill>
                <a:latin typeface="微软雅黑" pitchFamily="34" charset="-122"/>
                <a:ea typeface="微软雅黑" pitchFamily="34" charset="-122"/>
              </a:rPr>
              <a:t>、采用</a:t>
            </a:r>
            <a:r>
              <a:rPr lang="en-US" altLang="zh-CN" sz="1600" b="0" dirty="0">
                <a:solidFill>
                  <a:srgbClr val="FF0000"/>
                </a:solidFill>
                <a:latin typeface="微软雅黑" pitchFamily="34" charset="-122"/>
                <a:ea typeface="微软雅黑" pitchFamily="34" charset="-122"/>
              </a:rPr>
              <a:t>Courant–Friedrich–Levy</a:t>
            </a:r>
            <a:r>
              <a:rPr lang="zh-CN" altLang="en-US" sz="1600" b="0" dirty="0">
                <a:solidFill>
                  <a:schemeClr val="tx1"/>
                </a:solidFill>
                <a:latin typeface="微软雅黑" pitchFamily="34" charset="-122"/>
                <a:ea typeface="微软雅黑" pitchFamily="34" charset="-122"/>
              </a:rPr>
              <a:t>条件估计粒子的时间步长，采用</a:t>
            </a:r>
            <a:r>
              <a:rPr lang="en-US" altLang="zh-CN" sz="1600" b="0" dirty="0">
                <a:solidFill>
                  <a:srgbClr val="FF0000"/>
                </a:solidFill>
                <a:latin typeface="微软雅黑" pitchFamily="34" charset="-122"/>
                <a:ea typeface="微软雅黑" pitchFamily="34" charset="-122"/>
              </a:rPr>
              <a:t>Leap-Frog</a:t>
            </a:r>
            <a:r>
              <a:rPr lang="zh-CN" altLang="en-US" sz="1600" b="0" dirty="0">
                <a:solidFill>
                  <a:schemeClr val="tx1"/>
                </a:solidFill>
                <a:latin typeface="微软雅黑" pitchFamily="34" charset="-122"/>
                <a:ea typeface="微软雅黑" pitchFamily="34" charset="-122"/>
              </a:rPr>
              <a:t>显式积分法对离散化的</a:t>
            </a:r>
            <a:r>
              <a:rPr lang="en-US" altLang="zh-CN" sz="1600" b="0" dirty="0">
                <a:solidFill>
                  <a:schemeClr val="tx1"/>
                </a:solidFill>
                <a:latin typeface="微软雅黑" pitchFamily="34" charset="-122"/>
                <a:ea typeface="微软雅黑" pitchFamily="34" charset="-122"/>
              </a:rPr>
              <a:t>SPH</a:t>
            </a:r>
            <a:r>
              <a:rPr lang="zh-CN" altLang="en-US" sz="1600" b="0" dirty="0">
                <a:solidFill>
                  <a:schemeClr val="tx1"/>
                </a:solidFill>
                <a:latin typeface="微软雅黑" pitchFamily="34" charset="-122"/>
                <a:ea typeface="微软雅黑" pitchFamily="34" charset="-122"/>
              </a:rPr>
              <a:t>方程进行积分。</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6</a:t>
            </a:r>
            <a:r>
              <a:rPr lang="zh-CN" altLang="en-US" sz="1600" b="0" dirty="0">
                <a:solidFill>
                  <a:schemeClr val="tx1"/>
                </a:solidFill>
                <a:latin typeface="微软雅黑" pitchFamily="34" charset="-122"/>
                <a:ea typeface="微软雅黑" pitchFamily="34" charset="-122"/>
              </a:rPr>
              <a:t>、将流固交互边界转化为</a:t>
            </a:r>
            <a:r>
              <a:rPr lang="zh-CN" altLang="en-US" sz="1600" b="0" dirty="0">
                <a:solidFill>
                  <a:srgbClr val="FF0000"/>
                </a:solidFill>
                <a:latin typeface="微软雅黑" pitchFamily="34" charset="-122"/>
                <a:ea typeface="微软雅黑" pitchFamily="34" charset="-122"/>
              </a:rPr>
              <a:t>虚粒子</a:t>
            </a:r>
            <a:r>
              <a:rPr lang="zh-CN" altLang="en-US" sz="1600" b="0" dirty="0">
                <a:solidFill>
                  <a:schemeClr val="tx1"/>
                </a:solidFill>
                <a:latin typeface="微软雅黑" pitchFamily="34" charset="-122"/>
                <a:ea typeface="微软雅黑" pitchFamily="34" charset="-122"/>
              </a:rPr>
              <a:t>，给虚粒子添加</a:t>
            </a:r>
            <a:r>
              <a:rPr lang="zh-CN" altLang="en-US" sz="1600" b="0" dirty="0">
                <a:solidFill>
                  <a:srgbClr val="FF0000"/>
                </a:solidFill>
                <a:latin typeface="微软雅黑" pitchFamily="34" charset="-122"/>
                <a:ea typeface="微软雅黑" pitchFamily="34" charset="-122"/>
              </a:rPr>
              <a:t>排斥反力</a:t>
            </a:r>
            <a:r>
              <a:rPr lang="zh-CN" altLang="en-US" sz="1600" b="0" dirty="0">
                <a:solidFill>
                  <a:schemeClr val="tx1"/>
                </a:solidFill>
                <a:latin typeface="微软雅黑" pitchFamily="34" charset="-122"/>
                <a:ea typeface="微软雅黑" pitchFamily="34" charset="-122"/>
              </a:rPr>
              <a:t>，并将</a:t>
            </a:r>
            <a:r>
              <a:rPr lang="zh-CN" altLang="en-US" sz="1600" b="0" dirty="0">
                <a:solidFill>
                  <a:srgbClr val="FF0000"/>
                </a:solidFill>
                <a:latin typeface="微软雅黑" pitchFamily="34" charset="-122"/>
                <a:ea typeface="微软雅黑" pitchFamily="34" charset="-122"/>
              </a:rPr>
              <a:t>反作用力</a:t>
            </a:r>
            <a:r>
              <a:rPr lang="zh-CN" altLang="en-US" sz="1600" b="0" dirty="0">
                <a:solidFill>
                  <a:schemeClr val="tx1"/>
                </a:solidFill>
                <a:latin typeface="微软雅黑" pitchFamily="34" charset="-122"/>
                <a:ea typeface="微软雅黑" pitchFamily="34" charset="-122"/>
              </a:rPr>
              <a:t>以外力的形式添加到</a:t>
            </a:r>
            <a:r>
              <a:rPr lang="en-US" altLang="zh-CN" sz="1600" b="0" dirty="0">
                <a:solidFill>
                  <a:schemeClr val="tx1"/>
                </a:solidFill>
                <a:latin typeface="微软雅黑" pitchFamily="34" charset="-122"/>
                <a:ea typeface="微软雅黑" pitchFamily="34" charset="-122"/>
              </a:rPr>
              <a:t>FDEM</a:t>
            </a:r>
            <a:r>
              <a:rPr lang="zh-CN" altLang="en-US" sz="1600" b="0" dirty="0">
                <a:solidFill>
                  <a:schemeClr val="tx1"/>
                </a:solidFill>
                <a:latin typeface="微软雅黑" pitchFamily="34" charset="-122"/>
                <a:ea typeface="微软雅黑" pitchFamily="34" charset="-122"/>
              </a:rPr>
              <a:t>的控制方程中，实现</a:t>
            </a:r>
            <a:r>
              <a:rPr lang="en-US" altLang="zh-CN" sz="1600" b="0" dirty="0">
                <a:solidFill>
                  <a:schemeClr val="tx1"/>
                </a:solidFill>
                <a:latin typeface="微软雅黑" pitchFamily="34" charset="-122"/>
                <a:ea typeface="微软雅黑" pitchFamily="34" charset="-122"/>
              </a:rPr>
              <a:t>SPH</a:t>
            </a:r>
            <a:r>
              <a:rPr lang="zh-CN" altLang="en-US" sz="1600" b="0" dirty="0">
                <a:solidFill>
                  <a:schemeClr val="tx1"/>
                </a:solidFill>
                <a:latin typeface="微软雅黑" pitchFamily="34" charset="-122"/>
                <a:ea typeface="微软雅黑" pitchFamily="34" charset="-122"/>
              </a:rPr>
              <a:t>的</a:t>
            </a:r>
            <a:r>
              <a:rPr lang="zh-CN" altLang="en-US" sz="1600" b="0" dirty="0">
                <a:solidFill>
                  <a:srgbClr val="FF0000"/>
                </a:solidFill>
                <a:latin typeface="微软雅黑" pitchFamily="34" charset="-122"/>
                <a:ea typeface="微软雅黑" pitchFamily="34" charset="-122"/>
              </a:rPr>
              <a:t>边界处理</a:t>
            </a:r>
            <a:r>
              <a:rPr lang="zh-CN" altLang="en-US" sz="1600" b="0" dirty="0">
                <a:solidFill>
                  <a:schemeClr val="tx1"/>
                </a:solidFill>
                <a:latin typeface="微软雅黑" pitchFamily="34" charset="-122"/>
                <a:ea typeface="微软雅黑" pitchFamily="34" charset="-122"/>
              </a:rPr>
              <a:t>和</a:t>
            </a:r>
            <a:r>
              <a:rPr lang="en-US" altLang="zh-CN" sz="1600" b="0" dirty="0">
                <a:solidFill>
                  <a:srgbClr val="FF0000"/>
                </a:solidFill>
                <a:latin typeface="微软雅黑" pitchFamily="34" charset="-122"/>
                <a:ea typeface="微软雅黑" pitchFamily="34" charset="-122"/>
              </a:rPr>
              <a:t>FDEM-SPH</a:t>
            </a:r>
            <a:r>
              <a:rPr lang="zh-CN" altLang="en-US" sz="1600" b="0" dirty="0">
                <a:solidFill>
                  <a:schemeClr val="tx1"/>
                </a:solidFill>
                <a:latin typeface="微软雅黑" pitchFamily="34" charset="-122"/>
                <a:ea typeface="微软雅黑" pitchFamily="34" charset="-122"/>
              </a:rPr>
              <a:t>耦合计算。</a:t>
            </a:r>
          </a:p>
        </p:txBody>
      </p:sp>
      <p:pic>
        <p:nvPicPr>
          <p:cNvPr id="5193" name="图片 5192">
            <a:extLst>
              <a:ext uri="{FF2B5EF4-FFF2-40B4-BE49-F238E27FC236}">
                <a16:creationId xmlns:a16="http://schemas.microsoft.com/office/drawing/2014/main" id="{BAE20BDC-5380-81F5-FA5A-2892922A4484}"/>
              </a:ext>
            </a:extLst>
          </p:cNvPr>
          <p:cNvPicPr>
            <a:picLocks noChangeAspect="1"/>
          </p:cNvPicPr>
          <p:nvPr/>
        </p:nvPicPr>
        <p:blipFill>
          <a:blip r:embed="rId3"/>
          <a:stretch>
            <a:fillRect/>
          </a:stretch>
        </p:blipFill>
        <p:spPr>
          <a:xfrm>
            <a:off x="1252165" y="4109111"/>
            <a:ext cx="1800000" cy="1800000"/>
          </a:xfrm>
          <a:prstGeom prst="rect">
            <a:avLst/>
          </a:prstGeom>
        </p:spPr>
      </p:pic>
      <p:pic>
        <p:nvPicPr>
          <p:cNvPr id="5194" name="图片 5193">
            <a:extLst>
              <a:ext uri="{FF2B5EF4-FFF2-40B4-BE49-F238E27FC236}">
                <a16:creationId xmlns:a16="http://schemas.microsoft.com/office/drawing/2014/main" id="{9070CEF4-D6B4-321D-CF54-4B90343C2FD4}"/>
              </a:ext>
            </a:extLst>
          </p:cNvPr>
          <p:cNvPicPr>
            <a:picLocks noChangeAspect="1"/>
          </p:cNvPicPr>
          <p:nvPr/>
        </p:nvPicPr>
        <p:blipFill>
          <a:blip r:embed="rId4"/>
          <a:stretch>
            <a:fillRect/>
          </a:stretch>
        </p:blipFill>
        <p:spPr>
          <a:xfrm>
            <a:off x="6260110" y="4135229"/>
            <a:ext cx="1800000" cy="1773882"/>
          </a:xfrm>
          <a:prstGeom prst="rect">
            <a:avLst/>
          </a:prstGeom>
        </p:spPr>
      </p:pic>
      <p:sp>
        <p:nvSpPr>
          <p:cNvPr id="5195" name="灯片编号占位符 5194">
            <a:extLst>
              <a:ext uri="{FF2B5EF4-FFF2-40B4-BE49-F238E27FC236}">
                <a16:creationId xmlns:a16="http://schemas.microsoft.com/office/drawing/2014/main" id="{C628F598-2521-C32A-21B8-2896857E77F1}"/>
              </a:ext>
            </a:extLst>
          </p:cNvPr>
          <p:cNvSpPr>
            <a:spLocks noGrp="1"/>
          </p:cNvSpPr>
          <p:nvPr>
            <p:ph type="sldNum" sz="quarter" idx="12"/>
          </p:nvPr>
        </p:nvSpPr>
        <p:spPr/>
        <p:txBody>
          <a:bodyPr/>
          <a:lstStyle/>
          <a:p>
            <a:pPr>
              <a:defRPr/>
            </a:pPr>
            <a:fld id="{8E7F6652-62A1-454F-81FD-501A0D85DAEF}" type="slidenum">
              <a:rPr lang="en-US" altLang="zh-CN" smtClean="0"/>
              <a:pPr>
                <a:defRPr/>
              </a:pPr>
              <a:t>21</a:t>
            </a:fld>
            <a:endParaRPr lang="en-US" altLang="zh-CN"/>
          </a:p>
        </p:txBody>
      </p:sp>
      <p:pic>
        <p:nvPicPr>
          <p:cNvPr id="5197" name="图片 5196">
            <a:extLst>
              <a:ext uri="{FF2B5EF4-FFF2-40B4-BE49-F238E27FC236}">
                <a16:creationId xmlns:a16="http://schemas.microsoft.com/office/drawing/2014/main" id="{9A5A5D4F-B8AA-4502-CA90-8A1C3684C4B8}"/>
              </a:ext>
            </a:extLst>
          </p:cNvPr>
          <p:cNvPicPr>
            <a:picLocks noChangeAspect="1"/>
          </p:cNvPicPr>
          <p:nvPr/>
        </p:nvPicPr>
        <p:blipFill>
          <a:blip r:embed="rId5"/>
          <a:stretch>
            <a:fillRect/>
          </a:stretch>
        </p:blipFill>
        <p:spPr>
          <a:xfrm>
            <a:off x="3730569" y="4135229"/>
            <a:ext cx="1851137" cy="1800000"/>
          </a:xfrm>
          <a:prstGeom prst="rect">
            <a:avLst/>
          </a:prstGeom>
        </p:spPr>
      </p:pic>
      <p:sp>
        <p:nvSpPr>
          <p:cNvPr id="5198" name="矩形 2">
            <a:extLst>
              <a:ext uri="{FF2B5EF4-FFF2-40B4-BE49-F238E27FC236}">
                <a16:creationId xmlns:a16="http://schemas.microsoft.com/office/drawing/2014/main" id="{734155F3-1911-4A45-A5E1-0D36EACB42D5}"/>
              </a:ext>
            </a:extLst>
          </p:cNvPr>
          <p:cNvSpPr>
            <a:spLocks noChangeArrowheads="1"/>
          </p:cNvSpPr>
          <p:nvPr/>
        </p:nvSpPr>
        <p:spPr bwMode="auto">
          <a:xfrm>
            <a:off x="1303013" y="6094222"/>
            <a:ext cx="1638650"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(a) NNPS</a:t>
            </a:r>
            <a:endParaRPr lang="zh-CN" altLang="zh-CN" sz="1800" b="0" dirty="0">
              <a:latin typeface="微软雅黑" panose="020B0503020204020204" pitchFamily="34" charset="-122"/>
              <a:ea typeface="微软雅黑" panose="020B0503020204020204" pitchFamily="34" charset="-122"/>
            </a:endParaRPr>
          </a:p>
        </p:txBody>
      </p:sp>
      <p:sp>
        <p:nvSpPr>
          <p:cNvPr id="5199" name="矩形 2">
            <a:extLst>
              <a:ext uri="{FF2B5EF4-FFF2-40B4-BE49-F238E27FC236}">
                <a16:creationId xmlns:a16="http://schemas.microsoft.com/office/drawing/2014/main" id="{0A870BE5-A1B8-36A8-7733-0C4D33CABF1B}"/>
              </a:ext>
            </a:extLst>
          </p:cNvPr>
          <p:cNvSpPr>
            <a:spLocks noChangeArrowheads="1"/>
          </p:cNvSpPr>
          <p:nvPr/>
        </p:nvSpPr>
        <p:spPr bwMode="auto">
          <a:xfrm>
            <a:off x="3492000" y="6094222"/>
            <a:ext cx="2159999"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(b) Leap-Frog</a:t>
            </a:r>
            <a:endParaRPr lang="zh-CN" altLang="zh-CN" sz="1800" b="0" dirty="0">
              <a:latin typeface="微软雅黑" panose="020B0503020204020204" pitchFamily="34" charset="-122"/>
              <a:ea typeface="微软雅黑" panose="020B0503020204020204" pitchFamily="34" charset="-122"/>
            </a:endParaRPr>
          </a:p>
        </p:txBody>
      </p:sp>
      <p:sp>
        <p:nvSpPr>
          <p:cNvPr id="5200" name="矩形 2">
            <a:extLst>
              <a:ext uri="{FF2B5EF4-FFF2-40B4-BE49-F238E27FC236}">
                <a16:creationId xmlns:a16="http://schemas.microsoft.com/office/drawing/2014/main" id="{3CAED0D7-5F6F-045B-1E5F-42DB70508D0B}"/>
              </a:ext>
            </a:extLst>
          </p:cNvPr>
          <p:cNvSpPr>
            <a:spLocks noChangeArrowheads="1"/>
          </p:cNvSpPr>
          <p:nvPr/>
        </p:nvSpPr>
        <p:spPr bwMode="auto">
          <a:xfrm>
            <a:off x="6260110" y="6094222"/>
            <a:ext cx="1800000"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(c) </a:t>
            </a:r>
            <a:r>
              <a:rPr lang="zh-CN" altLang="en-US" sz="1800" b="0" dirty="0">
                <a:latin typeface="微软雅黑" panose="020B0503020204020204" pitchFamily="34" charset="-122"/>
                <a:ea typeface="微软雅黑" panose="020B0503020204020204" pitchFamily="34" charset="-122"/>
              </a:rPr>
              <a:t>边界虚粒子</a:t>
            </a:r>
            <a:endParaRPr lang="zh-CN" altLang="zh-CN" sz="18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260500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三、研究方案设计及可行性分析</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3.1. </a:t>
            </a:r>
            <a:r>
              <a:rPr lang="zh-CN" altLang="en-US" b="0" dirty="0">
                <a:latin typeface="微软雅黑" pitchFamily="34" charset="-122"/>
                <a:ea typeface="微软雅黑" pitchFamily="34" charset="-122"/>
              </a:rPr>
              <a:t>研究方法</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189016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3</a:t>
            </a:r>
            <a:r>
              <a:rPr lang="zh-CN" altLang="en-US" sz="2000" dirty="0">
                <a:solidFill>
                  <a:schemeClr val="tx1"/>
                </a:solidFill>
                <a:latin typeface="微软雅黑" pitchFamily="34" charset="-122"/>
                <a:ea typeface="微软雅黑" pitchFamily="34" charset="-122"/>
              </a:rPr>
              <a:t>）算例验证</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1</a:t>
            </a:r>
            <a:r>
              <a:rPr lang="zh-CN" altLang="en-US" sz="1600" b="0" dirty="0">
                <a:solidFill>
                  <a:schemeClr val="tx1"/>
                </a:solidFill>
                <a:latin typeface="微软雅黑" pitchFamily="34" charset="-122"/>
                <a:ea typeface="微软雅黑" pitchFamily="34" charset="-122"/>
              </a:rPr>
              <a:t>、采用斜面</a:t>
            </a:r>
            <a:r>
              <a:rPr lang="zh-CN" altLang="en-US" sz="1600" b="0" dirty="0">
                <a:solidFill>
                  <a:srgbClr val="FF0000"/>
                </a:solidFill>
                <a:latin typeface="微软雅黑" pitchFamily="34" charset="-122"/>
                <a:ea typeface="微软雅黑" pitchFamily="34" charset="-122"/>
              </a:rPr>
              <a:t>滑块模型</a:t>
            </a:r>
            <a:r>
              <a:rPr lang="zh-CN" altLang="en-US" sz="1600" b="0" dirty="0">
                <a:solidFill>
                  <a:schemeClr val="tx1"/>
                </a:solidFill>
                <a:latin typeface="微软雅黑" pitchFamily="34" charset="-122"/>
                <a:ea typeface="微软雅黑" pitchFamily="34" charset="-122"/>
              </a:rPr>
              <a:t>，分析滑块的速度和位移，验证节理单元压力和摩擦力计算的正确性。</a:t>
            </a:r>
            <a:endParaRPr lang="en-US" altLang="zh-CN" sz="16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2</a:t>
            </a:r>
            <a:r>
              <a:rPr lang="zh-CN" altLang="en-US" sz="1600" b="0" dirty="0">
                <a:solidFill>
                  <a:schemeClr val="tx1"/>
                </a:solidFill>
                <a:latin typeface="微软雅黑" pitchFamily="34" charset="-122"/>
                <a:ea typeface="微软雅黑" pitchFamily="34" charset="-122"/>
              </a:rPr>
              <a:t>、采用</a:t>
            </a:r>
            <a:r>
              <a:rPr lang="zh-CN" altLang="en-US" sz="1600" b="0" dirty="0">
                <a:solidFill>
                  <a:srgbClr val="FF0000"/>
                </a:solidFill>
                <a:latin typeface="微软雅黑" pitchFamily="34" charset="-122"/>
                <a:ea typeface="微软雅黑" pitchFamily="34" charset="-122"/>
              </a:rPr>
              <a:t>腔内剪切流动</a:t>
            </a:r>
            <a:r>
              <a:rPr lang="zh-CN" altLang="en-US" sz="1600" b="0" dirty="0">
                <a:solidFill>
                  <a:schemeClr val="tx1"/>
                </a:solidFill>
                <a:latin typeface="微软雅黑" pitchFamily="34" charset="-122"/>
                <a:ea typeface="微软雅黑" pitchFamily="34" charset="-122"/>
              </a:rPr>
              <a:t>算例，模拟流速分布，验证</a:t>
            </a:r>
            <a:r>
              <a:rPr lang="en-US" altLang="zh-CN" sz="1600" b="0" dirty="0">
                <a:solidFill>
                  <a:schemeClr val="tx1"/>
                </a:solidFill>
                <a:latin typeface="微软雅黑" pitchFamily="34" charset="-122"/>
                <a:ea typeface="微软雅黑" pitchFamily="34" charset="-122"/>
              </a:rPr>
              <a:t>SPH</a:t>
            </a:r>
            <a:r>
              <a:rPr lang="zh-CN" altLang="en-US" sz="1600" b="0" dirty="0">
                <a:solidFill>
                  <a:schemeClr val="tx1"/>
                </a:solidFill>
                <a:latin typeface="微软雅黑" pitchFamily="34" charset="-122"/>
                <a:ea typeface="微软雅黑" pitchFamily="34" charset="-122"/>
              </a:rPr>
              <a:t>程序的正确性。</a:t>
            </a:r>
            <a:endParaRPr lang="en-US" altLang="zh-CN" sz="16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3</a:t>
            </a:r>
            <a:r>
              <a:rPr lang="zh-CN" altLang="en-US" sz="1600" b="0" dirty="0">
                <a:solidFill>
                  <a:schemeClr val="tx1"/>
                </a:solidFill>
                <a:latin typeface="微软雅黑" pitchFamily="34" charset="-122"/>
                <a:ea typeface="微软雅黑" pitchFamily="34" charset="-122"/>
              </a:rPr>
              <a:t>、建立</a:t>
            </a:r>
            <a:r>
              <a:rPr lang="zh-CN" altLang="en-US" sz="1600" b="0" dirty="0">
                <a:solidFill>
                  <a:srgbClr val="FF0000"/>
                </a:solidFill>
                <a:latin typeface="微软雅黑" pitchFamily="34" charset="-122"/>
                <a:ea typeface="微软雅黑" pitchFamily="34" charset="-122"/>
              </a:rPr>
              <a:t>水槽模型</a:t>
            </a:r>
            <a:r>
              <a:rPr lang="zh-CN" altLang="en-US" sz="1600" b="0" dirty="0">
                <a:solidFill>
                  <a:schemeClr val="tx1"/>
                </a:solidFill>
                <a:latin typeface="微软雅黑" pitchFamily="34" charset="-122"/>
                <a:ea typeface="微软雅黑" pitchFamily="34" charset="-122"/>
              </a:rPr>
              <a:t>，模拟流体和槽壁的压力分布，验证</a:t>
            </a:r>
            <a:r>
              <a:rPr lang="en-US" altLang="zh-CN" sz="1600" b="0" dirty="0">
                <a:solidFill>
                  <a:schemeClr val="tx1"/>
                </a:solidFill>
                <a:latin typeface="微软雅黑" pitchFamily="34" charset="-122"/>
                <a:ea typeface="微软雅黑" pitchFamily="34" charset="-122"/>
              </a:rPr>
              <a:t>FDEM-SPH</a:t>
            </a:r>
            <a:r>
              <a:rPr lang="zh-CN" altLang="en-US" sz="1600" b="0" dirty="0">
                <a:solidFill>
                  <a:schemeClr val="tx1"/>
                </a:solidFill>
                <a:latin typeface="微软雅黑" pitchFamily="34" charset="-122"/>
                <a:ea typeface="微软雅黑" pitchFamily="34" charset="-122"/>
              </a:rPr>
              <a:t>模型的正确性。</a:t>
            </a:r>
          </a:p>
        </p:txBody>
      </p:sp>
      <p:grpSp>
        <p:nvGrpSpPr>
          <p:cNvPr id="2" name="组合 1">
            <a:extLst>
              <a:ext uri="{FF2B5EF4-FFF2-40B4-BE49-F238E27FC236}">
                <a16:creationId xmlns:a16="http://schemas.microsoft.com/office/drawing/2014/main" id="{B3B07C0D-089A-CF30-420D-22F220C23697}"/>
              </a:ext>
            </a:extLst>
          </p:cNvPr>
          <p:cNvGrpSpPr>
            <a:grpSpLocks noChangeAspect="1"/>
          </p:cNvGrpSpPr>
          <p:nvPr/>
        </p:nvGrpSpPr>
        <p:grpSpPr>
          <a:xfrm>
            <a:off x="972000" y="4095024"/>
            <a:ext cx="7200000" cy="1995237"/>
            <a:chOff x="1166775" y="476252"/>
            <a:chExt cx="7828935" cy="2169525"/>
          </a:xfrm>
        </p:grpSpPr>
        <p:grpSp>
          <p:nvGrpSpPr>
            <p:cNvPr id="3" name="组合 2">
              <a:extLst>
                <a:ext uri="{FF2B5EF4-FFF2-40B4-BE49-F238E27FC236}">
                  <a16:creationId xmlns:a16="http://schemas.microsoft.com/office/drawing/2014/main" id="{B07FF148-5966-B002-A25B-9B7249239E75}"/>
                </a:ext>
              </a:extLst>
            </p:cNvPr>
            <p:cNvGrpSpPr>
              <a:grpSpLocks noChangeAspect="1"/>
            </p:cNvGrpSpPr>
            <p:nvPr/>
          </p:nvGrpSpPr>
          <p:grpSpPr>
            <a:xfrm>
              <a:off x="1166775" y="644268"/>
              <a:ext cx="2967041" cy="1980000"/>
              <a:chOff x="334933" y="494697"/>
              <a:chExt cx="2898375" cy="1934177"/>
            </a:xfrm>
          </p:grpSpPr>
          <p:sp>
            <p:nvSpPr>
              <p:cNvPr id="9" name="直角三角形 8">
                <a:extLst>
                  <a:ext uri="{FF2B5EF4-FFF2-40B4-BE49-F238E27FC236}">
                    <a16:creationId xmlns:a16="http://schemas.microsoft.com/office/drawing/2014/main" id="{417704A3-6D99-D8F0-0E6B-E3C65021C3AB}"/>
                  </a:ext>
                </a:extLst>
              </p:cNvPr>
              <p:cNvSpPr>
                <a:spLocks noChangeAspect="1"/>
              </p:cNvSpPr>
              <p:nvPr/>
            </p:nvSpPr>
            <p:spPr>
              <a:xfrm flipH="1">
                <a:off x="334933" y="753513"/>
                <a:ext cx="2898375" cy="1675361"/>
              </a:xfrm>
              <a:prstGeom prst="rtTriangle">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D333B8D-2C64-4476-3BB4-E16BD26C14ED}"/>
                  </a:ext>
                </a:extLst>
              </p:cNvPr>
              <p:cNvSpPr>
                <a:spLocks noChangeAspect="1"/>
              </p:cNvSpPr>
              <p:nvPr/>
            </p:nvSpPr>
            <p:spPr>
              <a:xfrm rot="19800000" flipH="1">
                <a:off x="1990908" y="494697"/>
                <a:ext cx="720000" cy="7200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 name="图片 3">
              <a:extLst>
                <a:ext uri="{FF2B5EF4-FFF2-40B4-BE49-F238E27FC236}">
                  <a16:creationId xmlns:a16="http://schemas.microsoft.com/office/drawing/2014/main" id="{40CAFF73-25DE-2707-EAD2-D0ECD4DA1D04}"/>
                </a:ext>
              </a:extLst>
            </p:cNvPr>
            <p:cNvPicPr>
              <a:picLocks noChangeAspect="1"/>
            </p:cNvPicPr>
            <p:nvPr/>
          </p:nvPicPr>
          <p:blipFill>
            <a:blip r:embed="rId3"/>
            <a:stretch>
              <a:fillRect/>
            </a:stretch>
          </p:blipFill>
          <p:spPr>
            <a:xfrm>
              <a:off x="4408851" y="485777"/>
              <a:ext cx="2146639" cy="2160000"/>
            </a:xfrm>
            <a:prstGeom prst="rect">
              <a:avLst/>
            </a:prstGeom>
          </p:spPr>
        </p:pic>
        <p:grpSp>
          <p:nvGrpSpPr>
            <p:cNvPr id="5" name="组合 4">
              <a:extLst>
                <a:ext uri="{FF2B5EF4-FFF2-40B4-BE49-F238E27FC236}">
                  <a16:creationId xmlns:a16="http://schemas.microsoft.com/office/drawing/2014/main" id="{915C08AF-A7BB-62F0-BD4D-8FEBE3C9E5EE}"/>
                </a:ext>
              </a:extLst>
            </p:cNvPr>
            <p:cNvGrpSpPr>
              <a:grpSpLocks noChangeAspect="1"/>
            </p:cNvGrpSpPr>
            <p:nvPr/>
          </p:nvGrpSpPr>
          <p:grpSpPr>
            <a:xfrm>
              <a:off x="6835710" y="476252"/>
              <a:ext cx="2160000" cy="2160000"/>
              <a:chOff x="8475293" y="362927"/>
              <a:chExt cx="2211635" cy="2211635"/>
            </a:xfrm>
          </p:grpSpPr>
          <p:pic>
            <p:nvPicPr>
              <p:cNvPr id="7" name="图片 6">
                <a:extLst>
                  <a:ext uri="{FF2B5EF4-FFF2-40B4-BE49-F238E27FC236}">
                    <a16:creationId xmlns:a16="http://schemas.microsoft.com/office/drawing/2014/main" id="{B7F07A3C-E3EB-B9BD-7066-1FF84ED80CAD}"/>
                  </a:ext>
                </a:extLst>
              </p:cNvPr>
              <p:cNvPicPr>
                <a:picLocks noChangeAspect="1"/>
              </p:cNvPicPr>
              <p:nvPr/>
            </p:nvPicPr>
            <p:blipFill>
              <a:blip r:embed="rId4"/>
              <a:stretch>
                <a:fillRect/>
              </a:stretch>
            </p:blipFill>
            <p:spPr>
              <a:xfrm>
                <a:off x="8687878" y="534959"/>
                <a:ext cx="1800000" cy="1834989"/>
              </a:xfrm>
              <a:prstGeom prst="rect">
                <a:avLst/>
              </a:prstGeom>
            </p:spPr>
          </p:pic>
          <p:sp>
            <p:nvSpPr>
              <p:cNvPr id="8" name="任意多边形: 形状 7">
                <a:extLst>
                  <a:ext uri="{FF2B5EF4-FFF2-40B4-BE49-F238E27FC236}">
                    <a16:creationId xmlns:a16="http://schemas.microsoft.com/office/drawing/2014/main" id="{84CB691C-A48E-383D-5A3D-22D3D206B298}"/>
                  </a:ext>
                </a:extLst>
              </p:cNvPr>
              <p:cNvSpPr>
                <a:spLocks noChangeAspect="1"/>
              </p:cNvSpPr>
              <p:nvPr/>
            </p:nvSpPr>
            <p:spPr>
              <a:xfrm>
                <a:off x="8475293" y="362927"/>
                <a:ext cx="2211635" cy="2211635"/>
              </a:xfrm>
              <a:custGeom>
                <a:avLst/>
                <a:gdLst>
                  <a:gd name="connsiteX0" fmla="*/ 0 w 2160000"/>
                  <a:gd name="connsiteY0" fmla="*/ 0 h 2160000"/>
                  <a:gd name="connsiteX1" fmla="*/ 180000 w 2160000"/>
                  <a:gd name="connsiteY1" fmla="*/ 0 h 2160000"/>
                  <a:gd name="connsiteX2" fmla="*/ 180000 w 2160000"/>
                  <a:gd name="connsiteY2" fmla="*/ 1980000 h 2160000"/>
                  <a:gd name="connsiteX3" fmla="*/ 1980000 w 2160000"/>
                  <a:gd name="connsiteY3" fmla="*/ 1980000 h 2160000"/>
                  <a:gd name="connsiteX4" fmla="*/ 1980000 w 2160000"/>
                  <a:gd name="connsiteY4" fmla="*/ 0 h 2160000"/>
                  <a:gd name="connsiteX5" fmla="*/ 2160000 w 2160000"/>
                  <a:gd name="connsiteY5" fmla="*/ 0 h 2160000"/>
                  <a:gd name="connsiteX6" fmla="*/ 2160000 w 2160000"/>
                  <a:gd name="connsiteY6" fmla="*/ 2160000 h 2160000"/>
                  <a:gd name="connsiteX7" fmla="*/ 0 w 2160000"/>
                  <a:gd name="connsiteY7" fmla="*/ 216000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0000" h="2160000">
                    <a:moveTo>
                      <a:pt x="0" y="0"/>
                    </a:moveTo>
                    <a:lnTo>
                      <a:pt x="180000" y="0"/>
                    </a:lnTo>
                    <a:lnTo>
                      <a:pt x="180000" y="1980000"/>
                    </a:lnTo>
                    <a:lnTo>
                      <a:pt x="1980000" y="1980000"/>
                    </a:lnTo>
                    <a:lnTo>
                      <a:pt x="1980000" y="0"/>
                    </a:lnTo>
                    <a:lnTo>
                      <a:pt x="2160000" y="0"/>
                    </a:lnTo>
                    <a:lnTo>
                      <a:pt x="2160000" y="2160000"/>
                    </a:lnTo>
                    <a:lnTo>
                      <a:pt x="0" y="2160000"/>
                    </a:lnTo>
                    <a:close/>
                  </a:path>
                </a:pathLst>
              </a:cu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11" name="矩形 2">
            <a:extLst>
              <a:ext uri="{FF2B5EF4-FFF2-40B4-BE49-F238E27FC236}">
                <a16:creationId xmlns:a16="http://schemas.microsoft.com/office/drawing/2014/main" id="{4A4DB451-AD36-A956-BA1A-5EA8E017788B}"/>
              </a:ext>
            </a:extLst>
          </p:cNvPr>
          <p:cNvSpPr>
            <a:spLocks noChangeArrowheads="1"/>
          </p:cNvSpPr>
          <p:nvPr/>
        </p:nvSpPr>
        <p:spPr bwMode="auto">
          <a:xfrm>
            <a:off x="1587643" y="6209958"/>
            <a:ext cx="1638650"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(a) </a:t>
            </a:r>
            <a:r>
              <a:rPr lang="zh-CN" altLang="en-US" sz="1800" b="0" dirty="0">
                <a:latin typeface="微软雅黑" panose="020B0503020204020204" pitchFamily="34" charset="-122"/>
                <a:ea typeface="微软雅黑" panose="020B0503020204020204" pitchFamily="34" charset="-122"/>
              </a:rPr>
              <a:t>滑块模型</a:t>
            </a:r>
            <a:endParaRPr lang="zh-CN" altLang="zh-CN" sz="1800" b="0" dirty="0">
              <a:latin typeface="微软雅黑" panose="020B0503020204020204" pitchFamily="34" charset="-122"/>
              <a:ea typeface="微软雅黑" panose="020B0503020204020204" pitchFamily="34" charset="-122"/>
            </a:endParaRPr>
          </a:p>
        </p:txBody>
      </p:sp>
      <p:sp>
        <p:nvSpPr>
          <p:cNvPr id="12" name="矩形 2">
            <a:extLst>
              <a:ext uri="{FF2B5EF4-FFF2-40B4-BE49-F238E27FC236}">
                <a16:creationId xmlns:a16="http://schemas.microsoft.com/office/drawing/2014/main" id="{978D93E0-F548-FE44-8FE3-EDFE9D848785}"/>
              </a:ext>
            </a:extLst>
          </p:cNvPr>
          <p:cNvSpPr>
            <a:spLocks noChangeArrowheads="1"/>
          </p:cNvSpPr>
          <p:nvPr/>
        </p:nvSpPr>
        <p:spPr bwMode="auto">
          <a:xfrm>
            <a:off x="3852000" y="6210893"/>
            <a:ext cx="2159999"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(b) </a:t>
            </a:r>
            <a:r>
              <a:rPr lang="zh-CN" altLang="en-US" sz="1800" b="0" dirty="0">
                <a:latin typeface="微软雅黑" panose="020B0503020204020204" pitchFamily="34" charset="-122"/>
                <a:ea typeface="微软雅黑" panose="020B0503020204020204" pitchFamily="34" charset="-122"/>
              </a:rPr>
              <a:t>腔内剪切流模型</a:t>
            </a:r>
            <a:endParaRPr lang="zh-CN" altLang="zh-CN" sz="1800" b="0" dirty="0">
              <a:latin typeface="微软雅黑" panose="020B0503020204020204" pitchFamily="34" charset="-122"/>
              <a:ea typeface="微软雅黑" panose="020B0503020204020204" pitchFamily="34" charset="-122"/>
            </a:endParaRPr>
          </a:p>
        </p:txBody>
      </p:sp>
      <p:sp>
        <p:nvSpPr>
          <p:cNvPr id="13" name="矩形 2">
            <a:extLst>
              <a:ext uri="{FF2B5EF4-FFF2-40B4-BE49-F238E27FC236}">
                <a16:creationId xmlns:a16="http://schemas.microsoft.com/office/drawing/2014/main" id="{ADEB0830-A560-F32D-B89B-51BF55119794}"/>
              </a:ext>
            </a:extLst>
          </p:cNvPr>
          <p:cNvSpPr>
            <a:spLocks noChangeArrowheads="1"/>
          </p:cNvSpPr>
          <p:nvPr/>
        </p:nvSpPr>
        <p:spPr bwMode="auto">
          <a:xfrm>
            <a:off x="6376466" y="6210893"/>
            <a:ext cx="1638650"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(c) </a:t>
            </a:r>
            <a:r>
              <a:rPr lang="zh-CN" altLang="en-US" sz="1800" b="0" dirty="0">
                <a:latin typeface="微软雅黑" panose="020B0503020204020204" pitchFamily="34" charset="-122"/>
                <a:ea typeface="微软雅黑" panose="020B0503020204020204" pitchFamily="34" charset="-122"/>
              </a:rPr>
              <a:t>水槽模型</a:t>
            </a:r>
            <a:endParaRPr lang="zh-CN" altLang="zh-CN" sz="1800" b="0" dirty="0">
              <a:latin typeface="微软雅黑" panose="020B0503020204020204" pitchFamily="34" charset="-122"/>
              <a:ea typeface="微软雅黑" panose="020B0503020204020204" pitchFamily="34" charset="-122"/>
            </a:endParaRPr>
          </a:p>
        </p:txBody>
      </p:sp>
      <p:sp>
        <p:nvSpPr>
          <p:cNvPr id="17" name="灯片编号占位符 16">
            <a:extLst>
              <a:ext uri="{FF2B5EF4-FFF2-40B4-BE49-F238E27FC236}">
                <a16:creationId xmlns:a16="http://schemas.microsoft.com/office/drawing/2014/main" id="{0F013819-03C3-AA94-4EC9-4AC8D94D37BB}"/>
              </a:ext>
            </a:extLst>
          </p:cNvPr>
          <p:cNvSpPr>
            <a:spLocks noGrp="1"/>
          </p:cNvSpPr>
          <p:nvPr>
            <p:ph type="sldNum" sz="quarter" idx="12"/>
          </p:nvPr>
        </p:nvSpPr>
        <p:spPr/>
        <p:txBody>
          <a:bodyPr/>
          <a:lstStyle/>
          <a:p>
            <a:pPr>
              <a:defRPr/>
            </a:pPr>
            <a:fld id="{8E7F6652-62A1-454F-81FD-501A0D85DAEF}" type="slidenum">
              <a:rPr lang="en-US" altLang="zh-CN" smtClean="0"/>
              <a:pPr>
                <a:defRPr/>
              </a:pPr>
              <a:t>22</a:t>
            </a:fld>
            <a:endParaRPr lang="en-US" altLang="zh-CN" dirty="0"/>
          </a:p>
        </p:txBody>
      </p:sp>
    </p:spTree>
    <p:extLst>
      <p:ext uri="{BB962C8B-B14F-4D97-AF65-F5344CB8AC3E}">
        <p14:creationId xmlns:p14="http://schemas.microsoft.com/office/powerpoint/2010/main" val="35218526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三、研究方案设计及可行性分析</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3.1. </a:t>
            </a:r>
            <a:r>
              <a:rPr lang="zh-CN" altLang="en-US" b="0" dirty="0">
                <a:latin typeface="微软雅黑" pitchFamily="34" charset="-122"/>
                <a:ea typeface="微软雅黑" pitchFamily="34" charset="-122"/>
              </a:rPr>
              <a:t>研究方法</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189016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dirty="0">
                <a:solidFill>
                  <a:schemeClr val="tx1"/>
                </a:solidFill>
                <a:latin typeface="微软雅黑" pitchFamily="34" charset="-122"/>
                <a:ea typeface="微软雅黑" pitchFamily="34" charset="-122"/>
              </a:rPr>
              <a:t>（</a:t>
            </a:r>
            <a:r>
              <a:rPr lang="en-US" altLang="zh-CN" sz="2000" dirty="0">
                <a:solidFill>
                  <a:schemeClr val="tx1"/>
                </a:solidFill>
                <a:latin typeface="微软雅黑" pitchFamily="34" charset="-122"/>
                <a:ea typeface="微软雅黑" pitchFamily="34" charset="-122"/>
              </a:rPr>
              <a:t>4</a:t>
            </a:r>
            <a:r>
              <a:rPr lang="zh-CN" altLang="en-US" sz="2000" dirty="0">
                <a:solidFill>
                  <a:schemeClr val="tx1"/>
                </a:solidFill>
                <a:latin typeface="微软雅黑" pitchFamily="34" charset="-122"/>
                <a:ea typeface="微软雅黑" pitchFamily="34" charset="-122"/>
              </a:rPr>
              <a:t>）工程模拟应用</a:t>
            </a: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1</a:t>
            </a:r>
            <a:r>
              <a:rPr lang="zh-CN" altLang="en-US" sz="1600" b="0" dirty="0">
                <a:solidFill>
                  <a:schemeClr val="tx1"/>
                </a:solidFill>
                <a:latin typeface="微软雅黑" pitchFamily="34" charset="-122"/>
                <a:ea typeface="微软雅黑" pitchFamily="34" charset="-122"/>
              </a:rPr>
              <a:t>、通过</a:t>
            </a:r>
            <a:r>
              <a:rPr lang="zh-CN" altLang="en-US" sz="1600" b="0" dirty="0">
                <a:solidFill>
                  <a:srgbClr val="FF0000"/>
                </a:solidFill>
                <a:latin typeface="微软雅黑" pitchFamily="34" charset="-122"/>
                <a:ea typeface="微软雅黑" pitchFamily="34" charset="-122"/>
              </a:rPr>
              <a:t>单轴</a:t>
            </a:r>
            <a:r>
              <a:rPr lang="en-US" altLang="zh-CN" sz="1600" b="0" dirty="0">
                <a:solidFill>
                  <a:srgbClr val="FF0000"/>
                </a:solidFill>
                <a:latin typeface="微软雅黑" pitchFamily="34" charset="-122"/>
                <a:ea typeface="微软雅黑" pitchFamily="34" charset="-122"/>
              </a:rPr>
              <a:t>/</a:t>
            </a:r>
            <a:r>
              <a:rPr lang="zh-CN" altLang="en-US" sz="1600" b="0" dirty="0">
                <a:solidFill>
                  <a:srgbClr val="FF0000"/>
                </a:solidFill>
                <a:latin typeface="微软雅黑" pitchFamily="34" charset="-122"/>
                <a:ea typeface="微软雅黑" pitchFamily="34" charset="-122"/>
              </a:rPr>
              <a:t>三轴压缩</a:t>
            </a:r>
            <a:r>
              <a:rPr lang="zh-CN" altLang="en-US" sz="1600" b="0" dirty="0">
                <a:solidFill>
                  <a:schemeClr val="tx1"/>
                </a:solidFill>
                <a:latin typeface="微软雅黑" pitchFamily="34" charset="-122"/>
                <a:ea typeface="微软雅黑" pitchFamily="34" charset="-122"/>
              </a:rPr>
              <a:t>模拟，记录岩石的应力应变曲线，分析其弹性模量的演化和压缩强度的变化规律，研究岩石的物理力学性质。</a:t>
            </a:r>
            <a:endParaRPr lang="en-US" altLang="zh-CN" sz="16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2</a:t>
            </a:r>
            <a:r>
              <a:rPr lang="zh-CN" altLang="en-US" sz="1600" b="0" dirty="0">
                <a:solidFill>
                  <a:schemeClr val="tx1"/>
                </a:solidFill>
                <a:latin typeface="微软雅黑" pitchFamily="34" charset="-122"/>
                <a:ea typeface="微软雅黑" pitchFamily="34" charset="-122"/>
              </a:rPr>
              <a:t>、建立</a:t>
            </a:r>
            <a:r>
              <a:rPr lang="zh-CN" altLang="en-US" sz="1600" b="0" dirty="0">
                <a:solidFill>
                  <a:srgbClr val="FF0000"/>
                </a:solidFill>
                <a:latin typeface="微软雅黑" pitchFamily="34" charset="-122"/>
                <a:ea typeface="微软雅黑" pitchFamily="34" charset="-122"/>
              </a:rPr>
              <a:t>重力坝模型</a:t>
            </a:r>
            <a:r>
              <a:rPr lang="zh-CN" altLang="en-US" sz="1600" b="0" dirty="0">
                <a:solidFill>
                  <a:schemeClr val="tx1"/>
                </a:solidFill>
                <a:latin typeface="微软雅黑" pitchFamily="34" charset="-122"/>
                <a:ea typeface="微软雅黑" pitchFamily="34" charset="-122"/>
              </a:rPr>
              <a:t>，实现在真实流体作用下重力坝失稳开裂的全过程模拟。</a:t>
            </a:r>
            <a:endParaRPr lang="en-US" altLang="zh-CN" sz="16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en-US" altLang="zh-CN" sz="1600" b="0" dirty="0">
                <a:solidFill>
                  <a:schemeClr val="tx1"/>
                </a:solidFill>
                <a:latin typeface="微软雅黑" pitchFamily="34" charset="-122"/>
                <a:ea typeface="微软雅黑" pitchFamily="34" charset="-122"/>
              </a:rPr>
              <a:t>3</a:t>
            </a:r>
            <a:r>
              <a:rPr lang="zh-CN" altLang="en-US" sz="1600" b="0" dirty="0">
                <a:solidFill>
                  <a:schemeClr val="tx1"/>
                </a:solidFill>
                <a:latin typeface="微软雅黑" pitchFamily="34" charset="-122"/>
                <a:ea typeface="微软雅黑" pitchFamily="34" charset="-122"/>
              </a:rPr>
              <a:t>、建立</a:t>
            </a:r>
            <a:r>
              <a:rPr lang="zh-CN" altLang="en-US" sz="1600" b="0" dirty="0">
                <a:solidFill>
                  <a:srgbClr val="FF0000"/>
                </a:solidFill>
                <a:latin typeface="微软雅黑" pitchFamily="34" charset="-122"/>
                <a:ea typeface="微软雅黑" pitchFamily="34" charset="-122"/>
              </a:rPr>
              <a:t>涌浪模型</a:t>
            </a:r>
            <a:r>
              <a:rPr lang="zh-CN" altLang="en-US" sz="1600" b="0" dirty="0">
                <a:solidFill>
                  <a:schemeClr val="tx1"/>
                </a:solidFill>
                <a:latin typeface="微软雅黑" pitchFamily="34" charset="-122"/>
                <a:ea typeface="微软雅黑" pitchFamily="34" charset="-122"/>
              </a:rPr>
              <a:t>，模拟分析涌浪对岸边建</a:t>
            </a:r>
            <a:r>
              <a:rPr lang="en-US" altLang="zh-CN" sz="1600" b="0" dirty="0">
                <a:solidFill>
                  <a:schemeClr val="tx1"/>
                </a:solidFill>
                <a:latin typeface="微软雅黑" pitchFamily="34" charset="-122"/>
                <a:ea typeface="微软雅黑" pitchFamily="34" charset="-122"/>
              </a:rPr>
              <a:t>/</a:t>
            </a:r>
            <a:r>
              <a:rPr lang="zh-CN" altLang="en-US" sz="1600" b="0" dirty="0">
                <a:solidFill>
                  <a:schemeClr val="tx1"/>
                </a:solidFill>
                <a:latin typeface="微软雅黑" pitchFamily="34" charset="-122"/>
                <a:ea typeface="微软雅黑" pitchFamily="34" charset="-122"/>
              </a:rPr>
              <a:t>构筑物的冲击作用。</a:t>
            </a:r>
          </a:p>
        </p:txBody>
      </p:sp>
      <p:grpSp>
        <p:nvGrpSpPr>
          <p:cNvPr id="3" name="组合 2">
            <a:extLst>
              <a:ext uri="{FF2B5EF4-FFF2-40B4-BE49-F238E27FC236}">
                <a16:creationId xmlns:a16="http://schemas.microsoft.com/office/drawing/2014/main" id="{2006BC7E-77F6-E918-850F-F36CE80CFECF}"/>
              </a:ext>
            </a:extLst>
          </p:cNvPr>
          <p:cNvGrpSpPr>
            <a:grpSpLocks noChangeAspect="1"/>
          </p:cNvGrpSpPr>
          <p:nvPr/>
        </p:nvGrpSpPr>
        <p:grpSpPr>
          <a:xfrm>
            <a:off x="972000" y="4095024"/>
            <a:ext cx="7200000" cy="1918901"/>
            <a:chOff x="-15216" y="4315850"/>
            <a:chExt cx="8110408" cy="2161537"/>
          </a:xfrm>
        </p:grpSpPr>
        <p:grpSp>
          <p:nvGrpSpPr>
            <p:cNvPr id="4" name="组合 3">
              <a:extLst>
                <a:ext uri="{FF2B5EF4-FFF2-40B4-BE49-F238E27FC236}">
                  <a16:creationId xmlns:a16="http://schemas.microsoft.com/office/drawing/2014/main" id="{29DE7152-64F1-104D-2D7F-46F625A960FD}"/>
                </a:ext>
              </a:extLst>
            </p:cNvPr>
            <p:cNvGrpSpPr>
              <a:grpSpLocks noChangeAspect="1"/>
            </p:cNvGrpSpPr>
            <p:nvPr/>
          </p:nvGrpSpPr>
          <p:grpSpPr>
            <a:xfrm>
              <a:off x="-15216" y="4315850"/>
              <a:ext cx="1080000" cy="2161537"/>
              <a:chOff x="5016000" y="4210686"/>
              <a:chExt cx="1080000" cy="2161537"/>
            </a:xfrm>
          </p:grpSpPr>
          <p:sp>
            <p:nvSpPr>
              <p:cNvPr id="14" name="矩形 13">
                <a:extLst>
                  <a:ext uri="{FF2B5EF4-FFF2-40B4-BE49-F238E27FC236}">
                    <a16:creationId xmlns:a16="http://schemas.microsoft.com/office/drawing/2014/main" id="{0E65DEFE-BA97-3B5D-15FF-D451819065F8}"/>
                  </a:ext>
                </a:extLst>
              </p:cNvPr>
              <p:cNvSpPr>
                <a:spLocks noChangeAspect="1"/>
              </p:cNvSpPr>
              <p:nvPr/>
            </p:nvSpPr>
            <p:spPr>
              <a:xfrm>
                <a:off x="5105616" y="4390686"/>
                <a:ext cx="900769" cy="1801537"/>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6" name="矩形 15">
                <a:extLst>
                  <a:ext uri="{FF2B5EF4-FFF2-40B4-BE49-F238E27FC236}">
                    <a16:creationId xmlns:a16="http://schemas.microsoft.com/office/drawing/2014/main" id="{B3536565-B70D-AF53-797F-C7D4706236BF}"/>
                  </a:ext>
                </a:extLst>
              </p:cNvPr>
              <p:cNvSpPr>
                <a:spLocks/>
              </p:cNvSpPr>
              <p:nvPr/>
            </p:nvSpPr>
            <p:spPr>
              <a:xfrm>
                <a:off x="5016000" y="4210686"/>
                <a:ext cx="1080000" cy="1800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46A5E5AC-DEAA-F989-D470-60CC432F1F3C}"/>
                  </a:ext>
                </a:extLst>
              </p:cNvPr>
              <p:cNvSpPr>
                <a:spLocks/>
              </p:cNvSpPr>
              <p:nvPr/>
            </p:nvSpPr>
            <p:spPr>
              <a:xfrm>
                <a:off x="5016000" y="6192223"/>
                <a:ext cx="1080000" cy="1800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69847C94-30E8-FF39-92A7-5943C7E22DCF}"/>
                </a:ext>
              </a:extLst>
            </p:cNvPr>
            <p:cNvGrpSpPr>
              <a:grpSpLocks noChangeAspect="1"/>
            </p:cNvGrpSpPr>
            <p:nvPr/>
          </p:nvGrpSpPr>
          <p:grpSpPr>
            <a:xfrm>
              <a:off x="1330759" y="4317387"/>
              <a:ext cx="2570943" cy="2160000"/>
              <a:chOff x="840771" y="4210687"/>
              <a:chExt cx="2584108" cy="2171061"/>
            </a:xfrm>
          </p:grpSpPr>
          <p:sp>
            <p:nvSpPr>
              <p:cNvPr id="12" name="任意多边形: 形状 11">
                <a:extLst>
                  <a:ext uri="{FF2B5EF4-FFF2-40B4-BE49-F238E27FC236}">
                    <a16:creationId xmlns:a16="http://schemas.microsoft.com/office/drawing/2014/main" id="{1E56C0E9-6C45-8947-5D1C-B9E47F965987}"/>
                  </a:ext>
                </a:extLst>
              </p:cNvPr>
              <p:cNvSpPr/>
              <p:nvPr/>
            </p:nvSpPr>
            <p:spPr>
              <a:xfrm rot="5400000" flipV="1">
                <a:off x="1956819" y="4904164"/>
                <a:ext cx="2161537" cy="774583"/>
              </a:xfrm>
              <a:custGeom>
                <a:avLst/>
                <a:gdLst>
                  <a:gd name="connsiteX0" fmla="*/ 0 w 2315361"/>
                  <a:gd name="connsiteY0" fmla="*/ 0 h 1400961"/>
                  <a:gd name="connsiteX1" fmla="*/ 2315361 w 2315361"/>
                  <a:gd name="connsiteY1" fmla="*/ 0 h 1400961"/>
                  <a:gd name="connsiteX2" fmla="*/ 2315361 w 2315361"/>
                  <a:gd name="connsiteY2" fmla="*/ 1400961 h 1400961"/>
                  <a:gd name="connsiteX3" fmla="*/ 0 w 2315361"/>
                  <a:gd name="connsiteY3" fmla="*/ 889233 h 1400961"/>
                </a:gdLst>
                <a:ahLst/>
                <a:cxnLst>
                  <a:cxn ang="0">
                    <a:pos x="connsiteX0" y="connsiteY0"/>
                  </a:cxn>
                  <a:cxn ang="0">
                    <a:pos x="connsiteX1" y="connsiteY1"/>
                  </a:cxn>
                  <a:cxn ang="0">
                    <a:pos x="connsiteX2" y="connsiteY2"/>
                  </a:cxn>
                  <a:cxn ang="0">
                    <a:pos x="connsiteX3" y="connsiteY3"/>
                  </a:cxn>
                </a:cxnLst>
                <a:rect l="l" t="t" r="r" b="b"/>
                <a:pathLst>
                  <a:path w="2315361" h="1400961">
                    <a:moveTo>
                      <a:pt x="0" y="0"/>
                    </a:moveTo>
                    <a:lnTo>
                      <a:pt x="2315361" y="0"/>
                    </a:lnTo>
                    <a:lnTo>
                      <a:pt x="2315361" y="1400961"/>
                    </a:lnTo>
                    <a:lnTo>
                      <a:pt x="0" y="889233"/>
                    </a:lnTo>
                    <a:close/>
                  </a:path>
                </a:pathLst>
              </a:cu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3" name="图片 12">
                <a:extLst>
                  <a:ext uri="{FF2B5EF4-FFF2-40B4-BE49-F238E27FC236}">
                    <a16:creationId xmlns:a16="http://schemas.microsoft.com/office/drawing/2014/main" id="{0EE9B983-0839-C02A-933F-5C32534C9781}"/>
                  </a:ext>
                </a:extLst>
              </p:cNvPr>
              <p:cNvPicPr>
                <a:picLocks noChangeAspect="1"/>
              </p:cNvPicPr>
              <p:nvPr/>
            </p:nvPicPr>
            <p:blipFill>
              <a:blip r:embed="rId3"/>
              <a:stretch>
                <a:fillRect/>
              </a:stretch>
            </p:blipFill>
            <p:spPr>
              <a:xfrm>
                <a:off x="840771" y="4546759"/>
                <a:ext cx="1800000" cy="1834989"/>
              </a:xfrm>
              <a:prstGeom prst="rect">
                <a:avLst/>
              </a:prstGeom>
            </p:spPr>
          </p:pic>
        </p:grpSp>
        <p:grpSp>
          <p:nvGrpSpPr>
            <p:cNvPr id="7" name="组合 6">
              <a:extLst>
                <a:ext uri="{FF2B5EF4-FFF2-40B4-BE49-F238E27FC236}">
                  <a16:creationId xmlns:a16="http://schemas.microsoft.com/office/drawing/2014/main" id="{27FA0621-5567-0850-0093-4F5E15EA2EE5}"/>
                </a:ext>
              </a:extLst>
            </p:cNvPr>
            <p:cNvGrpSpPr>
              <a:grpSpLocks noChangeAspect="1"/>
            </p:cNvGrpSpPr>
            <p:nvPr/>
          </p:nvGrpSpPr>
          <p:grpSpPr>
            <a:xfrm>
              <a:off x="4167677" y="4641040"/>
              <a:ext cx="3927515" cy="1675361"/>
              <a:chOff x="7502485" y="4706387"/>
              <a:chExt cx="3927515" cy="1675361"/>
            </a:xfrm>
          </p:grpSpPr>
          <p:sp>
            <p:nvSpPr>
              <p:cNvPr id="8" name="直角三角形 7">
                <a:extLst>
                  <a:ext uri="{FF2B5EF4-FFF2-40B4-BE49-F238E27FC236}">
                    <a16:creationId xmlns:a16="http://schemas.microsoft.com/office/drawing/2014/main" id="{12AB3929-29F6-2AFB-2514-62685EC87F15}"/>
                  </a:ext>
                </a:extLst>
              </p:cNvPr>
              <p:cNvSpPr>
                <a:spLocks noChangeAspect="1"/>
              </p:cNvSpPr>
              <p:nvPr/>
            </p:nvSpPr>
            <p:spPr>
              <a:xfrm>
                <a:off x="7502485" y="4706387"/>
                <a:ext cx="2898375" cy="1675361"/>
              </a:xfrm>
              <a:prstGeom prst="rtTriangle">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直角三角形 8">
                <a:extLst>
                  <a:ext uri="{FF2B5EF4-FFF2-40B4-BE49-F238E27FC236}">
                    <a16:creationId xmlns:a16="http://schemas.microsoft.com/office/drawing/2014/main" id="{3943A3ED-46FE-F35A-08EA-7E2BEA704574}"/>
                  </a:ext>
                </a:extLst>
              </p:cNvPr>
              <p:cNvSpPr>
                <a:spLocks noChangeAspect="1"/>
              </p:cNvSpPr>
              <p:nvPr/>
            </p:nvSpPr>
            <p:spPr>
              <a:xfrm flipH="1" flipV="1">
                <a:off x="8180717" y="5091150"/>
                <a:ext cx="568894" cy="328840"/>
              </a:xfrm>
              <a:prstGeom prst="rtTriangl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3F0B90A0-4845-9D60-4DCB-3E3E4BEC07DE}"/>
                  </a:ext>
                </a:extLst>
              </p:cNvPr>
              <p:cNvPicPr>
                <a:picLocks noChangeAspect="1"/>
              </p:cNvPicPr>
              <p:nvPr/>
            </p:nvPicPr>
            <p:blipFill rotWithShape="1">
              <a:blip r:embed="rId3"/>
              <a:srcRect r="47544" b="49917"/>
              <a:stretch/>
            </p:blipFill>
            <p:spPr>
              <a:xfrm>
                <a:off x="10485793" y="5462734"/>
                <a:ext cx="944207" cy="919014"/>
              </a:xfrm>
              <a:prstGeom prst="rect">
                <a:avLst/>
              </a:prstGeom>
            </p:spPr>
          </p:pic>
          <p:pic>
            <p:nvPicPr>
              <p:cNvPr id="11" name="图片 10">
                <a:extLst>
                  <a:ext uri="{FF2B5EF4-FFF2-40B4-BE49-F238E27FC236}">
                    <a16:creationId xmlns:a16="http://schemas.microsoft.com/office/drawing/2014/main" id="{319FC9EF-9F74-6A61-9684-7DFB499F35E8}"/>
                  </a:ext>
                </a:extLst>
              </p:cNvPr>
              <p:cNvPicPr>
                <a:picLocks noChangeAspect="1"/>
              </p:cNvPicPr>
              <p:nvPr/>
            </p:nvPicPr>
            <p:blipFill rotWithShape="1">
              <a:blip r:embed="rId3"/>
              <a:srcRect r="9472" b="49917"/>
              <a:stretch/>
            </p:blipFill>
            <p:spPr>
              <a:xfrm flipH="1">
                <a:off x="8856293" y="5462734"/>
                <a:ext cx="1629500" cy="919014"/>
              </a:xfrm>
              <a:custGeom>
                <a:avLst/>
                <a:gdLst>
                  <a:gd name="connsiteX0" fmla="*/ 1629500 w 1629500"/>
                  <a:gd name="connsiteY0" fmla="*/ 0 h 919014"/>
                  <a:gd name="connsiteX1" fmla="*/ 0 w 1629500"/>
                  <a:gd name="connsiteY1" fmla="*/ 0 h 919014"/>
                  <a:gd name="connsiteX2" fmla="*/ 0 w 1629500"/>
                  <a:gd name="connsiteY2" fmla="*/ 919014 h 919014"/>
                  <a:gd name="connsiteX3" fmla="*/ 39606 w 1629500"/>
                  <a:gd name="connsiteY3" fmla="*/ 919014 h 919014"/>
                </a:gdLst>
                <a:ahLst/>
                <a:cxnLst>
                  <a:cxn ang="0">
                    <a:pos x="connsiteX0" y="connsiteY0"/>
                  </a:cxn>
                  <a:cxn ang="0">
                    <a:pos x="connsiteX1" y="connsiteY1"/>
                  </a:cxn>
                  <a:cxn ang="0">
                    <a:pos x="connsiteX2" y="connsiteY2"/>
                  </a:cxn>
                  <a:cxn ang="0">
                    <a:pos x="connsiteX3" y="connsiteY3"/>
                  </a:cxn>
                </a:cxnLst>
                <a:rect l="l" t="t" r="r" b="b"/>
                <a:pathLst>
                  <a:path w="1629500" h="919014">
                    <a:moveTo>
                      <a:pt x="1629500" y="0"/>
                    </a:moveTo>
                    <a:lnTo>
                      <a:pt x="0" y="0"/>
                    </a:lnTo>
                    <a:lnTo>
                      <a:pt x="0" y="919014"/>
                    </a:lnTo>
                    <a:lnTo>
                      <a:pt x="39606" y="919014"/>
                    </a:lnTo>
                    <a:close/>
                  </a:path>
                </a:pathLst>
              </a:custGeom>
            </p:spPr>
          </p:pic>
        </p:grpSp>
      </p:grpSp>
      <p:sp>
        <p:nvSpPr>
          <p:cNvPr id="18" name="矩形 2">
            <a:extLst>
              <a:ext uri="{FF2B5EF4-FFF2-40B4-BE49-F238E27FC236}">
                <a16:creationId xmlns:a16="http://schemas.microsoft.com/office/drawing/2014/main" id="{E84C8B93-0AC4-4570-9406-C28C072C0580}"/>
              </a:ext>
            </a:extLst>
          </p:cNvPr>
          <p:cNvSpPr>
            <a:spLocks noChangeArrowheads="1"/>
          </p:cNvSpPr>
          <p:nvPr/>
        </p:nvSpPr>
        <p:spPr bwMode="auto">
          <a:xfrm>
            <a:off x="632059" y="6210893"/>
            <a:ext cx="1638650"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(a) </a:t>
            </a:r>
            <a:r>
              <a:rPr lang="zh-CN" altLang="en-US" sz="1800" b="0" dirty="0">
                <a:latin typeface="微软雅黑" panose="020B0503020204020204" pitchFamily="34" charset="-122"/>
                <a:ea typeface="微软雅黑" panose="020B0503020204020204" pitchFamily="34" charset="-122"/>
              </a:rPr>
              <a:t>单轴压缩</a:t>
            </a:r>
            <a:endParaRPr lang="zh-CN" altLang="zh-CN" sz="1800" b="0" dirty="0">
              <a:latin typeface="微软雅黑" panose="020B0503020204020204" pitchFamily="34" charset="-122"/>
              <a:ea typeface="微软雅黑" panose="020B0503020204020204" pitchFamily="34" charset="-122"/>
            </a:endParaRPr>
          </a:p>
        </p:txBody>
      </p:sp>
      <p:sp>
        <p:nvSpPr>
          <p:cNvPr id="19" name="矩形 2">
            <a:extLst>
              <a:ext uri="{FF2B5EF4-FFF2-40B4-BE49-F238E27FC236}">
                <a16:creationId xmlns:a16="http://schemas.microsoft.com/office/drawing/2014/main" id="{B2E224B4-7763-8EEE-5159-54D6D0292CA7}"/>
              </a:ext>
            </a:extLst>
          </p:cNvPr>
          <p:cNvSpPr>
            <a:spLocks noChangeArrowheads="1"/>
          </p:cNvSpPr>
          <p:nvPr/>
        </p:nvSpPr>
        <p:spPr bwMode="auto">
          <a:xfrm>
            <a:off x="2166887" y="6222336"/>
            <a:ext cx="2282350"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(b) </a:t>
            </a:r>
            <a:r>
              <a:rPr lang="zh-CN" altLang="en-US" sz="1800" b="0" dirty="0">
                <a:latin typeface="微软雅黑" panose="020B0503020204020204" pitchFamily="34" charset="-122"/>
                <a:ea typeface="微软雅黑" panose="020B0503020204020204" pitchFamily="34" charset="-122"/>
              </a:rPr>
              <a:t>重力坝模型</a:t>
            </a:r>
            <a:endParaRPr lang="zh-CN" altLang="zh-CN" sz="1800" b="0" dirty="0">
              <a:latin typeface="微软雅黑" panose="020B0503020204020204" pitchFamily="34" charset="-122"/>
              <a:ea typeface="微软雅黑" panose="020B0503020204020204" pitchFamily="34" charset="-122"/>
            </a:endParaRPr>
          </a:p>
        </p:txBody>
      </p:sp>
      <p:sp>
        <p:nvSpPr>
          <p:cNvPr id="20" name="矩形 2">
            <a:extLst>
              <a:ext uri="{FF2B5EF4-FFF2-40B4-BE49-F238E27FC236}">
                <a16:creationId xmlns:a16="http://schemas.microsoft.com/office/drawing/2014/main" id="{FDD87742-9D38-2343-40DF-F156401E7E69}"/>
              </a:ext>
            </a:extLst>
          </p:cNvPr>
          <p:cNvSpPr>
            <a:spLocks noChangeArrowheads="1"/>
          </p:cNvSpPr>
          <p:nvPr/>
        </p:nvSpPr>
        <p:spPr bwMode="auto">
          <a:xfrm>
            <a:off x="5539972" y="6210893"/>
            <a:ext cx="1638650"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(c) </a:t>
            </a:r>
            <a:r>
              <a:rPr lang="zh-CN" altLang="en-US" sz="1800" b="0" dirty="0">
                <a:latin typeface="微软雅黑" panose="020B0503020204020204" pitchFamily="34" charset="-122"/>
                <a:ea typeface="微软雅黑" panose="020B0503020204020204" pitchFamily="34" charset="-122"/>
              </a:rPr>
              <a:t>涌浪模型</a:t>
            </a:r>
            <a:endParaRPr lang="zh-CN" altLang="zh-CN" sz="1800" b="0" dirty="0">
              <a:latin typeface="微软雅黑" panose="020B0503020204020204" pitchFamily="34" charset="-122"/>
              <a:ea typeface="微软雅黑" panose="020B0503020204020204" pitchFamily="34" charset="-122"/>
            </a:endParaRPr>
          </a:p>
        </p:txBody>
      </p:sp>
      <p:sp>
        <p:nvSpPr>
          <p:cNvPr id="21" name="灯片编号占位符 20">
            <a:extLst>
              <a:ext uri="{FF2B5EF4-FFF2-40B4-BE49-F238E27FC236}">
                <a16:creationId xmlns:a16="http://schemas.microsoft.com/office/drawing/2014/main" id="{C2A4E0A0-1005-35D3-3609-1DDB4CCE45F9}"/>
              </a:ext>
            </a:extLst>
          </p:cNvPr>
          <p:cNvSpPr>
            <a:spLocks noGrp="1"/>
          </p:cNvSpPr>
          <p:nvPr>
            <p:ph type="sldNum" sz="quarter" idx="12"/>
          </p:nvPr>
        </p:nvSpPr>
        <p:spPr/>
        <p:txBody>
          <a:bodyPr/>
          <a:lstStyle/>
          <a:p>
            <a:pPr>
              <a:defRPr/>
            </a:pPr>
            <a:fld id="{8E7F6652-62A1-454F-81FD-501A0D85DAEF}" type="slidenum">
              <a:rPr lang="en-US" altLang="zh-CN" smtClean="0"/>
              <a:pPr>
                <a:defRPr/>
              </a:pPr>
              <a:t>23</a:t>
            </a:fld>
            <a:endParaRPr lang="en-US" altLang="zh-CN"/>
          </a:p>
        </p:txBody>
      </p:sp>
    </p:spTree>
    <p:extLst>
      <p:ext uri="{BB962C8B-B14F-4D97-AF65-F5344CB8AC3E}">
        <p14:creationId xmlns:p14="http://schemas.microsoft.com/office/powerpoint/2010/main" val="42353641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同侧圆角矩形 4">
            <a:extLst>
              <a:ext uri="{FF2B5EF4-FFF2-40B4-BE49-F238E27FC236}">
                <a16:creationId xmlns:a16="http://schemas.microsoft.com/office/drawing/2014/main" id="{CF9CB570-9F8D-5F43-F7F5-2129BF958184}"/>
              </a:ext>
            </a:extLst>
          </p:cNvPr>
          <p:cNvSpPr/>
          <p:nvPr/>
        </p:nvSpPr>
        <p:spPr>
          <a:xfrm>
            <a:off x="642942" y="1988839"/>
            <a:ext cx="7889498" cy="4230161"/>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2700" bIns="12700" anchor="ctr"/>
          <a:lstStyle/>
          <a:p>
            <a:pPr indent="457200" algn="just" eaLnBrk="1" hangingPunct="1">
              <a:lnSpc>
                <a:spcPct val="130000"/>
              </a:lnSpc>
              <a:spcBef>
                <a:spcPts val="0"/>
              </a:spcBef>
              <a:buClr>
                <a:srgbClr val="FF0000"/>
              </a:buClr>
              <a:buSzPct val="80000"/>
            </a:pPr>
            <a:endParaRPr lang="zh-CN" altLang="en-US" sz="2000" b="0" dirty="0">
              <a:solidFill>
                <a:schemeClr val="tx1"/>
              </a:solidFill>
              <a:latin typeface="微软雅黑" pitchFamily="34" charset="-122"/>
              <a:ea typeface="微软雅黑" pitchFamily="34" charset="-122"/>
            </a:endParaRPr>
          </a:p>
        </p:txBody>
      </p:sp>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三、研究方案设计及可行性分析</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3.2. </a:t>
            </a:r>
            <a:r>
              <a:rPr lang="zh-CN" altLang="en-US" b="0" dirty="0">
                <a:latin typeface="微软雅黑" pitchFamily="34" charset="-122"/>
                <a:ea typeface="微软雅黑" pitchFamily="34" charset="-122"/>
              </a:rPr>
              <a:t>技术路线</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198" name="矩形 2"/>
          <p:cNvSpPr>
            <a:spLocks noChangeArrowheads="1"/>
          </p:cNvSpPr>
          <p:nvPr/>
        </p:nvSpPr>
        <p:spPr bwMode="auto">
          <a:xfrm>
            <a:off x="1403350" y="6300429"/>
            <a:ext cx="6337300" cy="38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(a) </a:t>
            </a:r>
            <a:r>
              <a:rPr lang="zh-CN" altLang="en-US" sz="1800" b="0" dirty="0">
                <a:latin typeface="微软雅黑" panose="020B0503020204020204" pitchFamily="34" charset="-122"/>
                <a:ea typeface="微软雅黑" panose="020B0503020204020204" pitchFamily="34" charset="-122"/>
              </a:rPr>
              <a:t>技术路线图</a:t>
            </a:r>
            <a:endParaRPr lang="zh-CN" altLang="zh-CN" sz="1800" b="0" dirty="0">
              <a:latin typeface="微软雅黑" panose="020B0503020204020204" pitchFamily="34" charset="-122"/>
              <a:ea typeface="微软雅黑" panose="020B0503020204020204" pitchFamily="34" charset="-122"/>
            </a:endParaRPr>
          </a:p>
        </p:txBody>
      </p:sp>
      <p:grpSp>
        <p:nvGrpSpPr>
          <p:cNvPr id="8199" name="组合 8198">
            <a:extLst>
              <a:ext uri="{FF2B5EF4-FFF2-40B4-BE49-F238E27FC236}">
                <a16:creationId xmlns:a16="http://schemas.microsoft.com/office/drawing/2014/main" id="{0B4C6273-D2FC-DEB5-5970-89F6679B56DF}"/>
              </a:ext>
            </a:extLst>
          </p:cNvPr>
          <p:cNvGrpSpPr/>
          <p:nvPr/>
        </p:nvGrpSpPr>
        <p:grpSpPr>
          <a:xfrm>
            <a:off x="830191" y="2079000"/>
            <a:ext cx="7515000" cy="4042372"/>
            <a:chOff x="606184" y="2002001"/>
            <a:chExt cx="7934062" cy="4042372"/>
          </a:xfrm>
        </p:grpSpPr>
        <p:sp>
          <p:nvSpPr>
            <p:cNvPr id="3" name="文本框 2">
              <a:extLst>
                <a:ext uri="{FF2B5EF4-FFF2-40B4-BE49-F238E27FC236}">
                  <a16:creationId xmlns:a16="http://schemas.microsoft.com/office/drawing/2014/main" id="{635B120D-1A11-3C8D-099E-BF739413E88D}"/>
                </a:ext>
              </a:extLst>
            </p:cNvPr>
            <p:cNvSpPr txBox="1"/>
            <p:nvPr/>
          </p:nvSpPr>
          <p:spPr>
            <a:xfrm>
              <a:off x="2589094" y="2002001"/>
              <a:ext cx="3965812" cy="307777"/>
            </a:xfrm>
            <a:prstGeom prst="rect">
              <a:avLst/>
            </a:prstGeom>
            <a:noFill/>
            <a:ln>
              <a:solidFill>
                <a:schemeClr val="tx1"/>
              </a:solidFill>
            </a:ln>
          </p:spPr>
          <p:txBody>
            <a:bodyPr wrap="square">
              <a:spAutoFit/>
            </a:bodyPr>
            <a:lstStyle/>
            <a:p>
              <a:pPr algn="ct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初级的</a:t>
              </a:r>
              <a:r>
                <a:rPr lang="en-US"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rPr>
                <a:t>FDEM</a:t>
              </a: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计算程序和</a:t>
              </a:r>
              <a:r>
                <a:rPr lang="en-US"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rPr>
                <a:t>SPH</a:t>
              </a: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理论方法</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43ECB635-A69D-0E19-C509-4190104C4F6B}"/>
                </a:ext>
              </a:extLst>
            </p:cNvPr>
            <p:cNvSpPr txBox="1"/>
            <p:nvPr/>
          </p:nvSpPr>
          <p:spPr>
            <a:xfrm>
              <a:off x="847843" y="2266223"/>
              <a:ext cx="1487179" cy="307777"/>
            </a:xfrm>
            <a:prstGeom prst="rect">
              <a:avLst/>
            </a:prstGeom>
            <a:noFill/>
            <a:ln>
              <a:solidFill>
                <a:schemeClr val="tx1"/>
              </a:solidFill>
            </a:ln>
          </p:spPr>
          <p:txBody>
            <a:bodyPr wrap="square">
              <a:spAutoFit/>
            </a:bodyPr>
            <a:lstStyle/>
            <a:p>
              <a:pPr algn="ct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文献阅读</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BDF50106-A6E4-9EB4-DC3C-AA6CD0E55EDD}"/>
                </a:ext>
              </a:extLst>
            </p:cNvPr>
            <p:cNvSpPr txBox="1"/>
            <p:nvPr/>
          </p:nvSpPr>
          <p:spPr>
            <a:xfrm>
              <a:off x="6786737" y="2262051"/>
              <a:ext cx="1487179" cy="307777"/>
            </a:xfrm>
            <a:prstGeom prst="rect">
              <a:avLst/>
            </a:prstGeom>
            <a:noFill/>
            <a:ln>
              <a:solidFill>
                <a:schemeClr val="tx1"/>
              </a:solidFill>
            </a:ln>
          </p:spPr>
          <p:txBody>
            <a:bodyPr wrap="square">
              <a:spAutoFit/>
            </a:bodyPr>
            <a:lstStyle/>
            <a:p>
              <a:pPr algn="ct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理论学习</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a:extLst>
                <a:ext uri="{FF2B5EF4-FFF2-40B4-BE49-F238E27FC236}">
                  <a16:creationId xmlns:a16="http://schemas.microsoft.com/office/drawing/2014/main" id="{4E34D48D-CD30-2204-3FCE-7AA95A984779}"/>
                </a:ext>
              </a:extLst>
            </p:cNvPr>
            <p:cNvSpPr txBox="1"/>
            <p:nvPr/>
          </p:nvSpPr>
          <p:spPr>
            <a:xfrm>
              <a:off x="3087255" y="2527907"/>
              <a:ext cx="2974359" cy="307777"/>
            </a:xfrm>
            <a:prstGeom prst="rect">
              <a:avLst/>
            </a:prstGeom>
            <a:noFill/>
            <a:ln>
              <a:solidFill>
                <a:schemeClr val="tx1"/>
              </a:solidFill>
            </a:ln>
          </p:spPr>
          <p:txBody>
            <a:bodyPr wrap="square">
              <a:spAutoFit/>
            </a:bodyPr>
            <a:lstStyle/>
            <a:p>
              <a:pPr algn="ct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确定研究内容和研究方案</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096297FF-95A9-9B00-2C25-B7049A57DBD6}"/>
                </a:ext>
              </a:extLst>
            </p:cNvPr>
            <p:cNvSpPr txBox="1"/>
            <p:nvPr/>
          </p:nvSpPr>
          <p:spPr>
            <a:xfrm>
              <a:off x="3582981" y="3132611"/>
              <a:ext cx="1982906" cy="307777"/>
            </a:xfrm>
            <a:prstGeom prst="rect">
              <a:avLst/>
            </a:prstGeom>
            <a:noFill/>
            <a:ln>
              <a:solidFill>
                <a:schemeClr val="tx1"/>
              </a:solidFill>
            </a:ln>
          </p:spPr>
          <p:txBody>
            <a:bodyPr wrap="square">
              <a:spAutoFit/>
            </a:bodyPr>
            <a:lstStyle/>
            <a:p>
              <a:pPr algn="ct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SPH</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流体仿真模型</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8">
              <a:extLst>
                <a:ext uri="{FF2B5EF4-FFF2-40B4-BE49-F238E27FC236}">
                  <a16:creationId xmlns:a16="http://schemas.microsoft.com/office/drawing/2014/main" id="{EF9C8302-7DE4-9000-ADF3-E86D843A565F}"/>
                </a:ext>
              </a:extLst>
            </p:cNvPr>
            <p:cNvSpPr txBox="1"/>
            <p:nvPr/>
          </p:nvSpPr>
          <p:spPr>
            <a:xfrm>
              <a:off x="6557340" y="3132611"/>
              <a:ext cx="1982906" cy="307777"/>
            </a:xfrm>
            <a:prstGeom prst="rect">
              <a:avLst/>
            </a:prstGeom>
            <a:noFill/>
            <a:ln>
              <a:solidFill>
                <a:schemeClr val="tx1"/>
              </a:solidFill>
            </a:ln>
          </p:spPr>
          <p:txBody>
            <a:bodyPr wrap="square">
              <a:spAutoFit/>
            </a:bodyPr>
            <a:lstStyle/>
            <a:p>
              <a:pPr algn="ct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FDEM-SPH</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耦合模型</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FBDA4B29-06EA-AAC8-3CD3-2C01700FEF84}"/>
                </a:ext>
              </a:extLst>
            </p:cNvPr>
            <p:cNvSpPr txBox="1"/>
            <p:nvPr/>
          </p:nvSpPr>
          <p:spPr>
            <a:xfrm>
              <a:off x="608623" y="3133242"/>
              <a:ext cx="1982906" cy="307777"/>
            </a:xfrm>
            <a:prstGeom prst="rect">
              <a:avLst/>
            </a:prstGeom>
            <a:noFill/>
            <a:ln>
              <a:solidFill>
                <a:schemeClr val="tx1"/>
              </a:solidFill>
            </a:ln>
          </p:spPr>
          <p:txBody>
            <a:bodyPr wrap="square">
              <a:spAutoFit/>
            </a:bodyPr>
            <a:lstStyle/>
            <a:p>
              <a:pPr algn="ct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节理单元本构模型</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10">
              <a:extLst>
                <a:ext uri="{FF2B5EF4-FFF2-40B4-BE49-F238E27FC236}">
                  <a16:creationId xmlns:a16="http://schemas.microsoft.com/office/drawing/2014/main" id="{1676259C-3342-9AB6-E119-CDF989C1D4AD}"/>
                </a:ext>
              </a:extLst>
            </p:cNvPr>
            <p:cNvSpPr txBox="1"/>
            <p:nvPr/>
          </p:nvSpPr>
          <p:spPr>
            <a:xfrm>
              <a:off x="606184" y="3607756"/>
              <a:ext cx="1982904" cy="523220"/>
            </a:xfrm>
            <a:prstGeom prst="rect">
              <a:avLst/>
            </a:prstGeom>
            <a:noFill/>
            <a:ln>
              <a:solidFill>
                <a:schemeClr val="tx1"/>
              </a:solidFill>
            </a:ln>
          </p:spPr>
          <p:txBody>
            <a:bodyPr wrap="square">
              <a:spAutoFit/>
            </a:bodyPr>
            <a:lstStyle>
              <a:defPPr>
                <a:defRPr lang="zh-CN"/>
              </a:defPPr>
              <a:lvl1pPr algn="ctr">
                <a:lnSpc>
                  <a:spcPct val="200000"/>
                </a:lnSpc>
                <a:defRPr sz="900" kern="100">
                  <a:effectLst/>
                  <a:latin typeface="Times New Roman" panose="02020603050405020304" pitchFamily="18" charset="0"/>
                  <a:ea typeface="宋体" panose="02010600030101010101" pitchFamily="2" charset="-122"/>
                  <a:cs typeface="Times New Roman" panose="02020603050405020304" pitchFamily="18" charset="0"/>
                </a:defRPr>
              </a:lvl1pPr>
            </a:lstStyle>
            <a:p>
              <a:pPr>
                <a:lnSpc>
                  <a:spcPct val="100000"/>
                </a:lnSpc>
              </a:pPr>
              <a:r>
                <a:rPr lang="zh-CN" altLang="en-US" sz="1400" b="0" dirty="0">
                  <a:latin typeface="微软雅黑" panose="020B0503020204020204" pitchFamily="34" charset="-122"/>
                  <a:ea typeface="微软雅黑" panose="020B0503020204020204" pitchFamily="34" charset="-122"/>
                </a:rPr>
                <a:t>小位移模型、</a:t>
              </a:r>
              <a:r>
                <a:rPr lang="zh-CN" altLang="en-US" sz="1400" b="0" dirty="0">
                  <a:solidFill>
                    <a:srgbClr val="FF0000"/>
                  </a:solidFill>
                  <a:latin typeface="微软雅黑" panose="020B0503020204020204" pitchFamily="34" charset="-122"/>
                  <a:ea typeface="微软雅黑" panose="020B0503020204020204" pitchFamily="34" charset="-122"/>
                </a:rPr>
                <a:t>加</a:t>
              </a:r>
              <a:r>
                <a:rPr lang="zh-CN" altLang="zh-CN" sz="1400" b="0" dirty="0">
                  <a:solidFill>
                    <a:srgbClr val="FF0000"/>
                  </a:solidFill>
                  <a:latin typeface="微软雅黑" panose="020B0503020204020204" pitchFamily="34" charset="-122"/>
                  <a:ea typeface="微软雅黑" panose="020B0503020204020204" pitchFamily="34" charset="-122"/>
                </a:rPr>
                <a:t>卸载本构</a:t>
              </a:r>
              <a:r>
                <a:rPr lang="zh-CN" altLang="en-US" sz="1400" b="0" dirty="0">
                  <a:latin typeface="微软雅黑" panose="020B0503020204020204" pitchFamily="34" charset="-122"/>
                  <a:ea typeface="微软雅黑" panose="020B0503020204020204" pitchFamily="34" charset="-122"/>
                </a:rPr>
                <a:t>、</a:t>
              </a:r>
              <a:r>
                <a:rPr lang="zh-CN" altLang="zh-CN" sz="1400" b="0" dirty="0">
                  <a:solidFill>
                    <a:srgbClr val="FF0000"/>
                  </a:solidFill>
                  <a:latin typeface="微软雅黑" panose="020B0503020204020204" pitchFamily="34" charset="-122"/>
                  <a:ea typeface="微软雅黑" panose="020B0503020204020204" pitchFamily="34" charset="-122"/>
                </a:rPr>
                <a:t>断裂准则</a:t>
              </a:r>
              <a:endParaRPr lang="en-US" altLang="zh-CN" sz="1400" b="0" dirty="0">
                <a:solidFill>
                  <a:srgbClr val="FF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BB449E2-84C7-EDA6-8A0A-E338D5FFFBB2}"/>
                </a:ext>
              </a:extLst>
            </p:cNvPr>
            <p:cNvSpPr txBox="1"/>
            <p:nvPr/>
          </p:nvSpPr>
          <p:spPr>
            <a:xfrm>
              <a:off x="3582981" y="4325829"/>
              <a:ext cx="1982906" cy="307777"/>
            </a:xfrm>
            <a:prstGeom prst="rect">
              <a:avLst/>
            </a:prstGeom>
            <a:noFill/>
            <a:ln>
              <a:solidFill>
                <a:schemeClr val="tx1"/>
              </a:solidFill>
            </a:ln>
          </p:spPr>
          <p:txBody>
            <a:bodyPr wrap="square">
              <a:spAutoFit/>
            </a:bodyPr>
            <a:lstStyle/>
            <a:p>
              <a:pPr algn="ctr"/>
              <a:r>
                <a:rPr lang="zh-CN" altLang="en-US" sz="1400" b="0" kern="100" dirty="0">
                  <a:latin typeface="微软雅黑" panose="020B0503020204020204" pitchFamily="34" charset="-122"/>
                  <a:ea typeface="微软雅黑" panose="020B0503020204020204" pitchFamily="34" charset="-122"/>
                  <a:cs typeface="Times New Roman" panose="02020603050405020304" pitchFamily="18" charset="0"/>
                </a:rPr>
                <a:t>腔内剪切流动</a:t>
              </a: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验证</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249D62EA-D79B-C401-0692-F34726E4FF5C}"/>
                </a:ext>
              </a:extLst>
            </p:cNvPr>
            <p:cNvSpPr txBox="1"/>
            <p:nvPr/>
          </p:nvSpPr>
          <p:spPr>
            <a:xfrm>
              <a:off x="608623" y="4727775"/>
              <a:ext cx="1982906" cy="307777"/>
            </a:xfrm>
            <a:prstGeom prst="rect">
              <a:avLst/>
            </a:prstGeom>
            <a:noFill/>
            <a:ln>
              <a:solidFill>
                <a:schemeClr val="tx1"/>
              </a:solidFill>
            </a:ln>
          </p:spPr>
          <p:txBody>
            <a:bodyPr wrap="square">
              <a:spAutoFit/>
            </a:bodyPr>
            <a:lstStyle/>
            <a:p>
              <a:pPr algn="ct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微观力学参数</a:t>
              </a:r>
              <a:r>
                <a:rPr lang="zh-CN" altLang="en-US" sz="1400" b="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标定</a:t>
              </a:r>
              <a:endParaRPr lang="zh-CN" altLang="zh-CN" sz="1400" b="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文本框 13">
              <a:extLst>
                <a:ext uri="{FF2B5EF4-FFF2-40B4-BE49-F238E27FC236}">
                  <a16:creationId xmlns:a16="http://schemas.microsoft.com/office/drawing/2014/main" id="{58E24C60-DE18-2EBC-36B9-2D747778A729}"/>
                </a:ext>
              </a:extLst>
            </p:cNvPr>
            <p:cNvSpPr txBox="1"/>
            <p:nvPr/>
          </p:nvSpPr>
          <p:spPr>
            <a:xfrm>
              <a:off x="3087255" y="3618480"/>
              <a:ext cx="2974357" cy="523220"/>
            </a:xfrm>
            <a:prstGeom prst="rect">
              <a:avLst/>
            </a:prstGeom>
            <a:noFill/>
            <a:ln>
              <a:solidFill>
                <a:schemeClr val="tx1"/>
              </a:solidFill>
            </a:ln>
          </p:spPr>
          <p:txBody>
            <a:bodyPr wrap="square">
              <a:spAutoFit/>
            </a:bodyPr>
            <a:lstStyle>
              <a:defPPr>
                <a:defRPr lang="zh-CN"/>
              </a:defPPr>
              <a:lvl1pPr algn="ctr">
                <a:defRPr sz="900" kern="100">
                  <a:effectLst/>
                  <a:latin typeface="Times New Roman" panose="02020603050405020304" pitchFamily="18" charset="0"/>
                  <a:ea typeface="宋体" panose="02010600030101010101" pitchFamily="2" charset="-122"/>
                  <a:cs typeface="Times New Roman" panose="02020603050405020304" pitchFamily="18" charset="0"/>
                </a:defRPr>
              </a:lvl1pPr>
            </a:lstStyle>
            <a:p>
              <a:r>
                <a:rPr lang="en-US" altLang="zh-CN" sz="1400" b="0" dirty="0">
                  <a:solidFill>
                    <a:srgbClr val="FF0000"/>
                  </a:solidFill>
                  <a:latin typeface="微软雅黑" panose="020B0503020204020204" pitchFamily="34" charset="-122"/>
                  <a:ea typeface="微软雅黑" panose="020B0503020204020204" pitchFamily="34" charset="-122"/>
                </a:rPr>
                <a:t>NNPS</a:t>
              </a:r>
              <a:r>
                <a:rPr lang="zh-CN" altLang="en-US" sz="1400" b="0" dirty="0">
                  <a:latin typeface="微软雅黑" panose="020B0503020204020204" pitchFamily="34" charset="-122"/>
                  <a:ea typeface="微软雅黑" panose="020B0503020204020204" pitchFamily="34" charset="-122"/>
                </a:rPr>
                <a:t>算法、</a:t>
              </a:r>
              <a:r>
                <a:rPr lang="en-US" altLang="zh-CN" sz="1400" b="0" dirty="0">
                  <a:latin typeface="微软雅黑" panose="020B0503020204020204" pitchFamily="34" charset="-122"/>
                  <a:ea typeface="微软雅黑" panose="020B0503020204020204" pitchFamily="34" charset="-122"/>
                </a:rPr>
                <a:t>SPH</a:t>
              </a:r>
              <a:r>
                <a:rPr lang="zh-CN" altLang="en-US" sz="1400" b="0" dirty="0">
                  <a:solidFill>
                    <a:srgbClr val="FF0000"/>
                  </a:solidFill>
                  <a:latin typeface="微软雅黑" panose="020B0503020204020204" pitchFamily="34" charset="-122"/>
                  <a:ea typeface="微软雅黑" panose="020B0503020204020204" pitchFamily="34" charset="-122"/>
                </a:rPr>
                <a:t>粒子近似</a:t>
              </a:r>
              <a:r>
                <a:rPr lang="zh-CN" altLang="en-US" sz="1400" b="0" dirty="0">
                  <a:latin typeface="微软雅黑" panose="020B0503020204020204" pitchFamily="34" charset="-122"/>
                  <a:ea typeface="微软雅黑" panose="020B0503020204020204" pitchFamily="34" charset="-122"/>
                </a:rPr>
                <a:t>算法、</a:t>
              </a:r>
              <a:endParaRPr lang="en-US" altLang="zh-CN" sz="1400" b="0" dirty="0">
                <a:latin typeface="微软雅黑" panose="020B0503020204020204" pitchFamily="34" charset="-122"/>
                <a:ea typeface="微软雅黑" panose="020B0503020204020204" pitchFamily="34" charset="-122"/>
              </a:endParaRPr>
            </a:p>
            <a:p>
              <a:r>
                <a:rPr lang="en-US" altLang="zh-CN" sz="1400" b="0" dirty="0">
                  <a:latin typeface="微软雅黑" panose="020B0503020204020204" pitchFamily="34" charset="-122"/>
                  <a:ea typeface="微软雅黑" panose="020B0503020204020204" pitchFamily="34" charset="-122"/>
                </a:rPr>
                <a:t>SPH</a:t>
              </a:r>
              <a:r>
                <a:rPr lang="zh-CN" altLang="en-US" sz="1400" b="0" dirty="0">
                  <a:solidFill>
                    <a:srgbClr val="FF0000"/>
                  </a:solidFill>
                  <a:latin typeface="微软雅黑" panose="020B0503020204020204" pitchFamily="34" charset="-122"/>
                  <a:ea typeface="微软雅黑" panose="020B0503020204020204" pitchFamily="34" charset="-122"/>
                </a:rPr>
                <a:t>显式积分</a:t>
              </a:r>
              <a:endParaRPr lang="en-US" altLang="zh-CN" sz="1400" b="0" dirty="0">
                <a:solidFill>
                  <a:srgbClr val="FF000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FAE13AB4-F8D7-A470-02AD-3D7305DF884A}"/>
                </a:ext>
              </a:extLst>
            </p:cNvPr>
            <p:cNvSpPr txBox="1"/>
            <p:nvPr/>
          </p:nvSpPr>
          <p:spPr>
            <a:xfrm>
              <a:off x="6554907" y="3602252"/>
              <a:ext cx="1982904" cy="523220"/>
            </a:xfrm>
            <a:prstGeom prst="rect">
              <a:avLst/>
            </a:prstGeom>
            <a:noFill/>
            <a:ln>
              <a:solidFill>
                <a:schemeClr val="tx1"/>
              </a:solidFill>
            </a:ln>
          </p:spPr>
          <p:txBody>
            <a:bodyPr wrap="square">
              <a:spAutoFit/>
            </a:bodyPr>
            <a:lstStyle>
              <a:defPPr>
                <a:defRPr lang="zh-CN"/>
              </a:defPPr>
              <a:lvl1pPr algn="ctr">
                <a:defRPr sz="900" kern="100">
                  <a:effectLst/>
                  <a:latin typeface="Times New Roman" panose="02020603050405020304" pitchFamily="18" charset="0"/>
                  <a:ea typeface="宋体" panose="02010600030101010101" pitchFamily="2" charset="-122"/>
                  <a:cs typeface="Times New Roman" panose="02020603050405020304" pitchFamily="18" charset="0"/>
                </a:defRPr>
              </a:lvl1pPr>
            </a:lstStyle>
            <a:p>
              <a:r>
                <a:rPr lang="en-US" altLang="zh-CN" sz="1400" b="0" dirty="0">
                  <a:latin typeface="微软雅黑" panose="020B0503020204020204" pitchFamily="34" charset="-122"/>
                  <a:ea typeface="微软雅黑" panose="020B0503020204020204" pitchFamily="34" charset="-122"/>
                </a:rPr>
                <a:t>SPH</a:t>
              </a:r>
              <a:r>
                <a:rPr lang="zh-CN" altLang="en-US" sz="1400" b="0" dirty="0">
                  <a:solidFill>
                    <a:srgbClr val="FF0000"/>
                  </a:solidFill>
                  <a:latin typeface="微软雅黑" panose="020B0503020204020204" pitchFamily="34" charset="-122"/>
                  <a:ea typeface="微软雅黑" panose="020B0503020204020204" pitchFamily="34" charset="-122"/>
                </a:rPr>
                <a:t>边界算法</a:t>
              </a:r>
              <a:r>
                <a:rPr lang="zh-CN" altLang="en-US" sz="1400" b="0" dirty="0">
                  <a:latin typeface="微软雅黑" panose="020B0503020204020204" pitchFamily="34" charset="-122"/>
                  <a:ea typeface="微软雅黑" panose="020B0503020204020204" pitchFamily="34" charset="-122"/>
                </a:rPr>
                <a:t>、</a:t>
              </a:r>
              <a:r>
                <a:rPr lang="en-US" altLang="zh-CN" sz="1400" b="0" dirty="0">
                  <a:solidFill>
                    <a:srgbClr val="FF0000"/>
                  </a:solidFill>
                  <a:latin typeface="微软雅黑" panose="020B0503020204020204" pitchFamily="34" charset="-122"/>
                  <a:ea typeface="微软雅黑" panose="020B0503020204020204" pitchFamily="34" charset="-122"/>
                </a:rPr>
                <a:t>FDEM-SPH</a:t>
              </a:r>
              <a:r>
                <a:rPr lang="zh-CN" altLang="en-US" sz="1400" b="0" dirty="0">
                  <a:latin typeface="微软雅黑" panose="020B0503020204020204" pitchFamily="34" charset="-122"/>
                  <a:ea typeface="微软雅黑" panose="020B0503020204020204" pitchFamily="34" charset="-122"/>
                </a:rPr>
                <a:t>耦合算法</a:t>
              </a:r>
              <a:endParaRPr lang="en-US" altLang="zh-CN" sz="1400" b="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C40DBDA1-9818-4EE0-D2BE-A18995875981}"/>
                </a:ext>
              </a:extLst>
            </p:cNvPr>
            <p:cNvSpPr txBox="1"/>
            <p:nvPr/>
          </p:nvSpPr>
          <p:spPr>
            <a:xfrm>
              <a:off x="608623" y="4325829"/>
              <a:ext cx="1982906" cy="307777"/>
            </a:xfrm>
            <a:prstGeom prst="rect">
              <a:avLst/>
            </a:prstGeom>
            <a:noFill/>
            <a:ln>
              <a:solidFill>
                <a:schemeClr val="tx1"/>
              </a:solidFill>
            </a:ln>
          </p:spPr>
          <p:txBody>
            <a:bodyPr wrap="square">
              <a:spAutoFit/>
            </a:bodyPr>
            <a:lstStyle/>
            <a:p>
              <a:pPr algn="ct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滑块模型验证</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0E496B6F-4B90-3DFB-33E6-D89DE0228B0B}"/>
                </a:ext>
              </a:extLst>
            </p:cNvPr>
            <p:cNvSpPr txBox="1"/>
            <p:nvPr/>
          </p:nvSpPr>
          <p:spPr>
            <a:xfrm>
              <a:off x="3582981" y="4728545"/>
              <a:ext cx="1982906" cy="307777"/>
            </a:xfrm>
            <a:prstGeom prst="rect">
              <a:avLst/>
            </a:prstGeom>
            <a:noFill/>
            <a:ln>
              <a:solidFill>
                <a:schemeClr val="tx1"/>
              </a:solidFill>
            </a:ln>
          </p:spPr>
          <p:txBody>
            <a:bodyPr wrap="square">
              <a:spAutoFit/>
            </a:bodyPr>
            <a:lstStyle/>
            <a:p>
              <a:pPr algn="ct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b="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水槽溃坝</a:t>
              </a: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问题模拟</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883C0A4C-C825-1494-814B-E1D612DE218E}"/>
                </a:ext>
              </a:extLst>
            </p:cNvPr>
            <p:cNvSpPr txBox="1"/>
            <p:nvPr/>
          </p:nvSpPr>
          <p:spPr>
            <a:xfrm>
              <a:off x="6554906" y="4727775"/>
              <a:ext cx="1982906" cy="307777"/>
            </a:xfrm>
            <a:prstGeom prst="rect">
              <a:avLst/>
            </a:prstGeom>
            <a:noFill/>
            <a:ln>
              <a:solidFill>
                <a:schemeClr val="tx1"/>
              </a:solidFill>
            </a:ln>
          </p:spPr>
          <p:txBody>
            <a:bodyPr wrap="square">
              <a:spAutoFit/>
            </a:bodyPr>
            <a:lstStyle/>
            <a:p>
              <a:pPr algn="ctr"/>
              <a:r>
                <a:rPr lang="zh-CN" altLang="en-US" sz="1400" b="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重力坝裂纹扩展</a:t>
              </a: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模拟</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文本框 19">
              <a:extLst>
                <a:ext uri="{FF2B5EF4-FFF2-40B4-BE49-F238E27FC236}">
                  <a16:creationId xmlns:a16="http://schemas.microsoft.com/office/drawing/2014/main" id="{872A23CE-C88E-F167-7764-873500D0068C}"/>
                </a:ext>
              </a:extLst>
            </p:cNvPr>
            <p:cNvSpPr txBox="1"/>
            <p:nvPr/>
          </p:nvSpPr>
          <p:spPr>
            <a:xfrm>
              <a:off x="6554906" y="4325829"/>
              <a:ext cx="1982906" cy="307777"/>
            </a:xfrm>
            <a:prstGeom prst="rect">
              <a:avLst/>
            </a:prstGeom>
            <a:noFill/>
            <a:ln>
              <a:solidFill>
                <a:schemeClr val="tx1"/>
              </a:solidFill>
            </a:ln>
          </p:spPr>
          <p:txBody>
            <a:bodyPr wrap="square">
              <a:spAutoFit/>
            </a:bodyPr>
            <a:lstStyle/>
            <a:p>
              <a:pPr algn="ctr"/>
              <a:r>
                <a:rPr lang="zh-CN" altLang="en-US" sz="1400" b="0" kern="100" dirty="0">
                  <a:latin typeface="微软雅黑" panose="020B0503020204020204" pitchFamily="34" charset="-122"/>
                  <a:ea typeface="微软雅黑" panose="020B0503020204020204" pitchFamily="34" charset="-122"/>
                  <a:cs typeface="Times New Roman" panose="02020603050405020304" pitchFamily="18" charset="0"/>
                </a:rPr>
                <a:t>水槽边界水压</a:t>
              </a: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验证</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文本框 20">
              <a:extLst>
                <a:ext uri="{FF2B5EF4-FFF2-40B4-BE49-F238E27FC236}">
                  <a16:creationId xmlns:a16="http://schemas.microsoft.com/office/drawing/2014/main" id="{6CC6F3B3-67F9-813B-B19B-E5802EC3D5A5}"/>
                </a:ext>
              </a:extLst>
            </p:cNvPr>
            <p:cNvSpPr txBox="1"/>
            <p:nvPr/>
          </p:nvSpPr>
          <p:spPr>
            <a:xfrm>
              <a:off x="3087255" y="5273681"/>
              <a:ext cx="2974359" cy="307777"/>
            </a:xfrm>
            <a:prstGeom prst="rect">
              <a:avLst/>
            </a:prstGeom>
            <a:noFill/>
            <a:ln>
              <a:solidFill>
                <a:schemeClr val="tx1"/>
              </a:solidFill>
            </a:ln>
          </p:spPr>
          <p:txBody>
            <a:bodyPr wrap="square">
              <a:spAutoFit/>
            </a:bodyPr>
            <a:lstStyle/>
            <a:p>
              <a:pPr algn="ctr"/>
              <a:r>
                <a:rPr lang="zh-CN" altLang="en-US" sz="1400" b="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涌浪</a:t>
              </a: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冲击岸边建</a:t>
              </a:r>
              <a:r>
                <a:rPr lang="en-US"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b="0" kern="100" dirty="0">
                  <a:effectLst/>
                  <a:latin typeface="微软雅黑" panose="020B0503020204020204" pitchFamily="34" charset="-122"/>
                  <a:ea typeface="微软雅黑" panose="020B0503020204020204" pitchFamily="34" charset="-122"/>
                  <a:cs typeface="Times New Roman" panose="02020603050405020304" pitchFamily="18" charset="0"/>
                </a:rPr>
                <a:t>构筑物模拟</a:t>
              </a:r>
              <a:endParaRPr lang="zh-CN" altLang="zh-CN" sz="1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F59A8AA3-3B86-9838-EBF4-8946719E0184}"/>
                </a:ext>
              </a:extLst>
            </p:cNvPr>
            <p:cNvSpPr txBox="1"/>
            <p:nvPr/>
          </p:nvSpPr>
          <p:spPr>
            <a:xfrm>
              <a:off x="2335022" y="5736596"/>
              <a:ext cx="4451715" cy="307777"/>
            </a:xfrm>
            <a:prstGeom prst="rect">
              <a:avLst/>
            </a:prstGeom>
            <a:noFill/>
            <a:ln>
              <a:solidFill>
                <a:schemeClr val="tx1"/>
              </a:solidFill>
            </a:ln>
          </p:spPr>
          <p:txBody>
            <a:bodyPr wrap="square">
              <a:spAutoFit/>
            </a:bodyPr>
            <a:lstStyle/>
            <a:p>
              <a:pPr algn="ct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FDEM-SPH</a:t>
              </a:r>
              <a:r>
                <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数值仿真</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算法</a:t>
              </a:r>
              <a:r>
                <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及岩土工程</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应用</a:t>
              </a:r>
              <a:r>
                <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研究</a:t>
              </a:r>
            </a:p>
          </p:txBody>
        </p:sp>
        <p:cxnSp>
          <p:nvCxnSpPr>
            <p:cNvPr id="23" name="直接箭头连接符 22">
              <a:extLst>
                <a:ext uri="{FF2B5EF4-FFF2-40B4-BE49-F238E27FC236}">
                  <a16:creationId xmlns:a16="http://schemas.microsoft.com/office/drawing/2014/main" id="{BBB6A95E-DFC2-E409-13DD-8C25978BFBEA}"/>
                </a:ext>
              </a:extLst>
            </p:cNvPr>
            <p:cNvCxnSpPr>
              <a:stCxn id="3" idx="2"/>
              <a:endCxn id="7" idx="0"/>
            </p:cNvCxnSpPr>
            <p:nvPr/>
          </p:nvCxnSpPr>
          <p:spPr>
            <a:xfrm>
              <a:off x="4572000" y="2309778"/>
              <a:ext cx="2435" cy="218129"/>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56FF779-462D-8F1A-4F98-2B97D3BCB380}"/>
                </a:ext>
              </a:extLst>
            </p:cNvPr>
            <p:cNvCxnSpPr>
              <a:cxnSpLocks/>
              <a:stCxn id="10" idx="2"/>
              <a:endCxn id="11" idx="0"/>
            </p:cNvCxnSpPr>
            <p:nvPr/>
          </p:nvCxnSpPr>
          <p:spPr>
            <a:xfrm flipH="1">
              <a:off x="1597636" y="3441019"/>
              <a:ext cx="2440" cy="166737"/>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C5D20EA-DD03-443F-B3C3-AC0B46F2432E}"/>
                </a:ext>
              </a:extLst>
            </p:cNvPr>
            <p:cNvCxnSpPr>
              <a:cxnSpLocks/>
              <a:stCxn id="21" idx="2"/>
              <a:endCxn id="22" idx="0"/>
            </p:cNvCxnSpPr>
            <p:nvPr/>
          </p:nvCxnSpPr>
          <p:spPr>
            <a:xfrm flipH="1">
              <a:off x="4560879" y="5581458"/>
              <a:ext cx="13556" cy="155138"/>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75C49C38-3D3D-9E16-CEF5-6B7DC55B962B}"/>
                </a:ext>
              </a:extLst>
            </p:cNvPr>
            <p:cNvCxnSpPr>
              <a:cxnSpLocks/>
              <a:stCxn id="4" idx="3"/>
            </p:cNvCxnSpPr>
            <p:nvPr/>
          </p:nvCxnSpPr>
          <p:spPr>
            <a:xfrm flipV="1">
              <a:off x="2335022" y="2411292"/>
              <a:ext cx="2228013" cy="0"/>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DE46CCD3-A7C6-4AB0-EEDB-58D183E454B6}"/>
                </a:ext>
              </a:extLst>
            </p:cNvPr>
            <p:cNvCxnSpPr>
              <a:cxnSpLocks/>
              <a:stCxn id="9" idx="2"/>
              <a:endCxn id="16" idx="0"/>
            </p:cNvCxnSpPr>
            <p:nvPr/>
          </p:nvCxnSpPr>
          <p:spPr>
            <a:xfrm flipH="1">
              <a:off x="7546359" y="3440388"/>
              <a:ext cx="2435" cy="161864"/>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9F568CD5-7F2C-6E18-CD48-CFAEADFF65FD}"/>
                </a:ext>
              </a:extLst>
            </p:cNvPr>
            <p:cNvCxnSpPr>
              <a:cxnSpLocks/>
              <a:stCxn id="16" idx="2"/>
              <a:endCxn id="20" idx="0"/>
            </p:cNvCxnSpPr>
            <p:nvPr/>
          </p:nvCxnSpPr>
          <p:spPr>
            <a:xfrm>
              <a:off x="7546359" y="4125472"/>
              <a:ext cx="0" cy="200357"/>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DC77C2FB-9C8B-3BEE-2991-17DDF2BD0EE3}"/>
                </a:ext>
              </a:extLst>
            </p:cNvPr>
            <p:cNvCxnSpPr>
              <a:cxnSpLocks/>
              <a:stCxn id="17" idx="2"/>
              <a:endCxn id="13" idx="0"/>
            </p:cNvCxnSpPr>
            <p:nvPr/>
          </p:nvCxnSpPr>
          <p:spPr>
            <a:xfrm>
              <a:off x="1600076" y="4633606"/>
              <a:ext cx="0" cy="94169"/>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62F2DD3B-2B83-55AB-7392-D6BDA9EA66AF}"/>
                </a:ext>
              </a:extLst>
            </p:cNvPr>
            <p:cNvCxnSpPr>
              <a:cxnSpLocks/>
              <a:stCxn id="12" idx="2"/>
              <a:endCxn id="18" idx="0"/>
            </p:cNvCxnSpPr>
            <p:nvPr/>
          </p:nvCxnSpPr>
          <p:spPr>
            <a:xfrm>
              <a:off x="4574434" y="4633606"/>
              <a:ext cx="0" cy="94939"/>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FC56AFBC-9351-F978-F52D-2576F51C15AB}"/>
                </a:ext>
              </a:extLst>
            </p:cNvPr>
            <p:cNvCxnSpPr>
              <a:cxnSpLocks/>
              <a:stCxn id="20" idx="2"/>
              <a:endCxn id="19" idx="0"/>
            </p:cNvCxnSpPr>
            <p:nvPr/>
          </p:nvCxnSpPr>
          <p:spPr>
            <a:xfrm>
              <a:off x="7546359" y="4633606"/>
              <a:ext cx="0" cy="94169"/>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B68D61F9-11C0-5E4E-42C7-8010CC7E05D7}"/>
                </a:ext>
              </a:extLst>
            </p:cNvPr>
            <p:cNvCxnSpPr>
              <a:cxnSpLocks/>
              <a:stCxn id="14" idx="2"/>
              <a:endCxn id="12" idx="0"/>
            </p:cNvCxnSpPr>
            <p:nvPr/>
          </p:nvCxnSpPr>
          <p:spPr>
            <a:xfrm>
              <a:off x="4574434" y="4141700"/>
              <a:ext cx="0" cy="184129"/>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F80A9F90-4A04-6383-EE9A-1E49121F3FCE}"/>
                </a:ext>
              </a:extLst>
            </p:cNvPr>
            <p:cNvCxnSpPr>
              <a:cxnSpLocks/>
              <a:stCxn id="11" idx="2"/>
              <a:endCxn id="17" idx="0"/>
            </p:cNvCxnSpPr>
            <p:nvPr/>
          </p:nvCxnSpPr>
          <p:spPr>
            <a:xfrm>
              <a:off x="1597636" y="4130976"/>
              <a:ext cx="2440" cy="194853"/>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291444FB-4E97-E4A4-484C-38E6AD1BE97D}"/>
                </a:ext>
              </a:extLst>
            </p:cNvPr>
            <p:cNvCxnSpPr>
              <a:cxnSpLocks/>
              <a:stCxn id="8" idx="2"/>
              <a:endCxn id="14" idx="0"/>
            </p:cNvCxnSpPr>
            <p:nvPr/>
          </p:nvCxnSpPr>
          <p:spPr>
            <a:xfrm>
              <a:off x="4574434" y="3440388"/>
              <a:ext cx="0" cy="178092"/>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A67F227C-89DE-8C9B-F60B-2AD8D0042B05}"/>
                </a:ext>
              </a:extLst>
            </p:cNvPr>
            <p:cNvCxnSpPr>
              <a:cxnSpLocks/>
              <a:stCxn id="5" idx="1"/>
            </p:cNvCxnSpPr>
            <p:nvPr/>
          </p:nvCxnSpPr>
          <p:spPr>
            <a:xfrm flipH="1" flipV="1">
              <a:off x="4572000" y="2405927"/>
              <a:ext cx="2214737" cy="0"/>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0D22F8C4-93EC-B8C4-2600-BE00C6DB1B4E}"/>
                </a:ext>
              </a:extLst>
            </p:cNvPr>
            <p:cNvCxnSpPr>
              <a:cxnSpLocks/>
            </p:cNvCxnSpPr>
            <p:nvPr/>
          </p:nvCxnSpPr>
          <p:spPr>
            <a:xfrm flipH="1">
              <a:off x="1600076" y="2914112"/>
              <a:ext cx="5946283" cy="0"/>
            </a:xfrm>
            <a:prstGeom prst="straightConnector1">
              <a:avLst/>
            </a:prstGeom>
            <a:ln w="9525">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B4DF5AE2-45D9-A48E-8769-4FB5CE418570}"/>
                </a:ext>
              </a:extLst>
            </p:cNvPr>
            <p:cNvCxnSpPr>
              <a:cxnSpLocks/>
              <a:endCxn id="9" idx="0"/>
            </p:cNvCxnSpPr>
            <p:nvPr/>
          </p:nvCxnSpPr>
          <p:spPr>
            <a:xfrm>
              <a:off x="7546359" y="2914112"/>
              <a:ext cx="2435" cy="218499"/>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C20D970E-B906-1749-699B-E6DC3618274B}"/>
                </a:ext>
              </a:extLst>
            </p:cNvPr>
            <p:cNvCxnSpPr>
              <a:cxnSpLocks/>
              <a:endCxn id="10" idx="0"/>
            </p:cNvCxnSpPr>
            <p:nvPr/>
          </p:nvCxnSpPr>
          <p:spPr>
            <a:xfrm>
              <a:off x="1600076" y="2920110"/>
              <a:ext cx="0" cy="213132"/>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A1BCB411-1409-7E29-2C0E-FC11D293CF9B}"/>
                </a:ext>
              </a:extLst>
            </p:cNvPr>
            <p:cNvCxnSpPr>
              <a:cxnSpLocks/>
              <a:stCxn id="7" idx="2"/>
              <a:endCxn id="8" idx="0"/>
            </p:cNvCxnSpPr>
            <p:nvPr/>
          </p:nvCxnSpPr>
          <p:spPr>
            <a:xfrm flipH="1">
              <a:off x="4574434" y="2835684"/>
              <a:ext cx="1" cy="296927"/>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8A2ED7BE-048D-FBC8-873C-2D000DEA8FC0}"/>
                </a:ext>
              </a:extLst>
            </p:cNvPr>
            <p:cNvCxnSpPr>
              <a:cxnSpLocks/>
            </p:cNvCxnSpPr>
            <p:nvPr/>
          </p:nvCxnSpPr>
          <p:spPr>
            <a:xfrm flipH="1" flipV="1">
              <a:off x="1600076" y="5146231"/>
              <a:ext cx="5946283" cy="0"/>
            </a:xfrm>
            <a:prstGeom prst="straightConnector1">
              <a:avLst/>
            </a:prstGeom>
            <a:ln w="9525">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8F72CA58-FF11-E6BA-892C-C2939AA45C53}"/>
                </a:ext>
              </a:extLst>
            </p:cNvPr>
            <p:cNvCxnSpPr>
              <a:cxnSpLocks/>
              <a:endCxn id="19" idx="2"/>
            </p:cNvCxnSpPr>
            <p:nvPr/>
          </p:nvCxnSpPr>
          <p:spPr>
            <a:xfrm flipV="1">
              <a:off x="7546359" y="5035552"/>
              <a:ext cx="0" cy="110679"/>
            </a:xfrm>
            <a:prstGeom prst="straightConnector1">
              <a:avLst/>
            </a:prstGeom>
            <a:ln w="9525">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8866198A-CDB3-F1EA-3D97-171F99E8E57B}"/>
                </a:ext>
              </a:extLst>
            </p:cNvPr>
            <p:cNvCxnSpPr>
              <a:cxnSpLocks/>
              <a:endCxn id="13" idx="2"/>
            </p:cNvCxnSpPr>
            <p:nvPr/>
          </p:nvCxnSpPr>
          <p:spPr>
            <a:xfrm flipV="1">
              <a:off x="1600076" y="5035552"/>
              <a:ext cx="0" cy="104682"/>
            </a:xfrm>
            <a:prstGeom prst="straightConnector1">
              <a:avLst/>
            </a:prstGeom>
            <a:ln w="9525">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46771297-682E-A1D4-F8A7-A8E07EEF671F}"/>
                </a:ext>
              </a:extLst>
            </p:cNvPr>
            <p:cNvCxnSpPr>
              <a:cxnSpLocks/>
              <a:stCxn id="18" idx="2"/>
              <a:endCxn id="21" idx="0"/>
            </p:cNvCxnSpPr>
            <p:nvPr/>
          </p:nvCxnSpPr>
          <p:spPr>
            <a:xfrm>
              <a:off x="4574434" y="5036322"/>
              <a:ext cx="1" cy="237359"/>
            </a:xfrm>
            <a:prstGeom prst="straightConnector1">
              <a:avLst/>
            </a:prstGeom>
            <a:ln w="9525">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grpSp>
      <p:sp>
        <p:nvSpPr>
          <p:cNvPr id="2" name="灯片编号占位符 1">
            <a:extLst>
              <a:ext uri="{FF2B5EF4-FFF2-40B4-BE49-F238E27FC236}">
                <a16:creationId xmlns:a16="http://schemas.microsoft.com/office/drawing/2014/main" id="{B9207548-8769-99A3-2049-765932F63B52}"/>
              </a:ext>
            </a:extLst>
          </p:cNvPr>
          <p:cNvSpPr>
            <a:spLocks noGrp="1"/>
          </p:cNvSpPr>
          <p:nvPr>
            <p:ph type="sldNum" sz="quarter" idx="12"/>
          </p:nvPr>
        </p:nvSpPr>
        <p:spPr/>
        <p:txBody>
          <a:bodyPr/>
          <a:lstStyle/>
          <a:p>
            <a:pPr>
              <a:defRPr/>
            </a:pPr>
            <a:fld id="{8E7F6652-62A1-454F-81FD-501A0D85DAEF}" type="slidenum">
              <a:rPr lang="en-US" altLang="zh-CN" smtClean="0"/>
              <a:pPr>
                <a:defRPr/>
              </a:pPr>
              <a:t>24</a:t>
            </a:fld>
            <a:endParaRPr lang="en-US" altLang="zh-CN"/>
          </a:p>
        </p:txBody>
      </p:sp>
    </p:spTree>
    <p:extLst>
      <p:ext uri="{BB962C8B-B14F-4D97-AF65-F5344CB8AC3E}">
        <p14:creationId xmlns:p14="http://schemas.microsoft.com/office/powerpoint/2010/main" val="29693790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三、研究方案设计及可行性分析</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en-US" altLang="zh-CN" b="0" dirty="0">
                <a:latin typeface="微软雅黑" pitchFamily="34" charset="-122"/>
                <a:ea typeface="微软雅黑" pitchFamily="34" charset="-122"/>
              </a:rPr>
              <a:t>3.3. </a:t>
            </a:r>
            <a:r>
              <a:rPr lang="zh-CN" altLang="en-US" b="0" dirty="0">
                <a:latin typeface="微软雅黑" pitchFamily="34" charset="-122"/>
                <a:ea typeface="微软雅黑" pitchFamily="34" charset="-122"/>
              </a:rPr>
              <a:t>可行性分析</a:t>
            </a:r>
          </a:p>
        </p:txBody>
      </p:sp>
      <p:sp>
        <p:nvSpPr>
          <p:cNvPr id="6" name="同侧圆角矩形 4"/>
          <p:cNvSpPr/>
          <p:nvPr/>
        </p:nvSpPr>
        <p:spPr>
          <a:xfrm>
            <a:off x="642942" y="1988839"/>
            <a:ext cx="7889498" cy="4256385"/>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1</a:t>
            </a:r>
            <a:r>
              <a:rPr lang="zh-CN" altLang="en-US" sz="2000" b="0" dirty="0">
                <a:solidFill>
                  <a:schemeClr val="tx1"/>
                </a:solidFill>
                <a:latin typeface="微软雅黑" pitchFamily="34" charset="-122"/>
                <a:ea typeface="微软雅黑" pitchFamily="34" charset="-122"/>
              </a:rPr>
              <a:t>）</a:t>
            </a:r>
            <a:r>
              <a:rPr lang="zh-CN" altLang="en-US" sz="2000" dirty="0">
                <a:solidFill>
                  <a:schemeClr val="tx1"/>
                </a:solidFill>
                <a:latin typeface="微软雅黑" pitchFamily="34" charset="-122"/>
                <a:ea typeface="微软雅黑" pitchFamily="34" charset="-122"/>
              </a:rPr>
              <a:t>项目基础方面</a:t>
            </a:r>
            <a:r>
              <a:rPr lang="zh-CN" altLang="en-US" sz="2000" b="0" dirty="0">
                <a:solidFill>
                  <a:schemeClr val="tx1"/>
                </a:solidFill>
                <a:latin typeface="微软雅黑" pitchFamily="34" charset="-122"/>
                <a:ea typeface="微软雅黑" pitchFamily="34" charset="-122"/>
              </a:rPr>
              <a:t>：课题依托国家自然科学基金</a:t>
            </a:r>
            <a:r>
              <a:rPr lang="zh-CN" altLang="en-US" sz="2000" b="0" dirty="0">
                <a:solidFill>
                  <a:srgbClr val="FF0000"/>
                </a:solidFill>
                <a:latin typeface="微软雅黑" pitchFamily="34" charset="-122"/>
                <a:ea typeface="微软雅黑" pitchFamily="34" charset="-122"/>
              </a:rPr>
              <a:t>面上项目</a:t>
            </a:r>
            <a:r>
              <a:rPr lang="zh-CN" altLang="en-US" sz="2000" b="0" dirty="0">
                <a:solidFill>
                  <a:schemeClr val="tx1"/>
                </a:solidFill>
                <a:latin typeface="微软雅黑" pitchFamily="34" charset="-122"/>
                <a:ea typeface="微软雅黑" pitchFamily="34" charset="-122"/>
              </a:rPr>
              <a:t>，具有充分的理论和实践依据。</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2</a:t>
            </a:r>
            <a:r>
              <a:rPr lang="zh-CN" altLang="en-US" sz="2000" b="0" dirty="0">
                <a:solidFill>
                  <a:schemeClr val="tx1"/>
                </a:solidFill>
                <a:latin typeface="微软雅黑" pitchFamily="34" charset="-122"/>
                <a:ea typeface="微软雅黑" pitchFamily="34" charset="-122"/>
              </a:rPr>
              <a:t>）</a:t>
            </a:r>
            <a:r>
              <a:rPr lang="zh-CN" altLang="en-US" sz="2000" dirty="0">
                <a:solidFill>
                  <a:schemeClr val="tx1"/>
                </a:solidFill>
                <a:latin typeface="微软雅黑" pitchFamily="34" charset="-122"/>
                <a:ea typeface="微软雅黑" pitchFamily="34" charset="-122"/>
              </a:rPr>
              <a:t>研究内容方面</a:t>
            </a: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和</a:t>
            </a: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都已发展出成熟的</a:t>
            </a:r>
            <a:r>
              <a:rPr lang="zh-CN" altLang="en-US" sz="2000" b="0" dirty="0">
                <a:solidFill>
                  <a:srgbClr val="FF0000"/>
                </a:solidFill>
                <a:latin typeface="微软雅黑" pitchFamily="34" charset="-122"/>
                <a:ea typeface="微软雅黑" pitchFamily="34" charset="-122"/>
              </a:rPr>
              <a:t>理论体系</a:t>
            </a:r>
            <a:r>
              <a:rPr lang="zh-CN" altLang="en-US" sz="2000" b="0" dirty="0">
                <a:solidFill>
                  <a:schemeClr val="tx1"/>
                </a:solidFill>
                <a:latin typeface="微软雅黑" pitchFamily="34" charset="-122"/>
                <a:ea typeface="微软雅黑" pitchFamily="34" charset="-122"/>
              </a:rPr>
              <a:t>，本课题在前人研究基础上，对现有</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进行创新，将</a:t>
            </a: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与</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相结合，开发出</a:t>
            </a:r>
            <a:r>
              <a:rPr lang="en-US" altLang="zh-CN" sz="2000" b="0" dirty="0">
                <a:solidFill>
                  <a:srgbClr val="FF0000"/>
                </a:solidFill>
                <a:latin typeface="微软雅黑" pitchFamily="34" charset="-122"/>
                <a:ea typeface="微软雅黑" pitchFamily="34" charset="-122"/>
              </a:rPr>
              <a:t>FDEM-SPH</a:t>
            </a:r>
            <a:r>
              <a:rPr lang="zh-CN" altLang="en-US" sz="2000" b="0" dirty="0">
                <a:solidFill>
                  <a:srgbClr val="FF0000"/>
                </a:solidFill>
                <a:latin typeface="微软雅黑" pitchFamily="34" charset="-122"/>
                <a:ea typeface="微软雅黑" pitchFamily="34" charset="-122"/>
              </a:rPr>
              <a:t>耦合模型</a:t>
            </a:r>
            <a:r>
              <a:rPr lang="zh-CN" altLang="en-US" sz="2000" b="0" dirty="0">
                <a:solidFill>
                  <a:schemeClr val="tx1"/>
                </a:solidFill>
                <a:latin typeface="微软雅黑" pitchFamily="34" charset="-122"/>
                <a:ea typeface="微软雅黑" pitchFamily="34" charset="-122"/>
              </a:rPr>
              <a:t>是完全可行的。</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3</a:t>
            </a:r>
            <a:r>
              <a:rPr lang="zh-CN" altLang="en-US" sz="2000" b="0" dirty="0">
                <a:solidFill>
                  <a:schemeClr val="tx1"/>
                </a:solidFill>
                <a:latin typeface="微软雅黑" pitchFamily="34" charset="-122"/>
                <a:ea typeface="微软雅黑" pitchFamily="34" charset="-122"/>
              </a:rPr>
              <a:t>）</a:t>
            </a:r>
            <a:r>
              <a:rPr lang="zh-CN" altLang="en-US" sz="2000" dirty="0">
                <a:solidFill>
                  <a:schemeClr val="tx1"/>
                </a:solidFill>
                <a:latin typeface="微软雅黑" pitchFamily="34" charset="-122"/>
                <a:ea typeface="微软雅黑" pitchFamily="34" charset="-122"/>
              </a:rPr>
              <a:t>科研基础方面</a:t>
            </a:r>
            <a:r>
              <a:rPr lang="zh-CN" altLang="en-US" sz="2000" b="0" dirty="0">
                <a:solidFill>
                  <a:schemeClr val="tx1"/>
                </a:solidFill>
                <a:latin typeface="微软雅黑" pitchFamily="34" charset="-122"/>
                <a:ea typeface="微软雅黑" pitchFamily="34" charset="-122"/>
              </a:rPr>
              <a:t>：本人系统学习了</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和</a:t>
            </a: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的理论，初步掌握了</a:t>
            </a:r>
            <a:r>
              <a:rPr lang="en-US" altLang="zh-CN" sz="2000" b="0" dirty="0">
                <a:solidFill>
                  <a:srgbClr val="FF0000"/>
                </a:solidFill>
                <a:latin typeface="微软雅黑" pitchFamily="34" charset="-122"/>
                <a:ea typeface="微软雅黑" pitchFamily="34" charset="-122"/>
              </a:rPr>
              <a:t>MultiFracS</a:t>
            </a:r>
            <a:r>
              <a:rPr lang="zh-CN" altLang="en-US" sz="2000" b="0" dirty="0">
                <a:solidFill>
                  <a:schemeClr val="tx1"/>
                </a:solidFill>
                <a:latin typeface="微软雅黑" pitchFamily="34" charset="-122"/>
                <a:ea typeface="微软雅黑" pitchFamily="34" charset="-122"/>
              </a:rPr>
              <a:t>的使用，为数值模拟程序开发积累了经验。</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4</a:t>
            </a:r>
            <a:r>
              <a:rPr lang="zh-CN" altLang="en-US" sz="2000" b="0" dirty="0">
                <a:solidFill>
                  <a:schemeClr val="tx1"/>
                </a:solidFill>
                <a:latin typeface="微软雅黑" pitchFamily="34" charset="-122"/>
                <a:ea typeface="微软雅黑" pitchFamily="34" charset="-122"/>
              </a:rPr>
              <a:t>）</a:t>
            </a:r>
            <a:r>
              <a:rPr lang="zh-CN" altLang="en-US" sz="2000" dirty="0">
                <a:solidFill>
                  <a:schemeClr val="tx1"/>
                </a:solidFill>
                <a:latin typeface="微软雅黑" pitchFamily="34" charset="-122"/>
                <a:ea typeface="微软雅黑" pitchFamily="34" charset="-122"/>
              </a:rPr>
              <a:t>计算机编程方面</a:t>
            </a:r>
            <a:r>
              <a:rPr lang="zh-CN" altLang="en-US" sz="2000" b="0" dirty="0">
                <a:solidFill>
                  <a:schemeClr val="tx1"/>
                </a:solidFill>
                <a:latin typeface="微软雅黑" pitchFamily="34" charset="-122"/>
                <a:ea typeface="微软雅黑" pitchFamily="34" charset="-122"/>
              </a:rPr>
              <a:t>：本人具有编写</a:t>
            </a:r>
            <a:r>
              <a:rPr lang="en-US" altLang="zh-CN" sz="2000" b="0" dirty="0">
                <a:solidFill>
                  <a:srgbClr val="FF0000"/>
                </a:solidFill>
                <a:latin typeface="微软雅黑" pitchFamily="34" charset="-122"/>
                <a:ea typeface="微软雅黑" pitchFamily="34" charset="-122"/>
              </a:rPr>
              <a:t>MATLAB</a:t>
            </a:r>
            <a:r>
              <a:rPr lang="zh-CN" altLang="en-US" sz="2000" b="0" dirty="0">
                <a:solidFill>
                  <a:schemeClr val="tx1"/>
                </a:solidFill>
                <a:latin typeface="微软雅黑" pitchFamily="34" charset="-122"/>
                <a:ea typeface="微软雅黑" pitchFamily="34" charset="-122"/>
              </a:rPr>
              <a:t>脚本的经验，初步具备</a:t>
            </a:r>
            <a:r>
              <a:rPr lang="en-US" altLang="zh-CN" sz="2000" b="0" dirty="0">
                <a:solidFill>
                  <a:srgbClr val="FF0000"/>
                </a:solidFill>
                <a:latin typeface="微软雅黑" pitchFamily="34" charset="-122"/>
                <a:ea typeface="微软雅黑" pitchFamily="34" charset="-122"/>
              </a:rPr>
              <a:t>C</a:t>
            </a:r>
            <a:r>
              <a:rPr lang="zh-CN" altLang="en-US" sz="2000" b="0" dirty="0">
                <a:solidFill>
                  <a:srgbClr val="FF0000"/>
                </a:solidFill>
                <a:latin typeface="微软雅黑" pitchFamily="34" charset="-122"/>
                <a:ea typeface="微软雅黑" pitchFamily="34" charset="-122"/>
              </a:rPr>
              <a:t>语言</a:t>
            </a:r>
            <a:r>
              <a:rPr lang="zh-CN" altLang="en-US" sz="2000" b="0" dirty="0">
                <a:solidFill>
                  <a:schemeClr val="tx1"/>
                </a:solidFill>
                <a:latin typeface="微软雅黑" pitchFamily="34" charset="-122"/>
                <a:ea typeface="微软雅黑" pitchFamily="34" charset="-122"/>
              </a:rPr>
              <a:t>编程能力，能够在程序中实现</a:t>
            </a: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的算法与功能。</a:t>
            </a:r>
          </a:p>
        </p:txBody>
      </p:sp>
      <p:sp>
        <p:nvSpPr>
          <p:cNvPr id="2" name="灯片编号占位符 1">
            <a:extLst>
              <a:ext uri="{FF2B5EF4-FFF2-40B4-BE49-F238E27FC236}">
                <a16:creationId xmlns:a16="http://schemas.microsoft.com/office/drawing/2014/main" id="{4AB653E4-385E-C5F1-2A59-77C72C228D2B}"/>
              </a:ext>
            </a:extLst>
          </p:cNvPr>
          <p:cNvSpPr>
            <a:spLocks noGrp="1"/>
          </p:cNvSpPr>
          <p:nvPr>
            <p:ph type="sldNum" sz="quarter" idx="12"/>
          </p:nvPr>
        </p:nvSpPr>
        <p:spPr/>
        <p:txBody>
          <a:bodyPr/>
          <a:lstStyle/>
          <a:p>
            <a:pPr>
              <a:defRPr/>
            </a:pPr>
            <a:fld id="{8E7F6652-62A1-454F-81FD-501A0D85DAEF}" type="slidenum">
              <a:rPr lang="en-US" altLang="zh-CN" smtClean="0"/>
              <a:pPr>
                <a:defRPr/>
              </a:pPr>
              <a:t>25</a:t>
            </a:fld>
            <a:endParaRPr lang="en-US" altLang="zh-CN"/>
          </a:p>
        </p:txBody>
      </p:sp>
    </p:spTree>
    <p:extLst>
      <p:ext uri="{BB962C8B-B14F-4D97-AF65-F5344CB8AC3E}">
        <p14:creationId xmlns:p14="http://schemas.microsoft.com/office/powerpoint/2010/main" val="39690002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三、研究方案设计及可行性分析</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zh-CN" altLang="en-US" b="0" dirty="0">
                <a:latin typeface="微软雅黑" pitchFamily="34" charset="-122"/>
                <a:ea typeface="微软雅黑" pitchFamily="34" charset="-122"/>
              </a:rPr>
              <a:t>本研究课题的特色与创新点</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同侧圆角矩形 4"/>
          <p:cNvSpPr/>
          <p:nvPr/>
        </p:nvSpPr>
        <p:spPr>
          <a:xfrm>
            <a:off x="642942" y="1988840"/>
            <a:ext cx="7889498" cy="3528392"/>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1</a:t>
            </a:r>
            <a:r>
              <a:rPr lang="zh-CN" altLang="en-US" sz="2000" b="0" dirty="0">
                <a:solidFill>
                  <a:schemeClr val="tx1"/>
                </a:solidFill>
                <a:latin typeface="微软雅黑" pitchFamily="34" charset="-122"/>
                <a:ea typeface="微软雅黑" pitchFamily="34" charset="-122"/>
              </a:rPr>
              <a:t>）研究了</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中</a:t>
            </a:r>
            <a:r>
              <a:rPr lang="zh-CN" altLang="en-US" sz="2000" b="0" dirty="0">
                <a:solidFill>
                  <a:srgbClr val="FF0000"/>
                </a:solidFill>
                <a:latin typeface="微软雅黑" pitchFamily="34" charset="-122"/>
                <a:ea typeface="微软雅黑" pitchFamily="34" charset="-122"/>
              </a:rPr>
              <a:t>不启用接触</a:t>
            </a:r>
            <a:r>
              <a:rPr lang="zh-CN" altLang="en-US" sz="2000" b="0" dirty="0">
                <a:solidFill>
                  <a:schemeClr val="tx1"/>
                </a:solidFill>
                <a:latin typeface="微软雅黑" pitchFamily="34" charset="-122"/>
                <a:ea typeface="微软雅黑" pitchFamily="34" charset="-122"/>
              </a:rPr>
              <a:t>计算的模拟方法，采用修正的节理单元</a:t>
            </a:r>
            <a:r>
              <a:rPr lang="zh-CN" altLang="en-US" sz="2000" b="0" dirty="0">
                <a:solidFill>
                  <a:srgbClr val="FF0000"/>
                </a:solidFill>
                <a:latin typeface="微软雅黑" pitchFamily="34" charset="-122"/>
                <a:ea typeface="微软雅黑" pitchFamily="34" charset="-122"/>
              </a:rPr>
              <a:t>本构</a:t>
            </a:r>
            <a:r>
              <a:rPr lang="zh-CN" altLang="en-US" sz="2000" b="0" dirty="0">
                <a:solidFill>
                  <a:schemeClr val="tx1"/>
                </a:solidFill>
                <a:latin typeface="微软雅黑" pitchFamily="34" charset="-122"/>
                <a:ea typeface="微软雅黑" pitchFamily="34" charset="-122"/>
              </a:rPr>
              <a:t>模型，实现对岩石</a:t>
            </a:r>
            <a:r>
              <a:rPr lang="zh-CN" altLang="en-US" sz="2000" b="0" dirty="0">
                <a:solidFill>
                  <a:srgbClr val="FF0000"/>
                </a:solidFill>
                <a:latin typeface="微软雅黑" pitchFamily="34" charset="-122"/>
                <a:ea typeface="微软雅黑" pitchFamily="34" charset="-122"/>
              </a:rPr>
              <a:t>非线性力学特征</a:t>
            </a:r>
            <a:r>
              <a:rPr lang="zh-CN" altLang="en-US" sz="2000" b="0" dirty="0">
                <a:solidFill>
                  <a:schemeClr val="tx1"/>
                </a:solidFill>
                <a:latin typeface="微软雅黑" pitchFamily="34" charset="-122"/>
                <a:ea typeface="微软雅黑" pitchFamily="34" charset="-122"/>
              </a:rPr>
              <a:t>和单轴</a:t>
            </a:r>
            <a:r>
              <a:rPr lang="en-US" altLang="zh-CN" sz="2000" b="0" dirty="0">
                <a:solidFill>
                  <a:schemeClr val="tx1"/>
                </a:solidFill>
                <a:latin typeface="微软雅黑" pitchFamily="34" charset="-122"/>
                <a:ea typeface="微软雅黑" pitchFamily="34" charset="-122"/>
              </a:rPr>
              <a:t>/</a:t>
            </a:r>
            <a:r>
              <a:rPr lang="zh-CN" altLang="en-US" sz="2000" b="0" dirty="0">
                <a:solidFill>
                  <a:schemeClr val="tx1"/>
                </a:solidFill>
                <a:latin typeface="微软雅黑" pitchFamily="34" charset="-122"/>
                <a:ea typeface="微软雅黑" pitchFamily="34" charset="-122"/>
              </a:rPr>
              <a:t>三轴</a:t>
            </a:r>
            <a:r>
              <a:rPr lang="zh-CN" altLang="en-US" sz="2000" b="0" dirty="0">
                <a:solidFill>
                  <a:srgbClr val="FF0000"/>
                </a:solidFill>
                <a:latin typeface="微软雅黑" pitchFamily="34" charset="-122"/>
                <a:ea typeface="微软雅黑" pitchFamily="34" charset="-122"/>
              </a:rPr>
              <a:t>压缩强度</a:t>
            </a:r>
            <a:r>
              <a:rPr lang="zh-CN" altLang="en-US" sz="2000" b="0" dirty="0">
                <a:solidFill>
                  <a:schemeClr val="tx1"/>
                </a:solidFill>
                <a:latin typeface="微软雅黑" pitchFamily="34" charset="-122"/>
                <a:ea typeface="微软雅黑" pitchFamily="34" charset="-122"/>
              </a:rPr>
              <a:t>的模拟。</a:t>
            </a:r>
            <a:endParaRPr lang="en-US" altLang="zh-CN" sz="2000" b="0" dirty="0">
              <a:solidFill>
                <a:schemeClr val="tx1"/>
              </a:solidFill>
              <a:latin typeface="微软雅黑" pitchFamily="34" charset="-122"/>
              <a:ea typeface="微软雅黑" pitchFamily="34" charset="-122"/>
            </a:endParaRP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2</a:t>
            </a:r>
            <a:r>
              <a:rPr lang="zh-CN" altLang="en-US" sz="2000" b="0" dirty="0">
                <a:solidFill>
                  <a:schemeClr val="tx1"/>
                </a:solidFill>
                <a:latin typeface="微软雅黑" pitchFamily="34" charset="-122"/>
                <a:ea typeface="微软雅黑" pitchFamily="34" charset="-122"/>
              </a:rPr>
              <a:t>）研究了</a:t>
            </a:r>
            <a:r>
              <a:rPr lang="en-US" altLang="zh-CN" sz="2000" b="0" dirty="0">
                <a:solidFill>
                  <a:srgbClr val="FF0000"/>
                </a:solidFill>
                <a:latin typeface="微软雅黑" pitchFamily="34" charset="-122"/>
                <a:ea typeface="微软雅黑" pitchFamily="34" charset="-122"/>
              </a:rPr>
              <a:t>SPH</a:t>
            </a:r>
            <a:r>
              <a:rPr lang="zh-CN" altLang="en-US" sz="2000" b="0" dirty="0">
                <a:solidFill>
                  <a:srgbClr val="FF0000"/>
                </a:solidFill>
                <a:latin typeface="微软雅黑" pitchFamily="34" charset="-122"/>
                <a:ea typeface="微软雅黑" pitchFamily="34" charset="-122"/>
              </a:rPr>
              <a:t>算法</a:t>
            </a:r>
            <a:r>
              <a:rPr lang="zh-CN" altLang="en-US" sz="2000" b="0" dirty="0">
                <a:solidFill>
                  <a:schemeClr val="tx1"/>
                </a:solidFill>
                <a:latin typeface="微软雅黑" pitchFamily="34" charset="-122"/>
                <a:ea typeface="微软雅黑" pitchFamily="34" charset="-122"/>
              </a:rPr>
              <a:t>，并采用</a:t>
            </a:r>
            <a:r>
              <a:rPr lang="en-US" altLang="zh-CN" sz="2000" b="0" dirty="0">
                <a:solidFill>
                  <a:srgbClr val="FF0000"/>
                </a:solidFill>
                <a:latin typeface="微软雅黑" pitchFamily="34" charset="-122"/>
                <a:ea typeface="微软雅黑" pitchFamily="34" charset="-122"/>
              </a:rPr>
              <a:t>C</a:t>
            </a:r>
            <a:r>
              <a:rPr lang="zh-CN" altLang="en-US" sz="2000" b="0" dirty="0">
                <a:solidFill>
                  <a:srgbClr val="FF0000"/>
                </a:solidFill>
                <a:latin typeface="微软雅黑" pitchFamily="34" charset="-122"/>
                <a:ea typeface="微软雅黑" pitchFamily="34" charset="-122"/>
              </a:rPr>
              <a:t>语言</a:t>
            </a:r>
            <a:r>
              <a:rPr lang="zh-CN" altLang="en-US" sz="2000" b="0" dirty="0">
                <a:solidFill>
                  <a:schemeClr val="tx1"/>
                </a:solidFill>
                <a:latin typeface="微软雅黑" pitchFamily="34" charset="-122"/>
                <a:ea typeface="微软雅黑" pitchFamily="34" charset="-122"/>
              </a:rPr>
              <a:t>编程并实现结果的</a:t>
            </a:r>
            <a:r>
              <a:rPr lang="zh-CN" altLang="en-US" sz="2000" b="0" dirty="0">
                <a:solidFill>
                  <a:srgbClr val="FF0000"/>
                </a:solidFill>
                <a:latin typeface="微软雅黑" pitchFamily="34" charset="-122"/>
                <a:ea typeface="微软雅黑" pitchFamily="34" charset="-122"/>
              </a:rPr>
              <a:t>可视化</a:t>
            </a:r>
            <a:r>
              <a:rPr lang="zh-CN" altLang="en-US" sz="2000" b="0" dirty="0">
                <a:solidFill>
                  <a:schemeClr val="tx1"/>
                </a:solidFill>
                <a:latin typeface="微软雅黑" pitchFamily="34" charset="-122"/>
                <a:ea typeface="微软雅黑" pitchFamily="34" charset="-122"/>
              </a:rPr>
              <a:t>，程序可实现对流体流动的数值仿真。</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3</a:t>
            </a:r>
            <a:r>
              <a:rPr lang="zh-CN" altLang="en-US" sz="2000" b="0" dirty="0">
                <a:solidFill>
                  <a:schemeClr val="tx1"/>
                </a:solidFill>
                <a:latin typeface="微软雅黑" pitchFamily="34" charset="-122"/>
                <a:ea typeface="微软雅黑" pitchFamily="34" charset="-122"/>
              </a:rPr>
              <a:t>）研究了</a:t>
            </a:r>
            <a:r>
              <a:rPr lang="en-US" altLang="zh-CN" sz="2000" b="0" dirty="0">
                <a:solidFill>
                  <a:srgbClr val="FF0000"/>
                </a:solidFill>
                <a:latin typeface="微软雅黑" pitchFamily="34" charset="-122"/>
                <a:ea typeface="微软雅黑" pitchFamily="34" charset="-122"/>
              </a:rPr>
              <a:t>FDEM-SPH</a:t>
            </a:r>
            <a:r>
              <a:rPr lang="zh-CN" altLang="en-US" sz="2000" b="0" dirty="0">
                <a:solidFill>
                  <a:schemeClr val="tx1"/>
                </a:solidFill>
                <a:latin typeface="微软雅黑" pitchFamily="34" charset="-122"/>
                <a:ea typeface="微软雅黑" pitchFamily="34" charset="-122"/>
              </a:rPr>
              <a:t>耦合方法，分别对固体和流体建模，可以直观地表征流体和固体的相互作用，可以模拟</a:t>
            </a:r>
            <a:r>
              <a:rPr lang="zh-CN" altLang="en-US" sz="2000" b="0" dirty="0">
                <a:solidFill>
                  <a:srgbClr val="FF0000"/>
                </a:solidFill>
                <a:latin typeface="微软雅黑" pitchFamily="34" charset="-122"/>
                <a:ea typeface="微软雅黑" pitchFamily="34" charset="-122"/>
              </a:rPr>
              <a:t>涌浪</a:t>
            </a:r>
            <a:r>
              <a:rPr lang="zh-CN" altLang="en-US" sz="2000" b="0" dirty="0">
                <a:solidFill>
                  <a:schemeClr val="tx1"/>
                </a:solidFill>
                <a:latin typeface="微软雅黑" pitchFamily="34" charset="-122"/>
                <a:ea typeface="微软雅黑" pitchFamily="34" charset="-122"/>
              </a:rPr>
              <a:t>对岸边建</a:t>
            </a:r>
            <a:r>
              <a:rPr lang="en-US" altLang="zh-CN" sz="2000" b="0" dirty="0">
                <a:solidFill>
                  <a:schemeClr val="tx1"/>
                </a:solidFill>
                <a:latin typeface="微软雅黑" pitchFamily="34" charset="-122"/>
                <a:ea typeface="微软雅黑" pitchFamily="34" charset="-122"/>
              </a:rPr>
              <a:t>/</a:t>
            </a:r>
            <a:r>
              <a:rPr lang="zh-CN" altLang="en-US" sz="2000" b="0" dirty="0">
                <a:solidFill>
                  <a:schemeClr val="tx1"/>
                </a:solidFill>
                <a:latin typeface="微软雅黑" pitchFamily="34" charset="-122"/>
                <a:ea typeface="微软雅黑" pitchFamily="34" charset="-122"/>
              </a:rPr>
              <a:t>构筑物的冲击作用。</a:t>
            </a:r>
          </a:p>
        </p:txBody>
      </p:sp>
      <p:sp>
        <p:nvSpPr>
          <p:cNvPr id="2" name="灯片编号占位符 1">
            <a:extLst>
              <a:ext uri="{FF2B5EF4-FFF2-40B4-BE49-F238E27FC236}">
                <a16:creationId xmlns:a16="http://schemas.microsoft.com/office/drawing/2014/main" id="{DFD0B1C6-1317-8FDE-5E1C-ABF11F3F2F37}"/>
              </a:ext>
            </a:extLst>
          </p:cNvPr>
          <p:cNvSpPr>
            <a:spLocks noGrp="1"/>
          </p:cNvSpPr>
          <p:nvPr>
            <p:ph type="sldNum" sz="quarter" idx="12"/>
          </p:nvPr>
        </p:nvSpPr>
        <p:spPr/>
        <p:txBody>
          <a:bodyPr/>
          <a:lstStyle/>
          <a:p>
            <a:pPr>
              <a:defRPr/>
            </a:pPr>
            <a:fld id="{8E7F6652-62A1-454F-81FD-501A0D85DAEF}" type="slidenum">
              <a:rPr lang="en-US" altLang="zh-CN" smtClean="0"/>
              <a:pPr>
                <a:defRPr/>
              </a:pPr>
              <a:t>26</a:t>
            </a:fld>
            <a:endParaRPr lang="en-US" altLang="zh-CN"/>
          </a:p>
        </p:txBody>
      </p:sp>
    </p:spTree>
    <p:extLst>
      <p:ext uri="{BB962C8B-B14F-4D97-AF65-F5344CB8AC3E}">
        <p14:creationId xmlns:p14="http://schemas.microsoft.com/office/powerpoint/2010/main" val="12257197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971601" y="1486642"/>
            <a:ext cx="7200799" cy="3337837"/>
          </a:xfrm>
          <a:prstGeom prst="rect">
            <a:avLst/>
          </a:prstGeom>
          <a:solidFill>
            <a:schemeClr val="bg1"/>
          </a:solidFill>
          <a:ln w="28575" algn="ctr">
            <a:solidFill>
              <a:srgbClr val="FF3300"/>
            </a:solidFill>
            <a:miter lim="800000"/>
            <a:headEnd/>
            <a:tailEnd/>
          </a:ln>
          <a:effectLst>
            <a:outerShdw dist="161645" dir="2700000" algn="ctr" rotWithShape="0">
              <a:schemeClr val="tx2">
                <a:alpha val="50000"/>
              </a:schemeClr>
            </a:outerShdw>
          </a:effec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0"/>
              </a:spcBef>
              <a:buFontTx/>
              <a:buNone/>
            </a:pPr>
            <a:r>
              <a:rPr lang="zh-CN" altLang="en-US" dirty="0">
                <a:solidFill>
                  <a:srgbClr val="FF0000"/>
                </a:solidFill>
                <a:latin typeface="黑体" panose="02010609060101010101" pitchFamily="49" charset="-122"/>
                <a:ea typeface="黑体" panose="02010609060101010101" pitchFamily="49" charset="-122"/>
              </a:rPr>
              <a:t>一、立题依据</a:t>
            </a:r>
            <a:endParaRPr lang="en-US" altLang="zh-CN" dirty="0">
              <a:solidFill>
                <a:srgbClr val="FF0000"/>
              </a:solidFill>
              <a:latin typeface="黑体" panose="02010609060101010101" pitchFamily="49" charset="-122"/>
              <a:ea typeface="黑体" panose="02010609060101010101" pitchFamily="49" charset="-122"/>
            </a:endParaRPr>
          </a:p>
          <a:p>
            <a:pPr eaLnBrk="1" hangingPunct="1">
              <a:lnSpc>
                <a:spcPct val="180000"/>
              </a:lnSpc>
              <a:spcBef>
                <a:spcPts val="0"/>
              </a:spcBef>
              <a:buFont typeface="Monotype Sorts"/>
              <a:buNone/>
            </a:pPr>
            <a:r>
              <a:rPr lang="zh-CN" altLang="en-US" dirty="0">
                <a:solidFill>
                  <a:srgbClr val="FF0000"/>
                </a:solidFill>
                <a:latin typeface="黑体" panose="02010609060101010101" pitchFamily="49" charset="-122"/>
                <a:ea typeface="黑体" panose="02010609060101010101" pitchFamily="49" charset="-122"/>
              </a:rPr>
              <a:t>二、研究内容和目标</a:t>
            </a:r>
          </a:p>
          <a:p>
            <a:pPr eaLnBrk="1" hangingPunct="1">
              <a:lnSpc>
                <a:spcPct val="180000"/>
              </a:lnSpc>
              <a:spcBef>
                <a:spcPts val="0"/>
              </a:spcBef>
              <a:buFont typeface="Monotype Sorts"/>
              <a:buNone/>
            </a:pPr>
            <a:r>
              <a:rPr lang="zh-CN" altLang="en-US" dirty="0">
                <a:solidFill>
                  <a:srgbClr val="FF0000"/>
                </a:solidFill>
                <a:latin typeface="黑体" panose="02010609060101010101" pitchFamily="49" charset="-122"/>
                <a:ea typeface="黑体" panose="02010609060101010101" pitchFamily="49" charset="-122"/>
              </a:rPr>
              <a:t>三、研究方案设计及可行性分析</a:t>
            </a:r>
            <a:endParaRPr lang="en-US" altLang="zh-CN" dirty="0">
              <a:solidFill>
                <a:srgbClr val="FF0000"/>
              </a:solidFill>
              <a:latin typeface="黑体" panose="02010609060101010101" pitchFamily="49" charset="-122"/>
              <a:ea typeface="黑体" panose="02010609060101010101" pitchFamily="49" charset="-122"/>
            </a:endParaRPr>
          </a:p>
          <a:p>
            <a:pPr eaLnBrk="1" hangingPunct="1">
              <a:lnSpc>
                <a:spcPct val="180000"/>
              </a:lnSpc>
              <a:spcBef>
                <a:spcPts val="0"/>
              </a:spcBef>
              <a:buFont typeface="Monotype Sorts"/>
              <a:buNone/>
            </a:pPr>
            <a:r>
              <a:rPr lang="zh-CN" altLang="en-US" dirty="0">
                <a:solidFill>
                  <a:srgbClr val="FF0000"/>
                </a:solidFill>
                <a:highlight>
                  <a:srgbClr val="FFFF00"/>
                </a:highlight>
                <a:latin typeface="黑体" panose="02010609060101010101" pitchFamily="49" charset="-122"/>
                <a:ea typeface="黑体" panose="02010609060101010101" pitchFamily="49" charset="-122"/>
              </a:rPr>
              <a:t>四、研究基础与工作条件</a:t>
            </a:r>
          </a:p>
        </p:txBody>
      </p:sp>
      <p:sp>
        <p:nvSpPr>
          <p:cNvPr id="6147" name="Text Box 3"/>
          <p:cNvSpPr txBox="1">
            <a:spLocks noChangeArrowheads="1"/>
          </p:cNvSpPr>
          <p:nvPr/>
        </p:nvSpPr>
        <p:spPr bwMode="auto">
          <a:xfrm>
            <a:off x="2608263" y="692150"/>
            <a:ext cx="144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2573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Monotype Sorts"/>
              <a:buChar char="•"/>
            </a:pPr>
            <a:endParaRPr lang="zh-CN" altLang="zh-CN" sz="2400">
              <a:solidFill>
                <a:schemeClr val="bg1"/>
              </a:solidFill>
            </a:endParaRPr>
          </a:p>
        </p:txBody>
      </p:sp>
      <p:sp>
        <p:nvSpPr>
          <p:cNvPr id="6148" name="Rectangle 4"/>
          <p:cNvSpPr>
            <a:spLocks noChangeArrowheads="1"/>
          </p:cNvSpPr>
          <p:nvPr/>
        </p:nvSpPr>
        <p:spPr bwMode="auto">
          <a:xfrm>
            <a:off x="2700338" y="-23854"/>
            <a:ext cx="398145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0"/>
              </a:spcBef>
              <a:buFont typeface="Monotype Sorts"/>
              <a:buNone/>
            </a:pPr>
            <a:r>
              <a:rPr lang="zh-CN" altLang="en-US" sz="4800" dirty="0">
                <a:latin typeface="黑体" panose="02010609060101010101" pitchFamily="49" charset="-122"/>
                <a:ea typeface="黑体" panose="02010609060101010101" pitchFamily="49" charset="-122"/>
              </a:rPr>
              <a:t>汇 报 提 纲</a:t>
            </a:r>
          </a:p>
        </p:txBody>
      </p:sp>
      <p:pic>
        <p:nvPicPr>
          <p:cNvPr id="6149" name="Picture 1030" descr="图片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49729"/>
            <a:ext cx="91440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33454D3F-1DDA-6328-ADDA-BA4F91C31059}"/>
              </a:ext>
            </a:extLst>
          </p:cNvPr>
          <p:cNvSpPr>
            <a:spLocks noGrp="1"/>
          </p:cNvSpPr>
          <p:nvPr>
            <p:ph type="sldNum" sz="quarter" idx="12"/>
          </p:nvPr>
        </p:nvSpPr>
        <p:spPr/>
        <p:txBody>
          <a:bodyPr/>
          <a:lstStyle/>
          <a:p>
            <a:pPr>
              <a:defRPr/>
            </a:pPr>
            <a:fld id="{C61B835A-E540-400A-ADC8-0E2403FDC7FB}" type="slidenum">
              <a:rPr lang="en-US" altLang="zh-CN" smtClean="0"/>
              <a:pPr>
                <a:defRPr/>
              </a:pPr>
              <a:t>27</a:t>
            </a:fld>
            <a:endParaRPr lang="en-US" altLang="zh-CN"/>
          </a:p>
        </p:txBody>
      </p:sp>
    </p:spTree>
    <p:extLst>
      <p:ext uri="{BB962C8B-B14F-4D97-AF65-F5344CB8AC3E}">
        <p14:creationId xmlns:p14="http://schemas.microsoft.com/office/powerpoint/2010/main" val="364323641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331"/>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四、研究基础与工作条件</a:t>
            </a:r>
          </a:p>
        </p:txBody>
      </p:sp>
      <p:sp>
        <p:nvSpPr>
          <p:cNvPr id="6" name="同侧圆角矩形 4"/>
          <p:cNvSpPr/>
          <p:nvPr/>
        </p:nvSpPr>
        <p:spPr>
          <a:xfrm>
            <a:off x="642942" y="1268999"/>
            <a:ext cx="7889498" cy="4976225"/>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1</a:t>
            </a:r>
            <a:r>
              <a:rPr lang="zh-CN" altLang="en-US" sz="2000" b="0" dirty="0">
                <a:solidFill>
                  <a:schemeClr val="tx1"/>
                </a:solidFill>
                <a:latin typeface="微软雅黑" pitchFamily="34" charset="-122"/>
                <a:ea typeface="微软雅黑" pitchFamily="34" charset="-122"/>
              </a:rPr>
              <a:t>）本研究课题依托导师主持的</a:t>
            </a:r>
            <a:r>
              <a:rPr lang="zh-CN" altLang="en-US" sz="2000" b="0" dirty="0">
                <a:solidFill>
                  <a:srgbClr val="FF0000"/>
                </a:solidFill>
                <a:latin typeface="微软雅黑" pitchFamily="34" charset="-122"/>
                <a:ea typeface="微软雅黑" pitchFamily="34" charset="-122"/>
              </a:rPr>
              <a:t>国家自然科学基金面上项目</a:t>
            </a:r>
            <a:r>
              <a:rPr lang="zh-CN" altLang="en-US" sz="2000" b="0" dirty="0">
                <a:solidFill>
                  <a:schemeClr val="tx1"/>
                </a:solidFill>
                <a:latin typeface="微软雅黑" pitchFamily="34" charset="-122"/>
                <a:ea typeface="微软雅黑" pitchFamily="34" charset="-122"/>
              </a:rPr>
              <a:t>，导师团队拥有完善的基于有限</a:t>
            </a:r>
            <a:r>
              <a:rPr lang="en-US" altLang="zh-CN" sz="2000" b="0" dirty="0">
                <a:solidFill>
                  <a:schemeClr val="tx1"/>
                </a:solidFill>
                <a:latin typeface="微软雅黑" pitchFamily="34" charset="-122"/>
                <a:ea typeface="微软雅黑" pitchFamily="34" charset="-122"/>
              </a:rPr>
              <a:t>-</a:t>
            </a:r>
            <a:r>
              <a:rPr lang="zh-CN" altLang="en-US" sz="2000" b="0" dirty="0">
                <a:solidFill>
                  <a:schemeClr val="tx1"/>
                </a:solidFill>
                <a:latin typeface="微软雅黑" pitchFamily="34" charset="-122"/>
                <a:ea typeface="微软雅黑" pitchFamily="34" charset="-122"/>
              </a:rPr>
              <a:t>离散元法的数值仿真软件</a:t>
            </a:r>
            <a:r>
              <a:rPr lang="en-US" altLang="zh-CN" sz="2000" dirty="0">
                <a:solidFill>
                  <a:srgbClr val="FF0000"/>
                </a:solidFill>
                <a:latin typeface="微软雅黑" pitchFamily="34" charset="-122"/>
                <a:ea typeface="微软雅黑" pitchFamily="34" charset="-122"/>
              </a:rPr>
              <a:t>MultiFracS</a:t>
            </a:r>
            <a:r>
              <a:rPr lang="zh-CN" altLang="en-US" sz="2000" b="0" dirty="0">
                <a:solidFill>
                  <a:schemeClr val="tx1"/>
                </a:solidFill>
                <a:latin typeface="微软雅黑" pitchFamily="34" charset="-122"/>
                <a:ea typeface="微软雅黑" pitchFamily="34" charset="-122"/>
              </a:rPr>
              <a:t>，为本课题研究工作的开展提供了理论和软件支持。</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2</a:t>
            </a:r>
            <a:r>
              <a:rPr lang="zh-CN" altLang="en-US" sz="2000" b="0" dirty="0">
                <a:solidFill>
                  <a:schemeClr val="tx1"/>
                </a:solidFill>
                <a:latin typeface="微软雅黑" pitchFamily="34" charset="-122"/>
                <a:ea typeface="微软雅黑" pitchFamily="34" charset="-122"/>
              </a:rPr>
              <a:t>）基本完成有限</a:t>
            </a:r>
            <a:r>
              <a:rPr lang="en-US" altLang="zh-CN" sz="2000" b="0" dirty="0">
                <a:solidFill>
                  <a:schemeClr val="tx1"/>
                </a:solidFill>
                <a:latin typeface="微软雅黑" pitchFamily="34" charset="-122"/>
                <a:ea typeface="微软雅黑" pitchFamily="34" charset="-122"/>
              </a:rPr>
              <a:t>-</a:t>
            </a:r>
            <a:r>
              <a:rPr lang="zh-CN" altLang="en-US" sz="2000" b="0" dirty="0">
                <a:solidFill>
                  <a:schemeClr val="tx1"/>
                </a:solidFill>
                <a:latin typeface="微软雅黑" pitchFamily="34" charset="-122"/>
                <a:ea typeface="微软雅黑" pitchFamily="34" charset="-122"/>
              </a:rPr>
              <a:t>离散元法中</a:t>
            </a:r>
            <a:r>
              <a:rPr lang="zh-CN" altLang="en-US" sz="2000" b="0" dirty="0">
                <a:solidFill>
                  <a:srgbClr val="FF0000"/>
                </a:solidFill>
                <a:latin typeface="微软雅黑" pitchFamily="34" charset="-122"/>
                <a:ea typeface="微软雅黑" pitchFamily="34" charset="-122"/>
              </a:rPr>
              <a:t>新的节理单元本构</a:t>
            </a:r>
            <a:r>
              <a:rPr lang="zh-CN" altLang="en-US" sz="2000" b="0" dirty="0">
                <a:solidFill>
                  <a:schemeClr val="tx1"/>
                </a:solidFill>
                <a:latin typeface="微软雅黑" pitchFamily="34" charset="-122"/>
                <a:ea typeface="微软雅黑" pitchFamily="34" charset="-122"/>
              </a:rPr>
              <a:t>模型的构建，正在进行新本构模型的测试和相关参数的调试工作。</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3</a:t>
            </a:r>
            <a:r>
              <a:rPr lang="zh-CN" altLang="en-US" sz="2000" b="0" dirty="0">
                <a:solidFill>
                  <a:schemeClr val="tx1"/>
                </a:solidFill>
                <a:latin typeface="微软雅黑" pitchFamily="34" charset="-122"/>
                <a:ea typeface="微软雅黑" pitchFamily="34" charset="-122"/>
              </a:rPr>
              <a:t>）基本掌握光滑粒子流体动力学中控制方程的</a:t>
            </a:r>
            <a:r>
              <a:rPr lang="zh-CN" altLang="en-US" sz="2000" b="0" dirty="0">
                <a:solidFill>
                  <a:srgbClr val="FF0000"/>
                </a:solidFill>
                <a:latin typeface="微软雅黑" pitchFamily="34" charset="-122"/>
                <a:ea typeface="微软雅黑" pitchFamily="34" charset="-122"/>
              </a:rPr>
              <a:t>粒子近似算法</a:t>
            </a:r>
            <a:r>
              <a:rPr lang="zh-CN" altLang="en-US" sz="2000" b="0" dirty="0">
                <a:solidFill>
                  <a:schemeClr val="tx1"/>
                </a:solidFill>
                <a:latin typeface="微软雅黑" pitchFamily="34" charset="-122"/>
                <a:ea typeface="微软雅黑" pitchFamily="34" charset="-122"/>
              </a:rPr>
              <a:t>，正在编写相关的程序代码，后续将对开发的</a:t>
            </a:r>
            <a:r>
              <a:rPr lang="en-US" altLang="zh-CN" sz="2000" b="0" dirty="0">
                <a:solidFill>
                  <a:schemeClr val="tx1"/>
                </a:solidFill>
                <a:latin typeface="微软雅黑" pitchFamily="34" charset="-122"/>
                <a:ea typeface="微软雅黑" pitchFamily="34" charset="-122"/>
              </a:rPr>
              <a:t>SPH</a:t>
            </a:r>
            <a:r>
              <a:rPr lang="zh-CN" altLang="en-US" sz="2000" b="0" dirty="0">
                <a:solidFill>
                  <a:schemeClr val="tx1"/>
                </a:solidFill>
                <a:latin typeface="微软雅黑" pitchFamily="34" charset="-122"/>
                <a:ea typeface="微软雅黑" pitchFamily="34" charset="-122"/>
              </a:rPr>
              <a:t>模拟程序进行验证，检验数值仿真代码的正确性。</a:t>
            </a:r>
          </a:p>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4</a:t>
            </a:r>
            <a:r>
              <a:rPr lang="zh-CN" altLang="en-US" sz="2000" b="0" dirty="0">
                <a:solidFill>
                  <a:schemeClr val="tx1"/>
                </a:solidFill>
                <a:latin typeface="微软雅黑" pitchFamily="34" charset="-122"/>
                <a:ea typeface="微软雅黑" pitchFamily="34" charset="-122"/>
              </a:rPr>
              <a:t>）</a:t>
            </a:r>
            <a:r>
              <a:rPr lang="en-US" altLang="zh-CN" sz="2000" b="0" dirty="0">
                <a:solidFill>
                  <a:srgbClr val="FF0000"/>
                </a:solidFill>
                <a:latin typeface="微软雅黑" pitchFamily="34" charset="-122"/>
                <a:ea typeface="微软雅黑" pitchFamily="34" charset="-122"/>
              </a:rPr>
              <a:t>FDEM-SPH</a:t>
            </a:r>
            <a:r>
              <a:rPr lang="zh-CN" altLang="en-US" sz="2000" b="0" dirty="0">
                <a:solidFill>
                  <a:srgbClr val="FF0000"/>
                </a:solidFill>
                <a:latin typeface="微软雅黑" pitchFamily="34" charset="-122"/>
                <a:ea typeface="微软雅黑" pitchFamily="34" charset="-122"/>
              </a:rPr>
              <a:t>耦合算法</a:t>
            </a:r>
            <a:r>
              <a:rPr lang="zh-CN" altLang="en-US" sz="2000" b="0" dirty="0">
                <a:solidFill>
                  <a:schemeClr val="tx1"/>
                </a:solidFill>
                <a:latin typeface="微软雅黑" pitchFamily="34" charset="-122"/>
                <a:ea typeface="微软雅黑" pitchFamily="34" charset="-122"/>
              </a:rPr>
              <a:t>涉及</a:t>
            </a:r>
            <a:r>
              <a:rPr lang="en-US" altLang="zh-CN" sz="2000" b="0" dirty="0">
                <a:solidFill>
                  <a:srgbClr val="FF0000"/>
                </a:solidFill>
                <a:latin typeface="微软雅黑" pitchFamily="34" charset="-122"/>
                <a:ea typeface="微软雅黑" pitchFamily="34" charset="-122"/>
              </a:rPr>
              <a:t>SPH</a:t>
            </a:r>
            <a:r>
              <a:rPr lang="zh-CN" altLang="en-US" sz="2000" b="0" dirty="0">
                <a:solidFill>
                  <a:srgbClr val="FF0000"/>
                </a:solidFill>
                <a:latin typeface="微软雅黑" pitchFamily="34" charset="-122"/>
                <a:ea typeface="微软雅黑" pitchFamily="34" charset="-122"/>
              </a:rPr>
              <a:t>边界条件</a:t>
            </a:r>
            <a:r>
              <a:rPr lang="zh-CN" altLang="en-US" sz="2000" b="0" dirty="0">
                <a:solidFill>
                  <a:schemeClr val="tx1"/>
                </a:solidFill>
                <a:latin typeface="微软雅黑" pitchFamily="34" charset="-122"/>
                <a:ea typeface="微软雅黑" pitchFamily="34" charset="-122"/>
              </a:rPr>
              <a:t>的优化和</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外部作用力的施加，目前掌握的相关算法较为欠缺，后续将针对目前研究计划内容进行逐步完善。</a:t>
            </a:r>
          </a:p>
        </p:txBody>
      </p:sp>
      <p:sp>
        <p:nvSpPr>
          <p:cNvPr id="2" name="灯片编号占位符 1">
            <a:extLst>
              <a:ext uri="{FF2B5EF4-FFF2-40B4-BE49-F238E27FC236}">
                <a16:creationId xmlns:a16="http://schemas.microsoft.com/office/drawing/2014/main" id="{85F1EE59-6CFA-DB16-44AF-F2BF35A9C6FD}"/>
              </a:ext>
            </a:extLst>
          </p:cNvPr>
          <p:cNvSpPr>
            <a:spLocks noGrp="1"/>
          </p:cNvSpPr>
          <p:nvPr>
            <p:ph type="sldNum" sz="quarter" idx="12"/>
          </p:nvPr>
        </p:nvSpPr>
        <p:spPr/>
        <p:txBody>
          <a:bodyPr/>
          <a:lstStyle/>
          <a:p>
            <a:pPr>
              <a:defRPr/>
            </a:pPr>
            <a:fld id="{8E7F6652-62A1-454F-81FD-501A0D85DAEF}" type="slidenum">
              <a:rPr lang="en-US" altLang="zh-CN" smtClean="0"/>
              <a:pPr>
                <a:defRPr/>
              </a:pPr>
              <a:t>28</a:t>
            </a:fld>
            <a:endParaRPr lang="en-US" altLang="zh-CN"/>
          </a:p>
        </p:txBody>
      </p:sp>
    </p:spTree>
    <p:extLst>
      <p:ext uri="{BB962C8B-B14F-4D97-AF65-F5344CB8AC3E}">
        <p14:creationId xmlns:p14="http://schemas.microsoft.com/office/powerpoint/2010/main" val="11490996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331"/>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四、研究基础与工作条件</a:t>
            </a:r>
          </a:p>
        </p:txBody>
      </p:sp>
      <p:sp>
        <p:nvSpPr>
          <p:cNvPr id="6" name="同侧圆角矩形 4"/>
          <p:cNvSpPr/>
          <p:nvPr/>
        </p:nvSpPr>
        <p:spPr>
          <a:xfrm>
            <a:off x="627251" y="1286500"/>
            <a:ext cx="7889498" cy="2340000"/>
          </a:xfrm>
          <a:prstGeom prst="rect">
            <a:avLst/>
          </a:prstGeom>
          <a:solidFill>
            <a:srgbClr val="EEF9F4"/>
          </a:solidFill>
          <a:ln w="6350">
            <a:solidFill>
              <a:srgbClr val="FF0000"/>
            </a:solidFill>
            <a:prstDash val="sysDash"/>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lIns="142240" tIns="12700" rIns="144000" bIns="12700" anchor="ctr"/>
          <a:lstStyle/>
          <a:p>
            <a:pPr indent="457200" algn="just" eaLnBrk="1" hangingPunct="1">
              <a:lnSpc>
                <a:spcPct val="130000"/>
              </a:lnSpc>
              <a:spcBef>
                <a:spcPts val="0"/>
              </a:spcBef>
              <a:buClr>
                <a:srgbClr val="FF0000"/>
              </a:buClr>
              <a:buSzPct val="80000"/>
            </a:pPr>
            <a:r>
              <a:rPr lang="zh-CN" altLang="en-US" sz="2000" b="0" dirty="0">
                <a:solidFill>
                  <a:schemeClr val="tx1"/>
                </a:solidFill>
                <a:latin typeface="微软雅黑" pitchFamily="34" charset="-122"/>
                <a:ea typeface="微软雅黑" pitchFamily="34" charset="-122"/>
              </a:rPr>
              <a:t>（</a:t>
            </a:r>
            <a:r>
              <a:rPr lang="en-US" altLang="zh-CN" sz="2000" b="0" dirty="0">
                <a:solidFill>
                  <a:schemeClr val="tx1"/>
                </a:solidFill>
                <a:latin typeface="微软雅黑" pitchFamily="34" charset="-122"/>
                <a:ea typeface="微软雅黑" pitchFamily="34" charset="-122"/>
              </a:rPr>
              <a:t>5</a:t>
            </a:r>
            <a:r>
              <a:rPr lang="zh-CN" altLang="en-US" sz="2000" b="0" dirty="0">
                <a:solidFill>
                  <a:schemeClr val="tx1"/>
                </a:solidFill>
                <a:latin typeface="微软雅黑" pitchFamily="34" charset="-122"/>
                <a:ea typeface="微软雅黑" pitchFamily="34" charset="-122"/>
              </a:rPr>
              <a:t>）本人长期从事数值模拟仿真方面的相关研究工作，已发表两篇</a:t>
            </a:r>
            <a:r>
              <a:rPr lang="en-US" altLang="zh-CN" sz="2000" b="0" dirty="0">
                <a:solidFill>
                  <a:schemeClr val="tx1"/>
                </a:solidFill>
                <a:latin typeface="微软雅黑" pitchFamily="34" charset="-122"/>
                <a:ea typeface="微软雅黑" pitchFamily="34" charset="-122"/>
              </a:rPr>
              <a:t>FDEM</a:t>
            </a:r>
            <a:r>
              <a:rPr lang="zh-CN" altLang="en-US" sz="2000" b="0" dirty="0">
                <a:solidFill>
                  <a:schemeClr val="tx1"/>
                </a:solidFill>
                <a:latin typeface="微软雅黑" pitchFamily="34" charset="-122"/>
                <a:ea typeface="微软雅黑" pitchFamily="34" charset="-122"/>
              </a:rPr>
              <a:t>相关论文，为博士论文的完成奠定了一定的基础。</a:t>
            </a:r>
          </a:p>
          <a:p>
            <a:pPr indent="457200" algn="just" eaLnBrk="1" hangingPunct="1">
              <a:spcBef>
                <a:spcPts val="0"/>
              </a:spcBef>
              <a:buClr>
                <a:srgbClr val="FF0000"/>
              </a:buClr>
              <a:buSzPct val="80000"/>
            </a:pP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[1]	Yan C, </a:t>
            </a:r>
            <a:r>
              <a:rPr lang="en-US" altLang="zh-CN" sz="1400" dirty="0">
                <a:solidFill>
                  <a:schemeClr val="tx1"/>
                </a:solidFill>
                <a:latin typeface="Times New Roman" panose="02020603050405020304" pitchFamily="18" charset="0"/>
                <a:ea typeface="微软雅黑" pitchFamily="34" charset="-122"/>
                <a:cs typeface="Times New Roman" panose="02020603050405020304" pitchFamily="18" charset="0"/>
              </a:rPr>
              <a:t>Zheng Y</a:t>
            </a: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 Huang D, et al. A coupled contact heat transfer and thermal cracking model for discontinuous and granular media [J]. </a:t>
            </a:r>
            <a:r>
              <a:rPr lang="en-US" altLang="zh-CN" sz="1400" b="0" i="1" dirty="0">
                <a:solidFill>
                  <a:srgbClr val="FF0000"/>
                </a:solidFill>
                <a:latin typeface="Times New Roman" panose="02020603050405020304" pitchFamily="18" charset="0"/>
                <a:ea typeface="微软雅黑" pitchFamily="34" charset="-122"/>
                <a:cs typeface="Times New Roman" panose="02020603050405020304" pitchFamily="18" charset="0"/>
              </a:rPr>
              <a:t>Computer Methods in Applied Mechanics and Engineering</a:t>
            </a: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 2021, 375: 113587. (</a:t>
            </a:r>
            <a:r>
              <a:rPr lang="en-US" altLang="zh-CN" sz="1400" dirty="0">
                <a:solidFill>
                  <a:schemeClr val="tx1"/>
                </a:solidFill>
                <a:latin typeface="Times New Roman" panose="02020603050405020304" pitchFamily="18" charset="0"/>
                <a:ea typeface="微软雅黑" pitchFamily="34" charset="-122"/>
                <a:cs typeface="Times New Roman" panose="02020603050405020304" pitchFamily="18" charset="0"/>
              </a:rPr>
              <a:t>SCI</a:t>
            </a: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 </a:t>
            </a:r>
            <a:r>
              <a:rPr lang="en-US" altLang="zh-CN" sz="1400" b="0" dirty="0">
                <a:solidFill>
                  <a:srgbClr val="FF0000"/>
                </a:solidFill>
                <a:latin typeface="Times New Roman" panose="02020603050405020304" pitchFamily="18" charset="0"/>
                <a:ea typeface="微软雅黑" pitchFamily="34" charset="-122"/>
                <a:cs typeface="Times New Roman" panose="02020603050405020304" pitchFamily="18" charset="0"/>
              </a:rPr>
              <a:t>IF= 6.756</a:t>
            </a: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a:t>
            </a:r>
          </a:p>
          <a:p>
            <a:pPr indent="457200" algn="just" eaLnBrk="1" hangingPunct="1">
              <a:spcBef>
                <a:spcPts val="0"/>
              </a:spcBef>
              <a:buClr>
                <a:srgbClr val="FF0000"/>
              </a:buClr>
              <a:buSzPct val="80000"/>
            </a:pP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[2]	Yan C, </a:t>
            </a:r>
            <a:r>
              <a:rPr lang="en-US" altLang="zh-CN" sz="1400" dirty="0">
                <a:solidFill>
                  <a:schemeClr val="tx1"/>
                </a:solidFill>
                <a:latin typeface="Times New Roman" panose="02020603050405020304" pitchFamily="18" charset="0"/>
                <a:ea typeface="微软雅黑" pitchFamily="34" charset="-122"/>
                <a:cs typeface="Times New Roman" panose="02020603050405020304" pitchFamily="18" charset="0"/>
              </a:rPr>
              <a:t>Zheng Y</a:t>
            </a: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 </a:t>
            </a:r>
            <a:r>
              <a:rPr lang="en-US" altLang="zh-CN" sz="1400" b="0" dirty="0" err="1">
                <a:solidFill>
                  <a:schemeClr val="tx1"/>
                </a:solidFill>
                <a:latin typeface="Times New Roman" panose="02020603050405020304" pitchFamily="18" charset="0"/>
                <a:ea typeface="微软雅黑" pitchFamily="34" charset="-122"/>
                <a:cs typeface="Times New Roman" panose="02020603050405020304" pitchFamily="18" charset="0"/>
              </a:rPr>
              <a:t>Ke</a:t>
            </a: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 W, et al. A FDEM 3D moisture migration-fracture model for simulation of soil shrinkage and desiccation cracking [J]. </a:t>
            </a:r>
            <a:r>
              <a:rPr lang="en-US" altLang="zh-CN" sz="1400" b="0" i="1" dirty="0">
                <a:solidFill>
                  <a:srgbClr val="FF0000"/>
                </a:solidFill>
                <a:latin typeface="Times New Roman" panose="02020603050405020304" pitchFamily="18" charset="0"/>
                <a:ea typeface="微软雅黑" pitchFamily="34" charset="-122"/>
                <a:cs typeface="Times New Roman" panose="02020603050405020304" pitchFamily="18" charset="0"/>
              </a:rPr>
              <a:t>Computers and Geotechnics</a:t>
            </a: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 2021, 140: 104425. (</a:t>
            </a:r>
            <a:r>
              <a:rPr lang="en-US" altLang="zh-CN" sz="1400" dirty="0">
                <a:solidFill>
                  <a:schemeClr val="tx1"/>
                </a:solidFill>
                <a:latin typeface="Times New Roman" panose="02020603050405020304" pitchFamily="18" charset="0"/>
                <a:ea typeface="微软雅黑" pitchFamily="34" charset="-122"/>
                <a:cs typeface="Times New Roman" panose="02020603050405020304" pitchFamily="18" charset="0"/>
              </a:rPr>
              <a:t>SCI</a:t>
            </a: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 </a:t>
            </a:r>
            <a:r>
              <a:rPr lang="en-US" altLang="zh-CN" sz="1400" b="0" dirty="0">
                <a:solidFill>
                  <a:srgbClr val="FF0000"/>
                </a:solidFill>
                <a:latin typeface="Times New Roman" panose="02020603050405020304" pitchFamily="18" charset="0"/>
                <a:ea typeface="微软雅黑" pitchFamily="34" charset="-122"/>
                <a:cs typeface="Times New Roman" panose="02020603050405020304" pitchFamily="18" charset="0"/>
              </a:rPr>
              <a:t>IF= 4.956</a:t>
            </a:r>
            <a:r>
              <a:rPr lang="en-US" altLang="zh-CN" sz="1400" b="0" dirty="0">
                <a:solidFill>
                  <a:schemeClr val="tx1"/>
                </a:solidFill>
                <a:latin typeface="Times New Roman" panose="02020603050405020304" pitchFamily="18" charset="0"/>
                <a:ea typeface="微软雅黑" pitchFamily="34" charset="-122"/>
                <a:cs typeface="Times New Roman" panose="02020603050405020304" pitchFamily="18" charset="0"/>
              </a:rPr>
              <a:t>)</a:t>
            </a:r>
          </a:p>
        </p:txBody>
      </p:sp>
      <p:pic>
        <p:nvPicPr>
          <p:cNvPr id="3" name="图片 2">
            <a:extLst>
              <a:ext uri="{FF2B5EF4-FFF2-40B4-BE49-F238E27FC236}">
                <a16:creationId xmlns:a16="http://schemas.microsoft.com/office/drawing/2014/main" id="{46C9696A-0820-FBA0-7DF0-7EE002A5C9E4}"/>
              </a:ext>
            </a:extLst>
          </p:cNvPr>
          <p:cNvPicPr>
            <a:picLocks noChangeAspect="1"/>
          </p:cNvPicPr>
          <p:nvPr/>
        </p:nvPicPr>
        <p:blipFill>
          <a:blip r:embed="rId3"/>
          <a:stretch>
            <a:fillRect/>
          </a:stretch>
        </p:blipFill>
        <p:spPr>
          <a:xfrm>
            <a:off x="4697232" y="3848624"/>
            <a:ext cx="3960000" cy="1988620"/>
          </a:xfrm>
          <a:prstGeom prst="rect">
            <a:avLst/>
          </a:prstGeom>
        </p:spPr>
      </p:pic>
      <p:pic>
        <p:nvPicPr>
          <p:cNvPr id="5" name="图片 4">
            <a:extLst>
              <a:ext uri="{FF2B5EF4-FFF2-40B4-BE49-F238E27FC236}">
                <a16:creationId xmlns:a16="http://schemas.microsoft.com/office/drawing/2014/main" id="{87596DAC-C642-0241-0471-30E91C7FCA04}"/>
              </a:ext>
            </a:extLst>
          </p:cNvPr>
          <p:cNvPicPr>
            <a:picLocks noChangeAspect="1"/>
          </p:cNvPicPr>
          <p:nvPr/>
        </p:nvPicPr>
        <p:blipFill>
          <a:blip r:embed="rId4"/>
          <a:stretch>
            <a:fillRect/>
          </a:stretch>
        </p:blipFill>
        <p:spPr>
          <a:xfrm>
            <a:off x="642938" y="3929689"/>
            <a:ext cx="3960000" cy="1641811"/>
          </a:xfrm>
          <a:prstGeom prst="rect">
            <a:avLst/>
          </a:prstGeom>
        </p:spPr>
      </p:pic>
      <p:sp>
        <p:nvSpPr>
          <p:cNvPr id="7" name="矩形 2">
            <a:extLst>
              <a:ext uri="{FF2B5EF4-FFF2-40B4-BE49-F238E27FC236}">
                <a16:creationId xmlns:a16="http://schemas.microsoft.com/office/drawing/2014/main" id="{7689E10D-7ED5-F081-A588-54DF03396D7A}"/>
              </a:ext>
            </a:extLst>
          </p:cNvPr>
          <p:cNvSpPr>
            <a:spLocks noChangeArrowheads="1"/>
          </p:cNvSpPr>
          <p:nvPr/>
        </p:nvSpPr>
        <p:spPr bwMode="auto">
          <a:xfrm>
            <a:off x="1403350" y="5955661"/>
            <a:ext cx="6337300" cy="385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15000"/>
              </a:lnSpc>
              <a:spcBef>
                <a:spcPct val="20000"/>
              </a:spcBef>
              <a:buClr>
                <a:schemeClr val="tx2"/>
              </a:buClr>
              <a:buSzPct val="75000"/>
              <a:buFont typeface="Monotype Sorts"/>
              <a:buNone/>
            </a:pPr>
            <a:r>
              <a:rPr lang="en-US" altLang="zh-CN" sz="1800" b="0" dirty="0">
                <a:latin typeface="微软雅黑" panose="020B0503020204020204" pitchFamily="34" charset="-122"/>
                <a:ea typeface="微软雅黑" panose="020B0503020204020204" pitchFamily="34" charset="-122"/>
              </a:rPr>
              <a:t>(a) </a:t>
            </a:r>
            <a:r>
              <a:rPr lang="zh-CN" altLang="en-US" sz="1800" b="0" dirty="0">
                <a:latin typeface="微软雅黑" panose="020B0503020204020204" pitchFamily="34" charset="-122"/>
                <a:ea typeface="微软雅黑" panose="020B0503020204020204" pitchFamily="34" charset="-122"/>
              </a:rPr>
              <a:t>现有成果</a:t>
            </a:r>
            <a:endParaRPr lang="zh-CN" altLang="zh-CN" sz="1800" b="0" dirty="0">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D771A610-7D43-C75A-79E5-37C795DFEFA3}"/>
              </a:ext>
            </a:extLst>
          </p:cNvPr>
          <p:cNvSpPr>
            <a:spLocks noGrp="1"/>
          </p:cNvSpPr>
          <p:nvPr>
            <p:ph type="sldNum" sz="quarter" idx="12"/>
          </p:nvPr>
        </p:nvSpPr>
        <p:spPr/>
        <p:txBody>
          <a:bodyPr/>
          <a:lstStyle/>
          <a:p>
            <a:pPr>
              <a:defRPr/>
            </a:pPr>
            <a:fld id="{8E7F6652-62A1-454F-81FD-501A0D85DAEF}" type="slidenum">
              <a:rPr lang="en-US" altLang="zh-CN" smtClean="0"/>
              <a:pPr>
                <a:defRPr/>
              </a:pPr>
              <a:t>29</a:t>
            </a:fld>
            <a:endParaRPr lang="en-US" altLang="zh-CN"/>
          </a:p>
        </p:txBody>
      </p:sp>
    </p:spTree>
    <p:extLst>
      <p:ext uri="{BB962C8B-B14F-4D97-AF65-F5344CB8AC3E}">
        <p14:creationId xmlns:p14="http://schemas.microsoft.com/office/powerpoint/2010/main" val="25450124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1"/>
          <p:cNvSpPr txBox="1">
            <a:spLocks noChangeAspect="1" noChangeArrowheads="1"/>
          </p:cNvSpPr>
          <p:nvPr/>
        </p:nvSpPr>
        <p:spPr bwMode="auto">
          <a:xfrm>
            <a:off x="642938" y="211138"/>
            <a:ext cx="8026400" cy="646112"/>
          </a:xfrm>
          <a:prstGeom prst="rect">
            <a:avLst/>
          </a:prstGeom>
          <a:noFill/>
          <a:ln w="9525">
            <a:noFill/>
            <a:miter lim="800000"/>
            <a:headEnd/>
            <a:tailEnd/>
          </a:ln>
        </p:spPr>
        <p:txBody>
          <a:bodyPr>
            <a:spAutoFit/>
          </a:bodyPr>
          <a:lstStyle/>
          <a:p>
            <a:pPr algn="ctr" eaLnBrk="1" hangingPunct="1">
              <a:spcBef>
                <a:spcPct val="50000"/>
              </a:spcBef>
              <a:buFont typeface="Monotype Sorts" pitchFamily="2" charset="2"/>
              <a:buNone/>
              <a:defRPr/>
            </a:pPr>
            <a:r>
              <a:rPr lang="zh-CN" altLang="en-US" sz="3600" dirty="0">
                <a:solidFill>
                  <a:schemeClr val="accent2"/>
                </a:solidFill>
                <a:latin typeface="微软雅黑" pitchFamily="34" charset="-122"/>
                <a:ea typeface="微软雅黑" pitchFamily="34" charset="-122"/>
                <a:cs typeface="+mj-cs"/>
              </a:rPr>
              <a:t>四、研究基础与工作条件</a:t>
            </a:r>
          </a:p>
        </p:txBody>
      </p:sp>
      <p:sp>
        <p:nvSpPr>
          <p:cNvPr id="15" name="矩形 14"/>
          <p:cNvSpPr/>
          <p:nvPr/>
        </p:nvSpPr>
        <p:spPr>
          <a:xfrm>
            <a:off x="500063" y="1268760"/>
            <a:ext cx="6232177" cy="504056"/>
          </a:xfrm>
          <a:prstGeom prst="rect">
            <a:avLst/>
          </a:prstGeom>
          <a:solidFill>
            <a:srgbClr val="191B7B"/>
          </a:solidFill>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nchor="ctr"/>
          <a:lstStyle/>
          <a:p>
            <a:pPr>
              <a:lnSpc>
                <a:spcPct val="115000"/>
              </a:lnSpc>
              <a:spcBef>
                <a:spcPct val="20000"/>
              </a:spcBef>
              <a:buClr>
                <a:srgbClr val="FFFF00"/>
              </a:buClr>
              <a:buSzPct val="75000"/>
              <a:buFont typeface="Wingdings" pitchFamily="2" charset="2"/>
              <a:buChar char="n"/>
              <a:defRPr/>
            </a:pPr>
            <a:r>
              <a:rPr lang="zh-CN" altLang="en-US" b="0" dirty="0">
                <a:latin typeface="微软雅黑" pitchFamily="34" charset="-122"/>
                <a:ea typeface="微软雅黑" pitchFamily="34" charset="-122"/>
              </a:rPr>
              <a:t>论文计划</a:t>
            </a:r>
            <a:endParaRPr lang="en-US" altLang="zh-CN" b="0"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2A68C0C7-20F6-2D09-F288-4FBF961BA5B8}"/>
              </a:ext>
            </a:extLst>
          </p:cNvPr>
          <p:cNvGraphicFramePr>
            <a:graphicFrameLocks noGrp="1"/>
          </p:cNvGraphicFramePr>
          <p:nvPr>
            <p:extLst>
              <p:ext uri="{D42A27DB-BD31-4B8C-83A1-F6EECF244321}">
                <p14:modId xmlns:p14="http://schemas.microsoft.com/office/powerpoint/2010/main" val="693661675"/>
              </p:ext>
            </p:extLst>
          </p:nvPr>
        </p:nvGraphicFramePr>
        <p:xfrm>
          <a:off x="628650" y="1989000"/>
          <a:ext cx="7886700" cy="4236720"/>
        </p:xfrm>
        <a:graphic>
          <a:graphicData uri="http://schemas.openxmlformats.org/drawingml/2006/table">
            <a:tbl>
              <a:tblPr firstRow="1" firstCol="1" bandRow="1">
                <a:tableStyleId>{5C22544A-7EE6-4342-B048-85BDC9FD1C3A}</a:tableStyleId>
              </a:tblPr>
              <a:tblGrid>
                <a:gridCol w="1513350">
                  <a:extLst>
                    <a:ext uri="{9D8B030D-6E8A-4147-A177-3AD203B41FA5}">
                      <a16:colId xmlns:a16="http://schemas.microsoft.com/office/drawing/2014/main" val="3668613884"/>
                    </a:ext>
                  </a:extLst>
                </a:gridCol>
                <a:gridCol w="2025000">
                  <a:extLst>
                    <a:ext uri="{9D8B030D-6E8A-4147-A177-3AD203B41FA5}">
                      <a16:colId xmlns:a16="http://schemas.microsoft.com/office/drawing/2014/main" val="1077779737"/>
                    </a:ext>
                  </a:extLst>
                </a:gridCol>
                <a:gridCol w="4348350">
                  <a:extLst>
                    <a:ext uri="{9D8B030D-6E8A-4147-A177-3AD203B41FA5}">
                      <a16:colId xmlns:a16="http://schemas.microsoft.com/office/drawing/2014/main" val="2635279297"/>
                    </a:ext>
                  </a:extLst>
                </a:gridCol>
              </a:tblGrid>
              <a:tr h="209550">
                <a:tc>
                  <a:txBody>
                    <a:bodyPr/>
                    <a:lstStyle/>
                    <a:p>
                      <a:pPr algn="ctr">
                        <a:spcBef>
                          <a:spcPts val="200"/>
                        </a:spcBef>
                      </a:pPr>
                      <a:r>
                        <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时间</a:t>
                      </a:r>
                    </a:p>
                  </a:txBody>
                  <a:tcPr anchor="ctr">
                    <a:lnL w="6350" cap="flat" cmpd="sng" algn="ctr">
                      <a:solidFill>
                        <a:srgbClr val="FF0000"/>
                      </a:solidFill>
                      <a:prstDash val="solid"/>
                      <a:round/>
                      <a:headEnd type="none" w="med" len="med"/>
                      <a:tailEnd type="none" w="med" len="med"/>
                    </a:lnL>
                    <a:lnT w="6350" cap="flat" cmpd="sng" algn="ctr">
                      <a:solidFill>
                        <a:srgbClr val="FF0000"/>
                      </a:solidFill>
                      <a:prstDash val="solid"/>
                      <a:round/>
                      <a:headEnd type="none" w="med" len="med"/>
                      <a:tailEnd type="none" w="med" len="med"/>
                    </a:lnT>
                  </a:tcPr>
                </a:tc>
                <a:tc>
                  <a:txBody>
                    <a:bodyPr/>
                    <a:lstStyle/>
                    <a:p>
                      <a:pPr algn="ctr">
                        <a:spcBef>
                          <a:spcPts val="200"/>
                        </a:spcBef>
                      </a:pPr>
                      <a:r>
                        <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研究内容</a:t>
                      </a:r>
                    </a:p>
                  </a:txBody>
                  <a:tcPr anchor="ctr">
                    <a:lnT w="6350" cap="flat" cmpd="sng" algn="ctr">
                      <a:solidFill>
                        <a:srgbClr val="FF0000"/>
                      </a:solidFill>
                      <a:prstDash val="solid"/>
                      <a:round/>
                      <a:headEnd type="none" w="med" len="med"/>
                      <a:tailEnd type="none" w="med" len="med"/>
                    </a:lnT>
                  </a:tcPr>
                </a:tc>
                <a:tc>
                  <a:txBody>
                    <a:bodyPr/>
                    <a:lstStyle/>
                    <a:p>
                      <a:pPr algn="ctr">
                        <a:spcBef>
                          <a:spcPts val="200"/>
                        </a:spcBef>
                      </a:pPr>
                      <a:r>
                        <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预期效果</a:t>
                      </a:r>
                    </a:p>
                  </a:txBody>
                  <a:tcPr anchor="ctr">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tcPr>
                </a:tc>
                <a:extLst>
                  <a:ext uri="{0D108BD9-81ED-4DB2-BD59-A6C34878D82A}">
                    <a16:rowId xmlns:a16="http://schemas.microsoft.com/office/drawing/2014/main" val="2004375108"/>
                  </a:ext>
                </a:extLst>
              </a:tr>
              <a:tr h="209550">
                <a:tc>
                  <a:txBody>
                    <a:bodyPr/>
                    <a:lstStyle/>
                    <a:p>
                      <a:pPr algn="ctr">
                        <a:spcBef>
                          <a:spcPts val="200"/>
                        </a:spcBef>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2021.09~2022.02</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6350" cap="flat" cmpd="sng" algn="ctr">
                      <a:solidFill>
                        <a:srgbClr val="FF0000"/>
                      </a:solidFill>
                      <a:prstDash val="solid"/>
                      <a:round/>
                      <a:headEnd type="none" w="med" len="med"/>
                      <a:tailEnd type="none" w="med" len="med"/>
                    </a:lnL>
                  </a:tcPr>
                </a:tc>
                <a:tc>
                  <a:txBody>
                    <a:bodyPr/>
                    <a:lstStyle/>
                    <a:p>
                      <a:pPr algn="ctr">
                        <a:spcBef>
                          <a:spcPts val="200"/>
                        </a:spcBef>
                      </a:pP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理论</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学习，</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文献</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调研</a:t>
                      </a:r>
                    </a:p>
                  </a:txBody>
                  <a:tcPr anchor="ctr"/>
                </a:tc>
                <a:tc>
                  <a:txBody>
                    <a:bodyPr/>
                    <a:lstStyle/>
                    <a:p>
                      <a:pPr indent="324000" algn="just">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学习学校相关课程，熟悉相关</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软件使用</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，自学计算机</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编程基础</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，积累相关研究基础</a:t>
                      </a:r>
                    </a:p>
                  </a:txBody>
                  <a:tcPr anchor="ctr">
                    <a:lnR w="635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1828494080"/>
                  </a:ext>
                </a:extLst>
              </a:tr>
              <a:tr h="209550">
                <a:tc>
                  <a:txBody>
                    <a:bodyPr/>
                    <a:lstStyle/>
                    <a:p>
                      <a:pPr algn="ctr">
                        <a:spcBef>
                          <a:spcPts val="200"/>
                        </a:spcBef>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2022.03~2022.10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6350" cap="flat" cmpd="sng" algn="ctr">
                      <a:solidFill>
                        <a:srgbClr val="FF0000"/>
                      </a:solidFill>
                      <a:prstDash val="solid"/>
                      <a:round/>
                      <a:headEnd type="none" w="med" len="med"/>
                      <a:tailEnd type="none" w="med" len="med"/>
                    </a:lnL>
                  </a:tcPr>
                </a:tc>
                <a:tc>
                  <a:txBody>
                    <a:bodyPr/>
                    <a:lstStyle/>
                    <a:p>
                      <a:pPr algn="ctr">
                        <a:spcBef>
                          <a:spcPts val="200"/>
                        </a:spcBef>
                      </a:pPr>
                      <a:r>
                        <a:rPr lang="en-US" sz="1300" kern="100" dirty="0">
                          <a:effectLst/>
                          <a:latin typeface="微软雅黑" panose="020B0503020204020204" pitchFamily="34" charset="-122"/>
                          <a:ea typeface="微软雅黑" panose="020B0503020204020204" pitchFamily="34" charset="-122"/>
                          <a:cs typeface="Times New Roman" panose="02020603050405020304" pitchFamily="18" charset="0"/>
                        </a:rPr>
                        <a:t>SPH</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sz="1300" kern="100" dirty="0">
                          <a:effectLst/>
                          <a:latin typeface="微软雅黑" panose="020B0503020204020204" pitchFamily="34" charset="-122"/>
                          <a:ea typeface="微软雅黑" panose="020B0503020204020204" pitchFamily="34" charset="-122"/>
                          <a:cs typeface="Times New Roman" panose="02020603050405020304" pitchFamily="18" charset="0"/>
                        </a:rPr>
                        <a:t>FDEM</a:t>
                      </a:r>
                      <a:r>
                        <a:rPr lang="zh-CN" altLang="en-US"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控制方程</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及相关</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算法</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实现</a:t>
                      </a:r>
                    </a:p>
                  </a:txBody>
                  <a:tcPr anchor="ctr"/>
                </a:tc>
                <a:tc>
                  <a:txBody>
                    <a:bodyPr/>
                    <a:lstStyle/>
                    <a:p>
                      <a:pPr indent="324000" algn="just">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掌握有限</a:t>
                      </a:r>
                      <a:r>
                        <a:rPr lang="en-US" sz="13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离散元法和光滑粒子流体动力学基本原理，训练程序编写能力，进行简单的</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代码开发</a:t>
                      </a:r>
                    </a:p>
                  </a:txBody>
                  <a:tcPr anchor="ctr">
                    <a:lnR w="635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74146265"/>
                  </a:ext>
                </a:extLst>
              </a:tr>
              <a:tr h="209550">
                <a:tc>
                  <a:txBody>
                    <a:bodyPr/>
                    <a:lstStyle/>
                    <a:p>
                      <a:pPr algn="ctr">
                        <a:spcBef>
                          <a:spcPts val="200"/>
                        </a:spcBef>
                      </a:pPr>
                      <a:r>
                        <a:rPr lang="en-US" sz="12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2022.11~2022.12</a:t>
                      </a:r>
                      <a:endParaRPr lang="zh-CN" sz="12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6350" cap="flat" cmpd="sng" algn="ctr">
                      <a:solidFill>
                        <a:srgbClr val="FF0000"/>
                      </a:solidFill>
                      <a:prstDash val="solid"/>
                      <a:round/>
                      <a:headEnd type="none" w="med" len="med"/>
                      <a:tailEnd type="none" w="med" len="med"/>
                    </a:lnL>
                  </a:tcPr>
                </a:tc>
                <a:tc>
                  <a:txBody>
                    <a:bodyPr/>
                    <a:lstStyle/>
                    <a:p>
                      <a:pPr algn="ctr">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博士论文</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开题</a:t>
                      </a:r>
                    </a:p>
                  </a:txBody>
                  <a:tcPr anchor="ctr"/>
                </a:tc>
                <a:tc>
                  <a:txBody>
                    <a:bodyPr/>
                    <a:lstStyle/>
                    <a:p>
                      <a:pPr indent="324000" algn="just">
                        <a:spcBef>
                          <a:spcPts val="200"/>
                        </a:spcBef>
                      </a:pP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论文选题</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，确定研究方向</a:t>
                      </a:r>
                    </a:p>
                  </a:txBody>
                  <a:tcPr anchor="ctr">
                    <a:lnR w="635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4242369647"/>
                  </a:ext>
                </a:extLst>
              </a:tr>
              <a:tr h="209550">
                <a:tc>
                  <a:txBody>
                    <a:bodyPr/>
                    <a:lstStyle/>
                    <a:p>
                      <a:pPr algn="ctr">
                        <a:spcBef>
                          <a:spcPts val="200"/>
                        </a:spcBef>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2023.01~2023.03</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6350" cap="flat" cmpd="sng" algn="ctr">
                      <a:solidFill>
                        <a:srgbClr val="FF0000"/>
                      </a:solidFill>
                      <a:prstDash val="solid"/>
                      <a:round/>
                      <a:headEnd type="none" w="med" len="med"/>
                      <a:tailEnd type="none" w="med" len="med"/>
                    </a:lnL>
                  </a:tcPr>
                </a:tc>
                <a:tc>
                  <a:txBody>
                    <a:bodyPr/>
                    <a:lstStyle/>
                    <a:p>
                      <a:pPr algn="ctr">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开发节理单元</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本构模型</a:t>
                      </a:r>
                    </a:p>
                  </a:txBody>
                  <a:tcPr anchor="ctr"/>
                </a:tc>
                <a:tc>
                  <a:txBody>
                    <a:bodyPr/>
                    <a:lstStyle/>
                    <a:p>
                      <a:pPr indent="324000" algn="just">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修正未断裂</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节理单元本构</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模型，提出新的节理单元断裂准则；提出新的已断裂节理单元处压力和摩擦力算法</a:t>
                      </a:r>
                    </a:p>
                  </a:txBody>
                  <a:tcPr anchor="ctr">
                    <a:lnR w="635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1784790215"/>
                  </a:ext>
                </a:extLst>
              </a:tr>
              <a:tr h="209550">
                <a:tc>
                  <a:txBody>
                    <a:bodyPr/>
                    <a:lstStyle/>
                    <a:p>
                      <a:pPr algn="ctr">
                        <a:spcBef>
                          <a:spcPts val="200"/>
                        </a:spcBef>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2023.04~2024.01</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6350" cap="flat" cmpd="sng" algn="ctr">
                      <a:solidFill>
                        <a:srgbClr val="FF0000"/>
                      </a:solidFill>
                      <a:prstDash val="solid"/>
                      <a:round/>
                      <a:headEnd type="none" w="med" len="med"/>
                      <a:tailEnd type="none" w="med" len="med"/>
                    </a:lnL>
                  </a:tcPr>
                </a:tc>
                <a:tc>
                  <a:txBody>
                    <a:bodyPr/>
                    <a:lstStyle/>
                    <a:p>
                      <a:pPr algn="ctr">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编写</a:t>
                      </a:r>
                      <a:r>
                        <a:rPr lang="en-US" alt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SPH</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代码，实现</a:t>
                      </a:r>
                      <a:r>
                        <a:rPr lang="en-US"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FDEM-SPH</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耦合算法</a:t>
                      </a:r>
                    </a:p>
                  </a:txBody>
                  <a:tcPr anchor="ctr"/>
                </a:tc>
                <a:tc>
                  <a:txBody>
                    <a:bodyPr/>
                    <a:lstStyle/>
                    <a:p>
                      <a:pPr indent="324000" algn="just">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实现拉格朗日型的</a:t>
                      </a:r>
                      <a:r>
                        <a:rPr lang="en-US" sz="1300" kern="100" dirty="0">
                          <a:effectLst/>
                          <a:latin typeface="微软雅黑" panose="020B0503020204020204" pitchFamily="34" charset="-122"/>
                          <a:ea typeface="微软雅黑" panose="020B0503020204020204" pitchFamily="34" charset="-122"/>
                          <a:cs typeface="Times New Roman" panose="02020603050405020304" pitchFamily="18" charset="0"/>
                        </a:rPr>
                        <a:t>Navier-Stokes</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方程组中密度方程、动量方程和能量方程的</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粒子近似算法</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，实现</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最近相邻粒子搜索</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算法，实现</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边界粒子处理</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算法，实现</a:t>
                      </a:r>
                      <a:r>
                        <a:rPr lang="en-US"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FDEM-SPH</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耦合</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算法</a:t>
                      </a:r>
                    </a:p>
                  </a:txBody>
                  <a:tcPr anchor="ctr">
                    <a:lnR w="635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400297628"/>
                  </a:ext>
                </a:extLst>
              </a:tr>
              <a:tr h="209550">
                <a:tc>
                  <a:txBody>
                    <a:bodyPr/>
                    <a:lstStyle/>
                    <a:p>
                      <a:pPr algn="ctr">
                        <a:spcBef>
                          <a:spcPts val="200"/>
                        </a:spcBef>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2024.01~2024.08</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6350" cap="flat" cmpd="sng" algn="ctr">
                      <a:solidFill>
                        <a:srgbClr val="FF0000"/>
                      </a:solidFill>
                      <a:prstDash val="solid"/>
                      <a:round/>
                      <a:headEnd type="none" w="med" len="med"/>
                      <a:tailEnd type="none" w="med" len="med"/>
                    </a:lnL>
                  </a:tcPr>
                </a:tc>
                <a:tc>
                  <a:txBody>
                    <a:bodyPr/>
                    <a:lstStyle/>
                    <a:p>
                      <a:pPr algn="ctr">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程序</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测试</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，案例计算，撰写</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期刊论文</a:t>
                      </a:r>
                    </a:p>
                  </a:txBody>
                  <a:tcPr anchor="ctr"/>
                </a:tc>
                <a:tc>
                  <a:txBody>
                    <a:bodyPr/>
                    <a:lstStyle/>
                    <a:p>
                      <a:pPr indent="324000" algn="just">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调试程序，改进程序，通过</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验证</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算例测试程序，模拟工程案例</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应用</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程序</a:t>
                      </a:r>
                    </a:p>
                  </a:txBody>
                  <a:tcPr anchor="ctr">
                    <a:lnR w="635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980889768"/>
                  </a:ext>
                </a:extLst>
              </a:tr>
              <a:tr h="209550">
                <a:tc>
                  <a:txBody>
                    <a:bodyPr/>
                    <a:lstStyle/>
                    <a:p>
                      <a:pPr algn="ctr">
                        <a:spcBef>
                          <a:spcPts val="200"/>
                        </a:spcBef>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2024.09~2024.03</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6350" cap="flat" cmpd="sng" algn="ctr">
                      <a:solidFill>
                        <a:srgbClr val="FF0000"/>
                      </a:solidFill>
                      <a:prstDash val="solid"/>
                      <a:round/>
                      <a:headEnd type="none" w="med" len="med"/>
                      <a:tailEnd type="none" w="med" len="med"/>
                    </a:lnL>
                  </a:tcPr>
                </a:tc>
                <a:tc>
                  <a:txBody>
                    <a:bodyPr/>
                    <a:lstStyle/>
                    <a:p>
                      <a:pPr algn="ctr">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成果整理，撰写</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博士论文</a:t>
                      </a:r>
                    </a:p>
                  </a:txBody>
                  <a:tcPr anchor="ctr"/>
                </a:tc>
                <a:tc>
                  <a:txBody>
                    <a:bodyPr/>
                    <a:lstStyle/>
                    <a:p>
                      <a:pPr indent="324000" algn="just">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整理博士期间研究成果，完成博士</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论文初稿</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，准备</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预答辩</a:t>
                      </a:r>
                    </a:p>
                  </a:txBody>
                  <a:tcPr anchor="ctr">
                    <a:lnR w="635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468635923"/>
                  </a:ext>
                </a:extLst>
              </a:tr>
              <a:tr h="209550">
                <a:tc>
                  <a:txBody>
                    <a:bodyPr/>
                    <a:lstStyle/>
                    <a:p>
                      <a:pPr algn="ctr">
                        <a:spcBef>
                          <a:spcPts val="200"/>
                        </a:spcBef>
                      </a:pPr>
                      <a:r>
                        <a:rPr 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2025.03~2025.05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6350" cap="flat" cmpd="sng" algn="ctr">
                      <a:solidFill>
                        <a:srgbClr val="FF0000"/>
                      </a:solidFill>
                      <a:prstDash val="solid"/>
                      <a:round/>
                      <a:headEnd type="none" w="med" len="med"/>
                      <a:tailEnd type="none" w="med" len="med"/>
                    </a:lnL>
                    <a:lnB w="6350" cap="flat" cmpd="sng" algn="ctr">
                      <a:solidFill>
                        <a:srgbClr val="FF0000"/>
                      </a:solidFill>
                      <a:prstDash val="solid"/>
                      <a:round/>
                      <a:headEnd type="none" w="med" len="med"/>
                      <a:tailEnd type="none" w="med" len="med"/>
                    </a:lnB>
                  </a:tcPr>
                </a:tc>
                <a:tc>
                  <a:txBody>
                    <a:bodyPr/>
                    <a:lstStyle/>
                    <a:p>
                      <a:pPr algn="ctr">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博士论文</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送审</a:t>
                      </a:r>
                    </a:p>
                  </a:txBody>
                  <a:tcPr anchor="ctr">
                    <a:lnB w="6350" cap="flat" cmpd="sng" algn="ctr">
                      <a:solidFill>
                        <a:srgbClr val="FF0000"/>
                      </a:solidFill>
                      <a:prstDash val="solid"/>
                      <a:round/>
                      <a:headEnd type="none" w="med" len="med"/>
                      <a:tailEnd type="none" w="med" len="med"/>
                    </a:lnB>
                  </a:tcPr>
                </a:tc>
                <a:tc>
                  <a:txBody>
                    <a:bodyPr/>
                    <a:lstStyle/>
                    <a:p>
                      <a:pPr indent="324000" algn="just">
                        <a:spcBef>
                          <a:spcPts val="200"/>
                        </a:spcBef>
                      </a:pP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修改论文，通过论文</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盲审</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和</a:t>
                      </a:r>
                      <a:r>
                        <a:rPr lang="zh-CN" sz="13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答辩</a:t>
                      </a:r>
                      <a:r>
                        <a:rPr lang="zh-CN" sz="1300" kern="100" dirty="0">
                          <a:effectLst/>
                          <a:latin typeface="微软雅黑" panose="020B0503020204020204" pitchFamily="34" charset="-122"/>
                          <a:ea typeface="微软雅黑" panose="020B0503020204020204" pitchFamily="34" charset="-122"/>
                          <a:cs typeface="Times New Roman" panose="02020603050405020304" pitchFamily="18" charset="0"/>
                        </a:rPr>
                        <a:t>环节</a:t>
                      </a:r>
                    </a:p>
                  </a:txBody>
                  <a:tcPr anchor="ctr">
                    <a:lnR w="6350" cap="flat" cmpd="sng" algn="ctr">
                      <a:solidFill>
                        <a:srgbClr val="FF0000"/>
                      </a:solidFill>
                      <a:prstDash val="solid"/>
                      <a:round/>
                      <a:headEnd type="none" w="med" len="med"/>
                      <a:tailEnd type="none" w="med" len="med"/>
                    </a:lnR>
                    <a:lnB w="635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2675448752"/>
                  </a:ext>
                </a:extLst>
              </a:tr>
            </a:tbl>
          </a:graphicData>
        </a:graphic>
      </p:graphicFrame>
      <p:sp>
        <p:nvSpPr>
          <p:cNvPr id="3" name="灯片编号占位符 2">
            <a:extLst>
              <a:ext uri="{FF2B5EF4-FFF2-40B4-BE49-F238E27FC236}">
                <a16:creationId xmlns:a16="http://schemas.microsoft.com/office/drawing/2014/main" id="{808B221E-8639-0ED0-1CD0-7F1AE33BE498}"/>
              </a:ext>
            </a:extLst>
          </p:cNvPr>
          <p:cNvSpPr>
            <a:spLocks noGrp="1"/>
          </p:cNvSpPr>
          <p:nvPr>
            <p:ph type="sldNum" sz="quarter" idx="12"/>
          </p:nvPr>
        </p:nvSpPr>
        <p:spPr/>
        <p:txBody>
          <a:bodyPr/>
          <a:lstStyle/>
          <a:p>
            <a:pPr>
              <a:defRPr/>
            </a:pPr>
            <a:fld id="{8E7F6652-62A1-454F-81FD-501A0D85DAEF}" type="slidenum">
              <a:rPr lang="en-US" altLang="zh-CN" smtClean="0"/>
              <a:pPr>
                <a:defRPr/>
              </a:pPr>
              <a:t>30</a:t>
            </a:fld>
            <a:endParaRPr lang="en-US" altLang="zh-CN"/>
          </a:p>
        </p:txBody>
      </p:sp>
    </p:spTree>
    <p:extLst>
      <p:ext uri="{BB962C8B-B14F-4D97-AF65-F5344CB8AC3E}">
        <p14:creationId xmlns:p14="http://schemas.microsoft.com/office/powerpoint/2010/main" val="24938539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3"/>
          <p:cNvGrpSpPr>
            <a:grpSpLocks/>
          </p:cNvGrpSpPr>
          <p:nvPr/>
        </p:nvGrpSpPr>
        <p:grpSpPr bwMode="auto">
          <a:xfrm>
            <a:off x="971550" y="4343400"/>
            <a:ext cx="7467600" cy="1600200"/>
            <a:chOff x="624" y="3312"/>
            <a:chExt cx="4704" cy="1008"/>
          </a:xfrm>
        </p:grpSpPr>
        <p:pic>
          <p:nvPicPr>
            <p:cNvPr id="10247" name="Picture 4" descr="HRULER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 y="3888"/>
              <a:ext cx="470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8" name="Picture 5" descr="FLOW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 y="3312"/>
              <a:ext cx="2346"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6584" name="Text Box 8"/>
          <p:cNvSpPr txBox="1">
            <a:spLocks noChangeArrowheads="1"/>
          </p:cNvSpPr>
          <p:nvPr/>
        </p:nvSpPr>
        <p:spPr bwMode="auto">
          <a:xfrm>
            <a:off x="2286000" y="381004"/>
            <a:ext cx="4953000" cy="366713"/>
          </a:xfrm>
          <a:prstGeom prst="rect">
            <a:avLst/>
          </a:prstGeom>
          <a:noFill/>
          <a:ln w="9525" algn="ctr">
            <a:noFill/>
            <a:miter lim="800000"/>
          </a:ln>
          <a:effectLst/>
        </p:spPr>
        <p:txBody>
          <a:bodyPr>
            <a:spAutoFit/>
          </a:bodyPr>
          <a:lstStyle/>
          <a:p>
            <a:pPr algn="ctr" eaLnBrk="1" hangingPunct="1">
              <a:spcBef>
                <a:spcPct val="50000"/>
              </a:spcBef>
              <a:buFont typeface="Monotype Sorts" pitchFamily="2" charset="2"/>
              <a:buNone/>
              <a:defRPr/>
            </a:pPr>
            <a:endParaRPr lang="zh-CN" altLang="zh-CN" sz="1800">
              <a:effectLst>
                <a:outerShdw blurRad="38100" dist="38100" dir="2700000" algn="tl">
                  <a:srgbClr val="C0C0C0"/>
                </a:outerShdw>
              </a:effectLst>
              <a:latin typeface="楷体_GB2312" pitchFamily="49" charset="-122"/>
              <a:ea typeface="楷体_GB2312" pitchFamily="49" charset="-122"/>
            </a:endParaRPr>
          </a:p>
        </p:txBody>
      </p:sp>
      <p:sp>
        <p:nvSpPr>
          <p:cNvPr id="10244" name="Text Box 11"/>
          <p:cNvSpPr txBox="1">
            <a:spLocks noChangeArrowheads="1"/>
          </p:cNvSpPr>
          <p:nvPr/>
        </p:nvSpPr>
        <p:spPr bwMode="auto">
          <a:xfrm>
            <a:off x="611192" y="2143129"/>
            <a:ext cx="792162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Monotype Sorts"/>
              <a:buNone/>
            </a:pPr>
            <a:r>
              <a:rPr lang="zh-CN" altLang="en-US" sz="5500">
                <a:latin typeface="黑体" panose="02010609060101010101" pitchFamily="49" charset="-122"/>
                <a:ea typeface="黑体" panose="02010609060101010101" pitchFamily="49" charset="-122"/>
              </a:rPr>
              <a:t>敬请批评指正</a:t>
            </a:r>
            <a:r>
              <a:rPr lang="en-US" altLang="zh-CN" sz="5500" dirty="0">
                <a:latin typeface="黑体" panose="02010609060101010101" pitchFamily="49" charset="-122"/>
                <a:ea typeface="黑体" panose="02010609060101010101" pitchFamily="49" charset="-122"/>
              </a:rPr>
              <a:t>!</a:t>
            </a:r>
          </a:p>
          <a:p>
            <a:pPr algn="ctr" eaLnBrk="1" hangingPunct="1">
              <a:spcBef>
                <a:spcPct val="0"/>
              </a:spcBef>
              <a:buFont typeface="Monotype Sorts"/>
              <a:buNone/>
            </a:pPr>
            <a:r>
              <a:rPr lang="zh-CN" altLang="en-US" sz="5500" dirty="0">
                <a:latin typeface="黑体" panose="02010609060101010101" pitchFamily="49" charset="-122"/>
                <a:ea typeface="黑体" panose="02010609060101010101" pitchFamily="49" charset="-122"/>
              </a:rPr>
              <a:t>谢谢！</a:t>
            </a:r>
            <a:endParaRPr lang="en-US" altLang="zh-CN" sz="5500" dirty="0">
              <a:latin typeface="黑体" panose="02010609060101010101" pitchFamily="49" charset="-122"/>
              <a:ea typeface="黑体" panose="02010609060101010101" pitchFamily="49" charset="-122"/>
            </a:endParaRPr>
          </a:p>
        </p:txBody>
      </p:sp>
      <p:sp>
        <p:nvSpPr>
          <p:cNvPr id="10245" name="Text Box 12"/>
          <p:cNvSpPr txBox="1">
            <a:spLocks noChangeArrowheads="1"/>
          </p:cNvSpPr>
          <p:nvPr/>
        </p:nvSpPr>
        <p:spPr bwMode="auto">
          <a:xfrm>
            <a:off x="2133600" y="381000"/>
            <a:ext cx="510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Monotype Sorts"/>
              <a:buNone/>
            </a:pPr>
            <a:endParaRPr lang="zh-CN" altLang="zh-CN" sz="2400">
              <a:latin typeface="楷体_GB2312" pitchFamily="49" charset="-122"/>
              <a:ea typeface="楷体_GB2312" pitchFamily="49" charset="-122"/>
            </a:endParaRPr>
          </a:p>
        </p:txBody>
      </p:sp>
      <p:pic>
        <p:nvPicPr>
          <p:cNvPr id="102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
            <a:ext cx="914400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102C2B66-A130-AD6E-90FA-1BAA4FE4024F}"/>
              </a:ext>
            </a:extLst>
          </p:cNvPr>
          <p:cNvSpPr>
            <a:spLocks noGrp="1"/>
          </p:cNvSpPr>
          <p:nvPr>
            <p:ph type="sldNum" sz="quarter" idx="12"/>
          </p:nvPr>
        </p:nvSpPr>
        <p:spPr/>
        <p:txBody>
          <a:bodyPr/>
          <a:lstStyle/>
          <a:p>
            <a:pPr>
              <a:defRPr/>
            </a:pPr>
            <a:fld id="{C61B835A-E540-400A-ADC8-0E2403FDC7FB}" type="slidenum">
              <a:rPr lang="en-US" altLang="zh-CN" smtClean="0"/>
              <a:pPr>
                <a:defRPr/>
              </a:pPr>
              <a:t>31</a:t>
            </a:fld>
            <a:endParaRPr lang="en-US" altLang="zh-CN"/>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rgbClr val="FEFEFE"/>
          </a:solidFill>
          <a:prstDash val="solid"/>
          <a:round/>
          <a:headEnd type="none" w="med" len="med"/>
          <a:tailEnd type="none" w="med" len="med"/>
        </a:ln>
        <a:effectLst>
          <a:outerShdw dist="35921" dir="2700000" algn="ctr" rotWithShape="0">
            <a:srgbClr val="B2B2B2"/>
          </a:outerShdw>
        </a:effectLst>
      </a:spPr>
      <a:bodyPr vert="horz" wrap="none" lIns="91440" tIns="45720" rIns="91440" bIns="45720" numCol="1" anchor="ctr" anchorCtr="0" compatLnSpc="1"/>
      <a:lstStyle>
        <a:defPPr marL="0" marR="0" indent="0" algn="r" defTabSz="914400" rtl="0" eaLnBrk="0" fontAlgn="base" latinLnBrk="0" hangingPunct="0">
          <a:lnSpc>
            <a:spcPct val="115000"/>
          </a:lnSpc>
          <a:spcBef>
            <a:spcPct val="20000"/>
          </a:spcBef>
          <a:spcAft>
            <a:spcPct val="0"/>
          </a:spcAft>
          <a:buClr>
            <a:schemeClr val="tx2"/>
          </a:buClr>
          <a:buSzPct val="75000"/>
          <a:buFont typeface="Monotype Sorts" pitchFamily="2" charset="2"/>
          <a:buNone/>
          <a:defRPr kumimoji="0" lang="zh-CN" altLang="en-US" sz="2400" b="1" i="0" u="none" strike="noStrike" cap="none" normalizeH="0" baseline="0" smtClean="0">
            <a:ln>
              <a:noFill/>
            </a:ln>
            <a:solidFill>
              <a:schemeClr val="tx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solidFill>
          <a:schemeClr val="accent1"/>
        </a:solidFill>
        <a:ln w="28575" cap="flat" cmpd="sng" algn="ctr">
          <a:solidFill>
            <a:srgbClr val="FEFEFE"/>
          </a:solidFill>
          <a:prstDash val="solid"/>
          <a:round/>
          <a:headEnd type="none" w="med" len="med"/>
          <a:tailEnd type="none" w="med" len="med"/>
        </a:ln>
        <a:effectLst>
          <a:outerShdw dist="35921" dir="2700000" algn="ctr" rotWithShape="0">
            <a:srgbClr val="B2B2B2"/>
          </a:outerShdw>
        </a:effectLst>
      </a:spPr>
      <a:bodyPr vert="horz" wrap="none" lIns="91440" tIns="45720" rIns="91440" bIns="45720" numCol="1" anchor="ctr" anchorCtr="0" compatLnSpc="1"/>
      <a:lstStyle>
        <a:defPPr marL="0" marR="0" indent="0" algn="r" defTabSz="914400" rtl="0" eaLnBrk="0" fontAlgn="base" latinLnBrk="0" hangingPunct="0">
          <a:lnSpc>
            <a:spcPct val="115000"/>
          </a:lnSpc>
          <a:spcBef>
            <a:spcPct val="20000"/>
          </a:spcBef>
          <a:spcAft>
            <a:spcPct val="0"/>
          </a:spcAft>
          <a:buClr>
            <a:schemeClr val="tx2"/>
          </a:buClr>
          <a:buSzPct val="75000"/>
          <a:buFont typeface="Monotype Sorts" pitchFamily="2" charset="2"/>
          <a:buNone/>
          <a:defRPr kumimoji="0" lang="zh-CN" altLang="en-US" sz="2400" b="1" i="0" u="none" strike="noStrike" cap="none" normalizeH="0" baseline="0" smtClean="0">
            <a:ln>
              <a:noFill/>
            </a:ln>
            <a:solidFill>
              <a:schemeClr val="tx1"/>
            </a:solidFill>
            <a:effectLst/>
            <a:latin typeface="黑体" pitchFamily="49" charset="-122"/>
            <a:ea typeface="黑体"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5449</TotalTime>
  <Pages>0</Pages>
  <Words>3713</Words>
  <Characters>0</Characters>
  <DocSecurity>0</DocSecurity>
  <PresentationFormat>全屏显示(4:3)</PresentationFormat>
  <Lines>0</Lines>
  <Paragraphs>287</Paragraphs>
  <Slides>31</Slides>
  <Notes>31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1" baseType="lpstr">
      <vt:lpstr>Monotype Sorts</vt:lpstr>
      <vt:lpstr>黑体</vt:lpstr>
      <vt:lpstr>楷体_GB2312</vt:lpstr>
      <vt:lpstr>宋体</vt:lpstr>
      <vt:lpstr>微软雅黑</vt:lpstr>
      <vt:lpstr>Arial</vt:lpstr>
      <vt:lpstr>Times New Roman</vt:lpstr>
      <vt:lpstr>Wingdings</vt:lpstr>
      <vt:lpstr>默认设计模板</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1900-12-31T16:00:00Z</dcterms:created>
  <dcterms:modified xsi:type="dcterms:W3CDTF">2024-09-10T23:27:53Z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